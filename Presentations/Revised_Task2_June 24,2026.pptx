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69" r:id="rId5"/>
    <p:sldId id="270" r:id="rId6"/>
    <p:sldId id="260" r:id="rId7"/>
    <p:sldId id="261" r:id="rId8"/>
    <p:sldId id="271" r:id="rId9"/>
    <p:sldId id="272" r:id="rId10"/>
    <p:sldId id="273" r:id="rId11"/>
    <p:sldId id="274" r:id="rId12"/>
    <p:sldId id="275" r:id="rId13"/>
    <p:sldId id="262" r:id="rId14"/>
    <p:sldId id="263" r:id="rId15"/>
    <p:sldId id="267" r:id="rId16"/>
    <p:sldId id="264" r:id="rId17"/>
    <p:sldId id="265" r:id="rId18"/>
    <p:sldId id="266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AA2C9-E3F5-47B7-BCE6-68158F43814A}" v="46" dt="2026-06-24T11:48:31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57" autoAdjust="0"/>
  </p:normalViewPr>
  <p:slideViewPr>
    <p:cSldViewPr snapToGrid="0">
      <p:cViewPr>
        <p:scale>
          <a:sx n="66" d="100"/>
          <a:sy n="66" d="100"/>
        </p:scale>
        <p:origin x="668" y="-4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02D87-02D2-413B-A7B9-EE0BCE5FBE23}" type="datetimeFigureOut">
              <a:rPr lang="en-CA" smtClean="0"/>
              <a:t>2026-06-24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914C1-A975-4A39-ACC0-F5BC321E7C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757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Preprocessing ensembles</a:t>
            </a:r>
            <a:r>
              <a:rPr lang="en-CA" dirty="0"/>
              <a:t> combining multiple preprocessing methods (SNV + MSC + derivatives) into one fused matrix extracts complementary information no single method captures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Autoencoder + regression</a:t>
            </a:r>
            <a:r>
              <a:rPr lang="en-CA" dirty="0"/>
              <a:t> unsupervised spectral feature extraction followed by regression, handles small datasets better than end-to-end supervised models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Transfer Learning</a:t>
            </a:r>
            <a:r>
              <a:rPr lang="en-CA" dirty="0"/>
              <a:t> — pretrain CNN on large spectral dataset, fine-tune on our 20-cultivar dataset, directly addresses the small dataset limitation</a:t>
            </a:r>
            <a:endParaRPr lang="en-CA" b="1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 err="1"/>
              <a:t>XGBoost</a:t>
            </a:r>
            <a:r>
              <a:rPr lang="en-CA" b="1" dirty="0"/>
              <a:t> as preprocessing</a:t>
            </a:r>
            <a:r>
              <a:rPr lang="en-CA" dirty="0"/>
              <a:t> transforms spectral data into binary feature vectors before regression, shown to outperform SNV/MSC/derivatives on Raman data </a:t>
            </a:r>
            <a:endParaRPr lang="en-CA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Gaussian Process Regression (GPR)</a:t>
            </a:r>
            <a:r>
              <a:rPr lang="en-CA" dirty="0"/>
              <a:t> provides uncertainty estimates per prediction, particularly useful under LOCO where unseen cultivars may produce unreliable results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General Deep Learning Model (Pea-specific)</a:t>
            </a:r>
            <a:r>
              <a:rPr lang="en-CA" dirty="0"/>
              <a:t> predicts and classifies pea protein content simultaneously using Vis-NIR spectroscopy, directly applicable to our pea cultivar dataset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Deep Neural Network (DNN)</a:t>
            </a:r>
            <a:r>
              <a:rPr lang="en-CA" dirty="0"/>
              <a:t> five-layer fully connected network, outperformed both PLSR and SVR for protein prediction through NIR spectroscopy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31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D0D4E-9ABA-B976-1BB8-F3E85BB9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0E406-66FA-5BFE-D528-9BF647696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9B2D8-269A-3AB1-88CF-BFA68BDA0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Preprocessing ensembles</a:t>
            </a:r>
            <a:r>
              <a:rPr lang="en-CA" dirty="0"/>
              <a:t> combining multiple preprocessing methods (SNV + MSC + derivatives) into one fused matrix extracts complementary information no single method captures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Autoencoder + regression</a:t>
            </a:r>
            <a:r>
              <a:rPr lang="en-CA" dirty="0"/>
              <a:t> unsupervised spectral feature extraction followed by regression, handles small datasets better than end-to-end supervised models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Transfer Learning</a:t>
            </a:r>
            <a:r>
              <a:rPr lang="en-CA" dirty="0"/>
              <a:t> — pretrain CNN on large spectral dataset, fine-tune on our 20-cultivar dataset, directly addresses the small dataset limitation</a:t>
            </a:r>
            <a:endParaRPr lang="en-CA" b="1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 err="1"/>
              <a:t>XGBoost</a:t>
            </a:r>
            <a:r>
              <a:rPr lang="en-CA" b="1" dirty="0"/>
              <a:t> as preprocessing</a:t>
            </a:r>
            <a:r>
              <a:rPr lang="en-CA" dirty="0"/>
              <a:t> transforms spectral data into binary feature vectors before regression, shown to outperform SNV/MSC/derivatives on Raman data </a:t>
            </a:r>
            <a:endParaRPr lang="en-CA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Gaussian Process Regression (GPR)</a:t>
            </a:r>
            <a:r>
              <a:rPr lang="en-CA" dirty="0"/>
              <a:t> provides uncertainty estimates per prediction, particularly useful under LOCO where unseen cultivars may produce unreliable results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General Deep Learning Model (Pea-specific)</a:t>
            </a:r>
            <a:r>
              <a:rPr lang="en-CA" dirty="0"/>
              <a:t> predicts and classifies pea protein content simultaneously using Vis-NIR spectroscopy, directly applicable to our pea cultivar dataset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Deep Neural Network (DNN)</a:t>
            </a:r>
            <a:r>
              <a:rPr lang="en-CA" dirty="0"/>
              <a:t> five-layer fully connected network, outperformed both PLSR and SVR for protein prediction through NIR spectroscopy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C6ECC-8D03-7051-7DE2-5FB30CBF2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4060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4F10A-E225-367C-60BB-EB65CA60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E8E42-2A8F-5A28-8758-CEE4349F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FFE1B-C826-E266-858E-24FBFA12A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Preprocessing ensembles</a:t>
            </a:r>
            <a:r>
              <a:rPr lang="en-CA" dirty="0"/>
              <a:t> combining multiple preprocessing methods (SNV + MSC + derivatives) into one fused matrix extracts complementary information no single method captures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Autoencoder + regression</a:t>
            </a:r>
            <a:r>
              <a:rPr lang="en-CA" dirty="0"/>
              <a:t> unsupervised spectral feature extraction followed by regression, handles small datasets better than end-to-end supervised models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Transfer Learning</a:t>
            </a:r>
            <a:r>
              <a:rPr lang="en-CA" dirty="0"/>
              <a:t> — pretrain CNN on large spectral dataset, fine-tune on our 20-cultivar dataset, directly addresses the small dataset limitation</a:t>
            </a:r>
            <a:endParaRPr lang="en-CA" b="1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 err="1"/>
              <a:t>XGBoost</a:t>
            </a:r>
            <a:r>
              <a:rPr lang="en-CA" b="1" dirty="0"/>
              <a:t> as preprocessing</a:t>
            </a:r>
            <a:r>
              <a:rPr lang="en-CA" dirty="0"/>
              <a:t> transforms spectral data into binary feature vectors before regression, shown to outperform SNV/MSC/derivatives on Raman data </a:t>
            </a:r>
            <a:endParaRPr lang="en-CA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Gaussian Process Regression (GPR)</a:t>
            </a:r>
            <a:r>
              <a:rPr lang="en-CA" dirty="0"/>
              <a:t> provides uncertainty estimates per prediction, particularly useful under LOCO where unseen cultivars may produce unreliable results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General Deep Learning Model (Pea-specific)</a:t>
            </a:r>
            <a:r>
              <a:rPr lang="en-CA" dirty="0"/>
              <a:t> predicts and classifies pea protein content simultaneously using Vis-NIR spectroscopy, directly applicable to our pea cultivar dataset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Deep Neural Network (DNN)</a:t>
            </a:r>
            <a:r>
              <a:rPr lang="en-CA" dirty="0"/>
              <a:t> five-layer fully connected network, outperformed both PLSR and SVR for protein prediction through NIR spectroscopy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BBB99-3358-E113-E3BC-CD8F6EE0C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4798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077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</a:t>
            </a:r>
            <a:r>
              <a:rPr lang="en-CA" dirty="0"/>
              <a:t>: Removes intensity scaling differences and normalizes spectra.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MSC</a:t>
            </a:r>
            <a:r>
              <a:rPr lang="en-CA" dirty="0"/>
              <a:t>: Corrects multiplicative scatter effects caused by particle size or light scattering.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+ 1st Derivative</a:t>
            </a:r>
            <a:r>
              <a:rPr lang="en-CA" dirty="0"/>
              <a:t>: Removes baseline shifts and enhances peak resolution.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+ 2nd Derivative</a:t>
            </a:r>
            <a:r>
              <a:rPr lang="en-CA" dirty="0"/>
              <a:t>: Provides stronger baseline correction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 + 1st Derivative</a:t>
            </a:r>
            <a:r>
              <a:rPr lang="en-CA" dirty="0"/>
              <a:t>: Normalizes spectra and enhances peak features while reducing baseline effects.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 + 2nd Derivative</a:t>
            </a:r>
            <a:r>
              <a:rPr lang="en-CA" dirty="0"/>
              <a:t>: Normalizes spectra and provides stronger enhancement of spectral features with improved baseline removal.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MSC + 1st Derivative</a:t>
            </a:r>
            <a:r>
              <a:rPr lang="en-CA" dirty="0"/>
              <a:t>: Corrects scatter effects and enhances peak resolution.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MSC + 2nd Derivative</a:t>
            </a:r>
            <a:r>
              <a:rPr lang="en-CA" dirty="0"/>
              <a:t>: Corrects scatter effects and provides stronger baseline removal and peak separation.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0786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Among all preprocessing combinations,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</a:t>
            </a:r>
            <a:r>
              <a:rPr lang="en-CA" dirty="0"/>
              <a:t> produced the strongest overall performance, achieving the highest R² and RPD values and the lowest RMSE for both the 80/20 split and LOCO validation.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Derivative hurts performance</a:t>
            </a:r>
            <a:r>
              <a:rPr lang="en-CA" dirty="0"/>
              <a:t>: adding 1st or 2nd derivative made results worse across all combinations. Likely because the cysteine signal is very subtle and derivatives amplify noise alongside real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MSC performs similarly to SNV but slightly worse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The gap between 80/20 and LOCO is consistent</a:t>
            </a:r>
            <a:r>
              <a:rPr lang="en-CA" dirty="0"/>
              <a:t> across all 8 methods, no preprocessing combination closes it. This indicates the limitation is the model itself, not the preprocessing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0136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CA" b="1" dirty="0"/>
              <a:t>80/20 Split (R² = 0.45, RPD = 1.35)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Moderate performance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RPD &lt; 2.0 is not sufficient for screening applications</a:t>
            </a:r>
          </a:p>
          <a:p>
            <a:pPr marL="228600" indent="-228600">
              <a:buFont typeface="+mj-lt"/>
              <a:buAutoNum type="arabicPeriod"/>
            </a:pPr>
            <a:r>
              <a:rPr lang="en-CA" b="1" dirty="0"/>
              <a:t>LOCOCV (R² = -0.65, RPD = 0.78)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Negative R² model predicts global mean (~0.34) for every sample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420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86FB-83C4-4204-AD67-DAF1E2E18894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173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0532-EAFE-4AAA-912D-52BE26C9C6BD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442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470E-9DAA-4651-8CBE-A8C030E0BABD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507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C81F-7636-4B59-863B-343070CA222B}" type="datetime1">
              <a:rPr lang="en-CA" smtClean="0"/>
              <a:t>2026-06-24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194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5713-E2C3-4B9B-B95D-43A14E42BB7B}" type="datetime1">
              <a:rPr lang="en-CA" smtClean="0"/>
              <a:t>2026-06-24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457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5C3D-AEEB-4DDE-B9B9-603B09BCA7EF}" type="datetime1">
              <a:rPr lang="en-CA" smtClean="0"/>
              <a:t>2026-06-24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36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D974-28F7-40E7-BF82-100B0B2FF2DC}" type="datetime1">
              <a:rPr lang="en-CA" smtClean="0"/>
              <a:t>2026-06-24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25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9DF5-90C1-4B06-9195-AB0B8EBCF3A0}" type="datetime1">
              <a:rPr lang="en-CA" smtClean="0"/>
              <a:t>2026-06-24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07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9F29-7BE1-4B01-9AD0-1CCDA25B2368}" type="datetime1">
              <a:rPr lang="en-CA" smtClean="0"/>
              <a:t>2026-06-24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856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98FDD-4264-4636-9828-519AE2BF52E1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02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B0D1-99A8-40A6-9374-F1D7B46C70E5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538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AD7D-7FFC-49C1-B066-6DBA30CB65E7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3937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4D51-D707-4699-AD61-9CC2AB6F4932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4482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F048-D1D8-4D1B-8601-D24E4011B4F5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1861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EED48-8186-43C0-AEB7-C8DDF9F6A1FB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8659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FC2F-B51D-4D1B-8455-34496224007B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58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C0A79-D4E6-4ADA-B82F-1D6F2B1049AB}" type="datetime1">
              <a:rPr lang="en-CA" smtClean="0"/>
              <a:t>2026-06-24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193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5DDA-F5C4-0951-0681-14AEAD27E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876784"/>
          </a:xfrm>
        </p:spPr>
        <p:txBody>
          <a:bodyPr/>
          <a:lstStyle/>
          <a:p>
            <a:pPr algn="ctr"/>
            <a:r>
              <a:rPr lang="en-CA" sz="3600" dirty="0"/>
              <a:t>Cysteine Prediction in Pea Cultivars Using Raman Spectroscopy and Machine Learning</a:t>
            </a:r>
            <a:br>
              <a:rPr lang="en-CA" sz="3600" dirty="0"/>
            </a:br>
            <a:r>
              <a:rPr lang="en-CA" sz="3600" dirty="0"/>
              <a:t>Week-2 Revised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68E94-DDA8-648E-4848-A96373777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CA" sz="2800" dirty="0"/>
              <a:t>Priyanshu Mittal </a:t>
            </a:r>
          </a:p>
          <a:p>
            <a:pPr algn="ctr">
              <a:spcBef>
                <a:spcPts val="0"/>
              </a:spcBef>
            </a:pPr>
            <a:r>
              <a:rPr lang="en-CA" sz="2800" dirty="0"/>
              <a:t>June 17,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E3394-6F91-F8D4-24A8-7868C1D1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463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14C2-04A9-3428-4ACE-A79E8491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What We Did This Week?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4F878-F284-643E-08D2-F28A2C166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7452"/>
            <a:ext cx="8596668" cy="3880773"/>
          </a:xfrm>
        </p:spPr>
        <p:txBody>
          <a:bodyPr>
            <a:normAutofit/>
          </a:bodyPr>
          <a:lstStyle/>
          <a:p>
            <a:r>
              <a:rPr lang="en-CA" sz="2000" dirty="0"/>
              <a:t>Completed a second round of literature review (6 papers) </a:t>
            </a:r>
          </a:p>
          <a:p>
            <a:r>
              <a:rPr lang="en-CA" sz="2000" dirty="0"/>
              <a:t>Trained and optimised a PLSR model as the baseline </a:t>
            </a:r>
          </a:p>
          <a:p>
            <a:r>
              <a:rPr lang="en-CA" sz="2000" dirty="0"/>
              <a:t>Tested 8 different preprocessing combinations </a:t>
            </a:r>
          </a:p>
          <a:p>
            <a:r>
              <a:rPr lang="en-CA" sz="2000" dirty="0"/>
              <a:t>Compared two validation strategies: 80/20 split and Leave-One-Cultivar-Out (LOCOCV)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32DB8-4850-803B-B235-4585246F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849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3B36D-180D-B972-E174-1671677C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CDD56-3646-8780-082E-8A818C63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85" y="604645"/>
            <a:ext cx="10197494" cy="1099457"/>
          </a:xfrm>
        </p:spPr>
        <p:txBody>
          <a:bodyPr>
            <a:normAutofit/>
          </a:bodyPr>
          <a:lstStyle/>
          <a:p>
            <a:r>
              <a:rPr lang="en-CA" dirty="0"/>
              <a:t>Literature Review Summary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B1125C-4EBD-E341-9411-2F862081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3</a:t>
            </a:fld>
            <a:endParaRPr lang="en-CA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DC7B270-B90E-836C-FD95-F2F8AC7367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260701"/>
              </p:ext>
            </p:extLst>
          </p:nvPr>
        </p:nvGraphicFramePr>
        <p:xfrm>
          <a:off x="668385" y="1605887"/>
          <a:ext cx="11249094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937">
                  <a:extLst>
                    <a:ext uri="{9D8B030D-6E8A-4147-A177-3AD203B41FA5}">
                      <a16:colId xmlns:a16="http://schemas.microsoft.com/office/drawing/2014/main" val="2136420592"/>
                    </a:ext>
                  </a:extLst>
                </a:gridCol>
                <a:gridCol w="2456761">
                  <a:extLst>
                    <a:ext uri="{9D8B030D-6E8A-4147-A177-3AD203B41FA5}">
                      <a16:colId xmlns:a16="http://schemas.microsoft.com/office/drawing/2014/main" val="2190505661"/>
                    </a:ext>
                  </a:extLst>
                </a:gridCol>
                <a:gridCol w="1874849">
                  <a:extLst>
                    <a:ext uri="{9D8B030D-6E8A-4147-A177-3AD203B41FA5}">
                      <a16:colId xmlns:a16="http://schemas.microsoft.com/office/drawing/2014/main" val="1542549167"/>
                    </a:ext>
                  </a:extLst>
                </a:gridCol>
                <a:gridCol w="1874849">
                  <a:extLst>
                    <a:ext uri="{9D8B030D-6E8A-4147-A177-3AD203B41FA5}">
                      <a16:colId xmlns:a16="http://schemas.microsoft.com/office/drawing/2014/main" val="195919850"/>
                    </a:ext>
                  </a:extLst>
                </a:gridCol>
                <a:gridCol w="1874849">
                  <a:extLst>
                    <a:ext uri="{9D8B030D-6E8A-4147-A177-3AD203B41FA5}">
                      <a16:colId xmlns:a16="http://schemas.microsoft.com/office/drawing/2014/main" val="2120368829"/>
                    </a:ext>
                  </a:extLst>
                </a:gridCol>
                <a:gridCol w="1874849">
                  <a:extLst>
                    <a:ext uri="{9D8B030D-6E8A-4147-A177-3AD203B41FA5}">
                      <a16:colId xmlns:a16="http://schemas.microsoft.com/office/drawing/2014/main" val="351560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Sample Type &amp;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Novelty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Training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Evaluation Procedure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367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/>
                        <a:t>Wu et al.</a:t>
                      </a:r>
                      <a:endParaRPr lang="en-CA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PFCOVSC (Preprocessing Fusion + </a:t>
                      </a:r>
                      <a:r>
                        <a:rPr lang="en-CA" sz="1200" dirty="0" err="1"/>
                        <a:t>fCovsel</a:t>
                      </a:r>
                      <a:r>
                        <a:rPr lang="en-CA" sz="1200" dirty="0"/>
                        <a:t> + PLS)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Wheat (415 train, 108 test), Meat (172 train, 43 test), Tablet (210 train, 100 test)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First method to fuse multiple preprocessing blocks into one matrix and perform variable selection across all blocks simultaneously; faster and order-independent compared with SPORT and PROSAC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Ten preprocessing blocks fused into a single matrix. fCovsel selected 40 informative variables. PLS model built on selected variables. Optimal latent variables determined using leave-one-out cross validation.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Independent test set evaluation using RMSEC and RMSEP. Compared against single-block PLS, SPORT and PROSAC.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615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/>
                        <a:t>Liu et al. </a:t>
                      </a:r>
                      <a:endParaRPr lang="en-CA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CNN, RNN, Autoencoder, GAN, Transfer Learning, Contrastive Learning (Review)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Multiple spectroscopy datasets across Raman, NIR, IR and Mass Spectrometry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Comprehensive review of deep learning in spectral analysis. Highlights transfer learning, data augmentation, self-supervised learning and generative approaches for small spectral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Summarises training approaches used across published studies, including supervised, transfer learning and self-supervised frameworks.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Reviews published performance and applications across multiple spectroscopy domains rather than conducting experiments.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036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90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8FFE7-1A3F-559E-0AE4-8A50806E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4D2F6DA-C6A7-A0F9-296A-FA67CA19D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59092-F54A-8CB7-A611-0636F89A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85" y="604645"/>
            <a:ext cx="10197494" cy="1099457"/>
          </a:xfrm>
        </p:spPr>
        <p:txBody>
          <a:bodyPr>
            <a:normAutofit/>
          </a:bodyPr>
          <a:lstStyle/>
          <a:p>
            <a:r>
              <a:rPr lang="en-CA" dirty="0"/>
              <a:t>Literature Review Summary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33492A1-440C-21C1-18F1-FDD32C092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2137139-9BFB-2FCE-A0F1-CDF42480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C366013-13FB-508E-E73C-F53C98F0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4</a:t>
            </a:fld>
            <a:endParaRPr lang="en-CA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922C05-2089-94FC-A689-585AC6F67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2337037"/>
              </p:ext>
            </p:extLst>
          </p:nvPr>
        </p:nvGraphicFramePr>
        <p:xfrm>
          <a:off x="692672" y="1534422"/>
          <a:ext cx="10841592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932">
                  <a:extLst>
                    <a:ext uri="{9D8B030D-6E8A-4147-A177-3AD203B41FA5}">
                      <a16:colId xmlns:a16="http://schemas.microsoft.com/office/drawing/2014/main" val="1711413972"/>
                    </a:ext>
                  </a:extLst>
                </a:gridCol>
                <a:gridCol w="1806932">
                  <a:extLst>
                    <a:ext uri="{9D8B030D-6E8A-4147-A177-3AD203B41FA5}">
                      <a16:colId xmlns:a16="http://schemas.microsoft.com/office/drawing/2014/main" val="2218965696"/>
                    </a:ext>
                  </a:extLst>
                </a:gridCol>
                <a:gridCol w="1806932">
                  <a:extLst>
                    <a:ext uri="{9D8B030D-6E8A-4147-A177-3AD203B41FA5}">
                      <a16:colId xmlns:a16="http://schemas.microsoft.com/office/drawing/2014/main" val="3185153098"/>
                    </a:ext>
                  </a:extLst>
                </a:gridCol>
                <a:gridCol w="1806932">
                  <a:extLst>
                    <a:ext uri="{9D8B030D-6E8A-4147-A177-3AD203B41FA5}">
                      <a16:colId xmlns:a16="http://schemas.microsoft.com/office/drawing/2014/main" val="1849811378"/>
                    </a:ext>
                  </a:extLst>
                </a:gridCol>
                <a:gridCol w="1806932">
                  <a:extLst>
                    <a:ext uri="{9D8B030D-6E8A-4147-A177-3AD203B41FA5}">
                      <a16:colId xmlns:a16="http://schemas.microsoft.com/office/drawing/2014/main" val="1352775466"/>
                    </a:ext>
                  </a:extLst>
                </a:gridCol>
                <a:gridCol w="1806932">
                  <a:extLst>
                    <a:ext uri="{9D8B030D-6E8A-4147-A177-3AD203B41FA5}">
                      <a16:colId xmlns:a16="http://schemas.microsoft.com/office/drawing/2014/main" val="498233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Sample Type &amp;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Novelty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Training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Evaluation Procedure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372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/>
                        <a:t>Wang et al. </a:t>
                      </a:r>
                      <a:endParaRPr lang="en-CA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XGBoost-assisted Linear Regression (X-LR) and MLP (X-MLP)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Raman spectra of glucose, glycerol and ethanol mixtures; 40 samples split 6:2:2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First use of </a:t>
                      </a:r>
                      <a:r>
                        <a:rPr lang="en-CA" sz="1200" dirty="0" err="1"/>
                        <a:t>XGBoost</a:t>
                      </a:r>
                      <a:r>
                        <a:rPr lang="en-CA" sz="1200" dirty="0"/>
                        <a:t> as a spectral preprocessing technique. Converts spectra into binary feature vectors through leaf-node encoding and replaces traditional preprocessing.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 err="1"/>
                        <a:t>XGBoost</a:t>
                      </a:r>
                      <a:r>
                        <a:rPr lang="en-CA" sz="1200" dirty="0"/>
                        <a:t> trained on raw spectra to generate binary features. LR and MLP trained on transformed features. Hyperparameters optimised using </a:t>
                      </a:r>
                      <a:r>
                        <a:rPr lang="en-CA" sz="1200" dirty="0" err="1"/>
                        <a:t>Optuna</a:t>
                      </a:r>
                      <a:r>
                        <a:rPr lang="en-CA" sz="1200" dirty="0"/>
                        <a:t> with 100 iterations.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Evaluated using R², RMSEC and RMSEP on held-out test data. Compared against eight traditional preprocessing methods including SNV, MSC and Savitzky-Golay derivatives.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3306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/>
                        <a:t>Chen et al. </a:t>
                      </a:r>
                      <a:endParaRPr lang="en-CA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Gaussian Process Regression (GPR) compared with PLSR and SIMCA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NIR spectra of mangoes; 9,711 hard-green samples and 1,980 ripe out-of-distribution samples; 7:3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First application of GPR predictive variance as a confidence measure to identify out-of-distribution samples and flag unreliable predictions.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GPR and PLSR trained on hard-green mango samples. Kennard-Stone algorithm used for data splitting. Covariance function optimised during model fitting.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Evaluated on in-distribution, out-of-distribution and mixed test sets using RMSE and R². GPR variance threshold used to remove uncertain predictions.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336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62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4F659-5C99-9A65-275A-BC5F9895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E821B05-195F-BC75-D46E-2A3349253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85B79-617A-A022-D8C8-6A057BFF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85" y="604645"/>
            <a:ext cx="10197494" cy="1099457"/>
          </a:xfrm>
        </p:spPr>
        <p:txBody>
          <a:bodyPr>
            <a:normAutofit/>
          </a:bodyPr>
          <a:lstStyle/>
          <a:p>
            <a:r>
              <a:rPr lang="en-CA" dirty="0"/>
              <a:t>Literature Review Summary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BA725B0-3033-82D4-C681-D03DF2354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065D114-56B3-3C9E-9CBC-DC2B5E2AD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CE2605-1748-D4E8-08DD-9F66B54B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5</a:t>
            </a:fld>
            <a:endParaRPr lang="en-CA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DEE46B-350D-9A84-64E6-284910FFA5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81488"/>
              </p:ext>
            </p:extLst>
          </p:nvPr>
        </p:nvGraphicFramePr>
        <p:xfrm>
          <a:off x="677863" y="1579468"/>
          <a:ext cx="11065404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234">
                  <a:extLst>
                    <a:ext uri="{9D8B030D-6E8A-4147-A177-3AD203B41FA5}">
                      <a16:colId xmlns:a16="http://schemas.microsoft.com/office/drawing/2014/main" val="3545946800"/>
                    </a:ext>
                  </a:extLst>
                </a:gridCol>
                <a:gridCol w="1844234">
                  <a:extLst>
                    <a:ext uri="{9D8B030D-6E8A-4147-A177-3AD203B41FA5}">
                      <a16:colId xmlns:a16="http://schemas.microsoft.com/office/drawing/2014/main" val="4286832422"/>
                    </a:ext>
                  </a:extLst>
                </a:gridCol>
                <a:gridCol w="1844234">
                  <a:extLst>
                    <a:ext uri="{9D8B030D-6E8A-4147-A177-3AD203B41FA5}">
                      <a16:colId xmlns:a16="http://schemas.microsoft.com/office/drawing/2014/main" val="99893209"/>
                    </a:ext>
                  </a:extLst>
                </a:gridCol>
                <a:gridCol w="1844234">
                  <a:extLst>
                    <a:ext uri="{9D8B030D-6E8A-4147-A177-3AD203B41FA5}">
                      <a16:colId xmlns:a16="http://schemas.microsoft.com/office/drawing/2014/main" val="2767260958"/>
                    </a:ext>
                  </a:extLst>
                </a:gridCol>
                <a:gridCol w="1844234">
                  <a:extLst>
                    <a:ext uri="{9D8B030D-6E8A-4147-A177-3AD203B41FA5}">
                      <a16:colId xmlns:a16="http://schemas.microsoft.com/office/drawing/2014/main" val="2627157365"/>
                    </a:ext>
                  </a:extLst>
                </a:gridCol>
                <a:gridCol w="1844234">
                  <a:extLst>
                    <a:ext uri="{9D8B030D-6E8A-4147-A177-3AD203B41FA5}">
                      <a16:colId xmlns:a16="http://schemas.microsoft.com/office/drawing/2014/main" val="610449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Sample Type &amp;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Novelty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Training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Evaluation Procedure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05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/>
                        <a:t>Xiao et al. </a:t>
                      </a:r>
                      <a:endParaRPr lang="en-CA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General Deep Learning Model for simultaneous regression and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Vis-NIR spectra of pea samples from multiple cultivars and growing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First deep learning framework developed specifically for pea protein prediction while simultaneously classifying cultivars within a single model.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Model trained using Vis-NIR spectra and laboratory-measured protein content. Designed to generalise across cultivars and environmental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Evaluated using RMSE and R² for protein prediction and classification accuracy for cultivar identification. Tested on unseen cultivars.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25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/>
                        <a:t>Yang et al. </a:t>
                      </a:r>
                      <a:endParaRPr lang="en-CA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Deep Neural Network (DNN) compared with PLSR and SVR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1,800 paddy rice spectra and 1,200 brown rice spectra collected from 950–2200 nm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One of the few studies applying deep learning for non-destructive protein prediction in paddy rice. Demonstrated that DNN outperformed traditional PLSR and SVR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Five-hidden-layer DNN trained using NIR spectra and laboratory-measured protein content. Multiple preprocessing methods evaluated. Data split 70:30 with 10-fold cross validation. Batch Normalization and ReLU activation functions used.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Evaluated using R² and RMSE on independent prediction datasets. Best DNN achieved Rp² = 0.972 (RMSEP = 0.048) for paddy rice and Rp² = 0.987 (RMSEP = 0.033) for brown rice, outperforming PLSR and SVR.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31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84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274E-7AF4-1377-9758-EB5FC174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7CE7-4268-5E53-D07E-19BA57CB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Dataset Overview - Updated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A7EE1-D743-A4EC-D3C3-4A0DFD927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7452"/>
            <a:ext cx="8596668" cy="3880773"/>
          </a:xfrm>
        </p:spPr>
        <p:txBody>
          <a:bodyPr>
            <a:normAutofit/>
          </a:bodyPr>
          <a:lstStyle/>
          <a:p>
            <a:r>
              <a:rPr lang="en-CA" sz="2000" dirty="0"/>
              <a:t>20 pea cultivars × 324 spectra = </a:t>
            </a:r>
            <a:r>
              <a:rPr lang="en-CA" sz="2000" b="1" dirty="0"/>
              <a:t>6,480 spectra total</a:t>
            </a:r>
            <a:r>
              <a:rPr lang="en-CA" sz="2000" dirty="0"/>
              <a:t> </a:t>
            </a:r>
          </a:p>
          <a:p>
            <a:r>
              <a:rPr lang="en-CA" sz="2000" dirty="0"/>
              <a:t>1,530 usable spectral data points per spectrum </a:t>
            </a:r>
          </a:p>
          <a:p>
            <a:r>
              <a:rPr lang="en-CA" sz="2000" dirty="0"/>
              <a:t>Raman shift range: 97.8 – 3,361.7 cm⁻¹ </a:t>
            </a:r>
          </a:p>
          <a:p>
            <a:r>
              <a:rPr lang="en-CA" sz="2000" dirty="0"/>
              <a:t>Cysteine range: 0.312 – 0.373 g/100g (spread of only 0.061) </a:t>
            </a:r>
          </a:p>
          <a:p>
            <a:r>
              <a:rPr lang="en-CA" sz="2000" dirty="0"/>
              <a:t>Labels: one cysteine value per cultivar shared across all 324 spectra </a:t>
            </a:r>
          </a:p>
          <a:p>
            <a:r>
              <a:rPr lang="en-CA" sz="2000" dirty="0" err="1"/>
              <a:t>Redbat</a:t>
            </a:r>
            <a:r>
              <a:rPr lang="en-CA" sz="2000" dirty="0"/>
              <a:t> 88 dataset updated and confirmed at 324 spectra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CC086-E442-209F-B54F-F2DB5ED0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007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5642-6514-7FF5-C474-FA41B9E4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4CA8-94BC-37F2-378B-302CC602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PLSR – Partial Least Squares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4B12-D61B-B1DD-4B3C-3507F5578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lvl="1"/>
            <a:r>
              <a:rPr lang="en-CA" dirty="0"/>
              <a:t>Partial least squares regression (PLS regression) is a statistical technique that shares similarities with </a:t>
            </a:r>
            <a:r>
              <a:rPr lang="en-CA" u="sng" dirty="0"/>
              <a:t>principal components regression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Instead of identifying hyperplanes of maximum variance between the response and independent variables, PLS regression constructs a linear regression model by projecting both the predicted and observable variables into a new space. </a:t>
            </a:r>
          </a:p>
          <a:p>
            <a:pPr lvl="1"/>
            <a:r>
              <a:rPr lang="en-CA" dirty="0"/>
              <a:t>This characteristic of projecting data to new spaces classifies PLS methods as bilinear factor models. </a:t>
            </a:r>
          </a:p>
          <a:p>
            <a:pPr lvl="1"/>
            <a:r>
              <a:rPr lang="en-CA" dirty="0"/>
              <a:t>Partial least squares discriminant analysis (PLS-DA) is a specific variant used when the response variable (Y) is categorical</a:t>
            </a:r>
            <a:endParaRPr lang="en-CA" sz="180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7893071-4246-09A7-B37E-172ED4DD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868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5E19-80AF-07DA-BEBA-047AE3B8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does it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1345E-21AE-687B-27E0-E2A02673D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291" y="1798856"/>
            <a:ext cx="10164837" cy="3880773"/>
          </a:xfrm>
        </p:spPr>
        <p:txBody>
          <a:bodyPr/>
          <a:lstStyle/>
          <a:p>
            <a:r>
              <a:rPr lang="en-CA" dirty="0"/>
              <a:t>Our spectrum has 1,530 features per sample. But we only have 20 unique cysteine values. If we feed all 1,530 features directly into a model, it gets confused as it have too many variables, too few labels. We need to compress the data first.</a:t>
            </a:r>
          </a:p>
          <a:p>
            <a:r>
              <a:rPr lang="en-CA" dirty="0"/>
              <a:t>What PLSR does?</a:t>
            </a:r>
          </a:p>
          <a:p>
            <a:pPr lvl="1"/>
            <a:r>
              <a:rPr lang="en-CA" dirty="0"/>
              <a:t>PLSR compresses 1,530 spectral features into a small number of new variables called </a:t>
            </a:r>
            <a:r>
              <a:rPr lang="en-CA" b="1" dirty="0"/>
              <a:t>latent components</a:t>
            </a:r>
            <a:r>
              <a:rPr lang="en-CA" dirty="0"/>
              <a:t>.</a:t>
            </a:r>
          </a:p>
          <a:p>
            <a:r>
              <a:rPr lang="en-CA" dirty="0"/>
              <a:t>What makes PLSR special:</a:t>
            </a:r>
          </a:p>
          <a:p>
            <a:pPr lvl="1"/>
            <a:r>
              <a:rPr lang="en-CA" dirty="0"/>
              <a:t>PLSR compresses in a way that </a:t>
            </a:r>
            <a:r>
              <a:rPr lang="en-CA" b="1" dirty="0"/>
              <a:t>maximises the relationship between the spectrum and cysteine concentration simultaneously</a:t>
            </a:r>
            <a:r>
              <a:rPr lang="en-CA" dirty="0"/>
              <a:t>. It finds the directions in spectral space that best explain cysteine variation.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A6164-F7DB-88B2-1971-20F6B649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27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C4AE-5E3D-DCAF-E37F-DCFB443A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it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2C878-03F9-058E-03C6-0E94A3693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81751"/>
          </a:xfrm>
        </p:spPr>
        <p:txBody>
          <a:bodyPr>
            <a:normAutofit/>
          </a:bodyPr>
          <a:lstStyle/>
          <a:p>
            <a:r>
              <a:rPr lang="en-CA" dirty="0"/>
              <a:t>The math simply explained: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How we optimized it?</a:t>
            </a:r>
          </a:p>
          <a:p>
            <a:pPr lvl="1"/>
            <a:r>
              <a:rPr lang="en-CA" dirty="0"/>
              <a:t>We tested 1 to 40 components using 5-fold cross validation. </a:t>
            </a:r>
          </a:p>
          <a:p>
            <a:pPr lvl="2"/>
            <a:r>
              <a:rPr lang="en-CA" dirty="0"/>
              <a:t>Too few components = underfitting. </a:t>
            </a:r>
          </a:p>
          <a:p>
            <a:pPr lvl="2"/>
            <a:r>
              <a:rPr lang="en-CA" dirty="0"/>
              <a:t>Too many = overfitting. </a:t>
            </a:r>
          </a:p>
          <a:p>
            <a:pPr lvl="2"/>
            <a:r>
              <a:rPr lang="en-CA" dirty="0"/>
              <a:t>The best spot was </a:t>
            </a:r>
            <a:r>
              <a:rPr lang="en-CA" b="1" dirty="0"/>
              <a:t>18 components</a:t>
            </a:r>
            <a:r>
              <a:rPr lang="en-CA" dirty="0"/>
              <a:t> — after that, RMSE started rising again.</a:t>
            </a:r>
          </a:p>
          <a:p>
            <a:pPr marL="400050" lvl="1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ADA17-32D1-6526-A283-575E57C4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9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80839-BB98-2A15-E08C-19288CAE4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673310"/>
            <a:ext cx="5504391" cy="170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3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12D1-FCEA-583E-22EC-0D3A0E31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in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847A-D974-414A-6D8B-506C4725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1259"/>
            <a:ext cx="8596668" cy="3880773"/>
          </a:xfrm>
        </p:spPr>
        <p:txBody>
          <a:bodyPr/>
          <a:lstStyle/>
          <a:p>
            <a:r>
              <a:rPr lang="en-CA" dirty="0"/>
              <a:t>Build X and y: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Preprocess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ED33D-E09B-C14C-A6BC-35B9DF0D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10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0A880-4C23-669F-78CA-28795BDC226F}"/>
              </a:ext>
            </a:extLst>
          </p:cNvPr>
          <p:cNvSpPr/>
          <p:nvPr/>
        </p:nvSpPr>
        <p:spPr>
          <a:xfrm>
            <a:off x="677334" y="2016207"/>
            <a:ext cx="7863840" cy="132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X = matrix of all spectra    # shape: (6480, 1530)</a:t>
            </a:r>
          </a:p>
          <a:p>
            <a:r>
              <a:rPr lang="en-US" dirty="0"/>
              <a:t>y = cysteine values          	# shape: (6480,)</a:t>
            </a:r>
          </a:p>
          <a:p>
            <a:r>
              <a:rPr lang="en-US" dirty="0"/>
              <a:t>Each row in X = one spectrum</a:t>
            </a:r>
          </a:p>
          <a:p>
            <a:r>
              <a:rPr lang="en-US" dirty="0"/>
              <a:t>Each value in y = cysteine label for that spectrum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4947ED-DB5A-66AF-BA9D-FD22F9C7BCF6}"/>
              </a:ext>
            </a:extLst>
          </p:cNvPr>
          <p:cNvSpPr/>
          <p:nvPr/>
        </p:nvSpPr>
        <p:spPr>
          <a:xfrm>
            <a:off x="677334" y="4104088"/>
            <a:ext cx="7913329" cy="1281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SG Smoothing : removes noise from each spectrum</a:t>
            </a:r>
          </a:p>
          <a:p>
            <a:r>
              <a:rPr lang="en-US" dirty="0"/>
              <a:t>SNV : makes every spectrum have mean=0, std=1</a:t>
            </a:r>
          </a:p>
          <a:p>
            <a:r>
              <a:rPr lang="en-US" dirty="0"/>
              <a:t>	: fixes the intensity scaling problem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9860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82E6-EDD9-D47D-E33E-EE082D9B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in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3E0E-D9FC-779D-5430-B53A49FE0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83" y="1684004"/>
            <a:ext cx="8596668" cy="3880773"/>
          </a:xfrm>
        </p:spPr>
        <p:txBody>
          <a:bodyPr/>
          <a:lstStyle/>
          <a:p>
            <a:r>
              <a:rPr lang="en-CA" dirty="0"/>
              <a:t>Split Data: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Train PLSR: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8C812-D4A7-334F-1E7B-4E266F39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11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5F6F4-B87A-9414-230A-FCBBCB76AFC1}"/>
              </a:ext>
            </a:extLst>
          </p:cNvPr>
          <p:cNvSpPr/>
          <p:nvPr/>
        </p:nvSpPr>
        <p:spPr>
          <a:xfrm>
            <a:off x="666832" y="2116183"/>
            <a:ext cx="8098972" cy="28114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80/20 Split:</a:t>
            </a:r>
          </a:p>
          <a:p>
            <a:pPr lvl="1"/>
            <a:r>
              <a:rPr lang="en-US" dirty="0"/>
              <a:t>  Training set   = 5,184 spectra (used to fit the model)</a:t>
            </a:r>
          </a:p>
          <a:p>
            <a:pPr lvl="1"/>
            <a:r>
              <a:rPr lang="en-US" dirty="0"/>
              <a:t>  Test set       = 1,296 spectra (used to evaluate)</a:t>
            </a:r>
          </a:p>
          <a:p>
            <a:endParaRPr lang="en-US" dirty="0"/>
          </a:p>
          <a:p>
            <a:r>
              <a:rPr lang="en-US" dirty="0"/>
              <a:t>LOCOCV:</a:t>
            </a:r>
          </a:p>
          <a:p>
            <a:pPr lvl="1"/>
            <a:r>
              <a:rPr lang="en-US" dirty="0"/>
              <a:t>  Hold out all 324 spectra from one cultivar</a:t>
            </a:r>
          </a:p>
          <a:p>
            <a:pPr lvl="1"/>
            <a:r>
              <a:rPr lang="en-US" dirty="0"/>
              <a:t>  Train on remaining 19 cultivars</a:t>
            </a:r>
          </a:p>
          <a:p>
            <a:pPr lvl="1"/>
            <a:r>
              <a:rPr lang="en-US" dirty="0"/>
              <a:t>  Predict held-out cultivar</a:t>
            </a:r>
          </a:p>
          <a:p>
            <a:pPr lvl="1"/>
            <a:r>
              <a:rPr lang="en-US" dirty="0"/>
              <a:t>  Repeat 20 times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D8C66-8D0F-3C0E-DDEB-F09120CB8308}"/>
              </a:ext>
            </a:extLst>
          </p:cNvPr>
          <p:cNvSpPr/>
          <p:nvPr/>
        </p:nvSpPr>
        <p:spPr>
          <a:xfrm>
            <a:off x="677333" y="5329705"/>
            <a:ext cx="8098971" cy="12017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 err="1"/>
              <a:t>plsr</a:t>
            </a:r>
            <a:r>
              <a:rPr lang="fr-FR" dirty="0"/>
              <a:t> = </a:t>
            </a:r>
            <a:r>
              <a:rPr lang="fr-FR" dirty="0" err="1"/>
              <a:t>PLSRegression</a:t>
            </a:r>
            <a:r>
              <a:rPr lang="fr-FR" dirty="0"/>
              <a:t>(</a:t>
            </a:r>
            <a:r>
              <a:rPr lang="fr-FR" dirty="0" err="1"/>
              <a:t>n_components</a:t>
            </a:r>
            <a:r>
              <a:rPr lang="fr-FR" dirty="0"/>
              <a:t>=18)</a:t>
            </a:r>
          </a:p>
          <a:p>
            <a:r>
              <a:rPr lang="fr-FR" dirty="0" err="1"/>
              <a:t>plsr.fit</a:t>
            </a:r>
            <a:r>
              <a:rPr lang="fr-FR" dirty="0"/>
              <a:t>(</a:t>
            </a:r>
            <a:r>
              <a:rPr lang="fr-FR" dirty="0" err="1"/>
              <a:t>X_train</a:t>
            </a:r>
            <a:r>
              <a:rPr lang="fr-FR" dirty="0"/>
              <a:t>, </a:t>
            </a:r>
            <a:r>
              <a:rPr lang="fr-FR" dirty="0" err="1"/>
              <a:t>y_train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en-CA" dirty="0"/>
              <a:t># The model finds 18 latent components that best explain cysteine variation</a:t>
            </a:r>
          </a:p>
        </p:txBody>
      </p:sp>
    </p:spTree>
    <p:extLst>
      <p:ext uri="{BB962C8B-B14F-4D97-AF65-F5344CB8AC3E}">
        <p14:creationId xmlns:p14="http://schemas.microsoft.com/office/powerpoint/2010/main" val="3699092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C223-C24F-8726-3939-D7F32A33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by Step in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29ADC-C4B2-8337-D883-C75782DAC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9514"/>
            <a:ext cx="8596668" cy="3880773"/>
          </a:xfrm>
        </p:spPr>
        <p:txBody>
          <a:bodyPr/>
          <a:lstStyle/>
          <a:p>
            <a:r>
              <a:rPr lang="en-CA" dirty="0"/>
              <a:t>Predict and Evaluate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A9EF6-F32A-7A67-6E28-56E18AC0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12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374971-48F9-8FE0-28D9-F2061365B370}"/>
              </a:ext>
            </a:extLst>
          </p:cNvPr>
          <p:cNvSpPr/>
          <p:nvPr/>
        </p:nvSpPr>
        <p:spPr>
          <a:xfrm>
            <a:off x="677334" y="2385680"/>
            <a:ext cx="9067557" cy="1384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plsr.predict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r>
              <a:rPr lang="en-US" dirty="0"/>
              <a:t>RMSE = average prediction error in g/100g</a:t>
            </a:r>
          </a:p>
          <a:p>
            <a:r>
              <a:rPr lang="en-US" dirty="0"/>
              <a:t>R²  = how much variance the model explains (1.0 = perfect)</a:t>
            </a:r>
          </a:p>
          <a:p>
            <a:r>
              <a:rPr lang="en-US" dirty="0"/>
              <a:t>RPD = std of y / RMSE  (&gt; 2.0 = acceptable, &gt; 3.0 = good)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9110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A20E-52DF-2EBE-5998-EA0DAA07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C7D4-C046-80D8-B974-8D3C82DE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E660-F738-CCBF-7479-58FF33309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600450"/>
            <a:ext cx="8596668" cy="2184400"/>
          </a:xfrm>
        </p:spPr>
        <p:txBody>
          <a:bodyPr>
            <a:normAutofit fontScale="92500" lnSpcReduction="20000"/>
          </a:bodyPr>
          <a:lstStyle/>
          <a:p>
            <a:r>
              <a:rPr lang="en-CA" sz="2000" b="1" dirty="0"/>
              <a:t>Step 1 — </a:t>
            </a:r>
            <a:r>
              <a:rPr lang="en-CA" sz="2000" b="1" dirty="0" err="1"/>
              <a:t>Savitzky</a:t>
            </a:r>
            <a:r>
              <a:rPr lang="en-CA" sz="2000" b="1" dirty="0"/>
              <a:t>-Golay Smoothing (applied to all)</a:t>
            </a:r>
            <a:r>
              <a:rPr lang="en-CA" sz="2000" dirty="0"/>
              <a:t> Reduces high-frequency noise while preserving peak shape. </a:t>
            </a:r>
          </a:p>
          <a:p>
            <a:pPr lvl="1"/>
            <a:r>
              <a:rPr lang="en-CA" sz="1800" dirty="0"/>
              <a:t>Window = 11, polynomial order = 3.</a:t>
            </a:r>
          </a:p>
          <a:p>
            <a:r>
              <a:rPr lang="en-CA" sz="2000" b="1" dirty="0"/>
              <a:t>Step 2 — Normalisation/Correction (varied)</a:t>
            </a:r>
          </a:p>
          <a:p>
            <a:r>
              <a:rPr lang="en-CA" sz="2000" b="1" dirty="0"/>
              <a:t>Eight combinations tested</a:t>
            </a:r>
            <a:r>
              <a:rPr lang="en-CA" sz="2000" dirty="0"/>
              <a:t>: SG + SNV, SG + MSC, SG + 1st Derivative, SG + 2nd Derivative, SG + SNV + 1st Der, SG + SNV + 2nd Der, SG + MSC + 1st Der and SG + MSC + 2nd Der</a:t>
            </a:r>
          </a:p>
          <a:p>
            <a:endParaRPr lang="en-CA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13F40-EDBD-7CF5-9C7E-D9C7E7AF15F5}"/>
              </a:ext>
            </a:extLst>
          </p:cNvPr>
          <p:cNvSpPr/>
          <p:nvPr/>
        </p:nvSpPr>
        <p:spPr>
          <a:xfrm>
            <a:off x="680336" y="1562100"/>
            <a:ext cx="1316566" cy="120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Raw Spectrum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D73DE-AC74-1DC4-8E61-B7523FD285C4}"/>
              </a:ext>
            </a:extLst>
          </p:cNvPr>
          <p:cNvSpPr/>
          <p:nvPr/>
        </p:nvSpPr>
        <p:spPr>
          <a:xfrm>
            <a:off x="6503284" y="1562100"/>
            <a:ext cx="1316567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PLSR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9FC64-5CEC-8946-B484-CC4C5D84D8A0}"/>
              </a:ext>
            </a:extLst>
          </p:cNvPr>
          <p:cNvSpPr/>
          <p:nvPr/>
        </p:nvSpPr>
        <p:spPr>
          <a:xfrm>
            <a:off x="4528435" y="1562100"/>
            <a:ext cx="1316567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SNV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2E566-AB5A-6B6F-1BDE-8FA6E0950E30}"/>
              </a:ext>
            </a:extLst>
          </p:cNvPr>
          <p:cNvSpPr/>
          <p:nvPr/>
        </p:nvSpPr>
        <p:spPr>
          <a:xfrm>
            <a:off x="2553587" y="1562100"/>
            <a:ext cx="1316566" cy="120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SG Smoothing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EE415-2959-44E8-1984-6AF469D6190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996902" y="2165350"/>
            <a:ext cx="556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951281-888F-7C4D-8E27-139AAA1A74F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3870153" y="2152650"/>
            <a:ext cx="658282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E79CA4-EE32-B88D-3894-C575550B7FD4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5845002" y="2152650"/>
            <a:ext cx="658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38031E7-1E66-705C-70A4-3CBF5C499C58}"/>
              </a:ext>
            </a:extLst>
          </p:cNvPr>
          <p:cNvSpPr/>
          <p:nvPr/>
        </p:nvSpPr>
        <p:spPr>
          <a:xfrm>
            <a:off x="8376536" y="1562100"/>
            <a:ext cx="1316566" cy="120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Prediction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018F42-51F6-18BD-933A-60C734FD27E8}"/>
              </a:ext>
            </a:extLst>
          </p:cNvPr>
          <p:cNvCxnSpPr>
            <a:cxnSpLocks/>
            <a:stCxn id="5" idx="3"/>
            <a:endCxn id="34" idx="1"/>
          </p:cNvCxnSpPr>
          <p:nvPr/>
        </p:nvCxnSpPr>
        <p:spPr>
          <a:xfrm>
            <a:off x="7819851" y="2152650"/>
            <a:ext cx="556685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58929056-CEE8-B4C0-B90F-50535974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169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9BCE-B1C6-A8FD-67C6-59D3BE9C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CAD4-1A2A-C76E-BFB0-D2C00255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Preprocessing Optimization Results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18A527-1401-C7C2-794E-5C394F101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42028"/>
            <a:ext cx="10644808" cy="39739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AA58610-9AB3-09CD-623F-25C32E89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7614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86005C-9594-1307-7111-9781C1CEB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325719"/>
              </p:ext>
            </p:extLst>
          </p:nvPr>
        </p:nvGraphicFramePr>
        <p:xfrm>
          <a:off x="407699" y="165533"/>
          <a:ext cx="11105424" cy="659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178">
                  <a:extLst>
                    <a:ext uri="{9D8B030D-6E8A-4147-A177-3AD203B41FA5}">
                      <a16:colId xmlns:a16="http://schemas.microsoft.com/office/drawing/2014/main" val="2142075526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839522891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2760179476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3535534354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2330528416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2380479782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1351984225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605043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Preprocessing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Best 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LOCO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RPD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6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-0.6481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0.7790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6616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-1.0547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0.6976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422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0.2811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1.1794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-1.0987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0.6903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90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0.2730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1.1729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-0.8413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0.7369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1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0.4470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-0.7433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0.7574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52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0.3989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1.2898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-0.7762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0.7503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415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-1.0876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0.6921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85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0.3832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1.2733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-0.8643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0.7324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72752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4FD9-10F5-E739-89F6-36EFA18F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5325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6FF2-BFB7-20AC-476C-A2761E10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7A6A-5FB3-68B7-1B2E-30A19320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0946"/>
            <a:ext cx="8596668" cy="1320800"/>
          </a:xfrm>
        </p:spPr>
        <p:txBody>
          <a:bodyPr>
            <a:normAutofit/>
          </a:bodyPr>
          <a:lstStyle/>
          <a:p>
            <a:r>
              <a:rPr lang="en-CA" dirty="0"/>
              <a:t>PLSR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E34F421-F09E-2C22-0A64-D3600BCCC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171424"/>
              </p:ext>
            </p:extLst>
          </p:nvPr>
        </p:nvGraphicFramePr>
        <p:xfrm>
          <a:off x="677334" y="5132388"/>
          <a:ext cx="85963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1621176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78163621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159423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80/20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LOCOCV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04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0.0211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15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0.4476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-0.6481</a:t>
                      </a: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15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1.3455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0.7790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84899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E79FF1D-8730-086D-E392-137B8ED2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130660"/>
            <a:ext cx="8277496" cy="352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CE3E-7948-B5A1-7B09-1E880E4F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141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A251-FDCA-EFD8-3F26-B91A2395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79FE-E175-763A-A7BE-E08745E1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70" y="624840"/>
            <a:ext cx="10170775" cy="1320800"/>
          </a:xfrm>
        </p:spPr>
        <p:txBody>
          <a:bodyPr>
            <a:normAutofit/>
          </a:bodyPr>
          <a:lstStyle/>
          <a:p>
            <a:r>
              <a:rPr lang="en-CA" dirty="0"/>
              <a:t>80/20 vs LOCOCV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5FB9FF0-F564-8297-4E93-2D7BCF078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135142"/>
              </p:ext>
            </p:extLst>
          </p:nvPr>
        </p:nvGraphicFramePr>
        <p:xfrm>
          <a:off x="885681" y="1814224"/>
          <a:ext cx="8596312" cy="2994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257935700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403864352"/>
                    </a:ext>
                  </a:extLst>
                </a:gridCol>
              </a:tblGrid>
              <a:tr h="638031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80/20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LOCOCV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028352"/>
                  </a:ext>
                </a:extLst>
              </a:tr>
              <a:tr h="235633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Model sees all cultivars during training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CA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Artificially inflated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Model tested on completely unseen cultivar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CA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Exposes true generalisation ability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CA" dirty="0"/>
                        <a:t>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PLSR predicts global mean (~0.34) for every unseen cultivar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681411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E24F6A-52A1-354C-09A1-1335E095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5153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310D-4331-17C3-38C9-F743F22F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D293-DD5C-E896-1B19-E4F2AFBA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70" y="624840"/>
            <a:ext cx="10170775" cy="1320800"/>
          </a:xfrm>
        </p:spPr>
        <p:txBody>
          <a:bodyPr>
            <a:normAutofit/>
          </a:bodyPr>
          <a:lstStyle/>
          <a:p>
            <a:r>
              <a:rPr lang="en-CA" dirty="0"/>
              <a:t>Derived vs Published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1E9E55-3771-7611-16F0-79EAE7B71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431075"/>
              </p:ext>
            </p:extLst>
          </p:nvPr>
        </p:nvGraphicFramePr>
        <p:xfrm>
          <a:off x="677863" y="2160588"/>
          <a:ext cx="85963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184741729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9264305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5152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40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10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137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63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7554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F9E1E4-1C53-F1AB-FCCD-9FBA0D8D0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982531"/>
              </p:ext>
            </p:extLst>
          </p:nvPr>
        </p:nvGraphicFramePr>
        <p:xfrm>
          <a:off x="677863" y="2160588"/>
          <a:ext cx="8596311" cy="182880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68904052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41150154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162255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Research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Derived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31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ModPoly + Min-Max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50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59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648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Within-cultivar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0.626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0.4476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486982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C6D359-0CCE-D043-A4BB-CAED0B8B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344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E8E1-D4E6-9B07-0404-C6D39B33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1238-A6A8-458A-2C37-37B4CD72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EFC1D-39FB-C0BA-E922-82941979F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7452"/>
            <a:ext cx="8596668" cy="3880773"/>
          </a:xfrm>
        </p:spPr>
        <p:txBody>
          <a:bodyPr>
            <a:normAutofit/>
          </a:bodyPr>
          <a:lstStyle/>
          <a:p>
            <a:r>
              <a:rPr lang="en-CA" sz="2000" dirty="0"/>
              <a:t>Best preprocessing: SG + SNV outperformed all 8 combinations on both validation strategies</a:t>
            </a:r>
          </a:p>
          <a:p>
            <a:r>
              <a:rPr lang="en-CA" sz="2000" dirty="0"/>
              <a:t>PLSR baseline: Moderate performance on 80/20 (R²=0.45) but poor generalisation under LOCO (R²=-0.65)</a:t>
            </a:r>
          </a:p>
          <a:p>
            <a:r>
              <a:rPr lang="en-CA" sz="2000" b="1" dirty="0"/>
              <a:t>Key challenge</a:t>
            </a:r>
            <a:r>
              <a:rPr lang="en-CA" sz="2000" dirty="0"/>
              <a:t>: Narrow cysteine range (0.061 g/100g) and high within-cultivar variability limit PLSR generalisation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B2FF-B81B-9A9D-0D2E-3699DADB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23841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970</TotalTime>
  <Words>2407</Words>
  <Application>Microsoft Office PowerPoint</Application>
  <PresentationFormat>Widescreen</PresentationFormat>
  <Paragraphs>328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Trebuchet MS</vt:lpstr>
      <vt:lpstr>Wingdings</vt:lpstr>
      <vt:lpstr>Wingdings 3</vt:lpstr>
      <vt:lpstr>Facet</vt:lpstr>
      <vt:lpstr>Cysteine Prediction in Pea Cultivars Using Raman Spectroscopy and Machine Learning Week-2 Revised</vt:lpstr>
      <vt:lpstr>What We Did This Week?</vt:lpstr>
      <vt:lpstr>Literature Review Summary</vt:lpstr>
      <vt:lpstr>Literature Review Summary</vt:lpstr>
      <vt:lpstr>Literature Review Summary</vt:lpstr>
      <vt:lpstr>Dataset Overview - Updated</vt:lpstr>
      <vt:lpstr>PLSR – Partial Least Squares Regression </vt:lpstr>
      <vt:lpstr>How does it works?</vt:lpstr>
      <vt:lpstr>How it Works?</vt:lpstr>
      <vt:lpstr>Step by Step in Coding</vt:lpstr>
      <vt:lpstr>Step by Step in Coding</vt:lpstr>
      <vt:lpstr>Step by Step in Coding</vt:lpstr>
      <vt:lpstr>Preprocessing Pipeline</vt:lpstr>
      <vt:lpstr>Preprocessing Optimization Results</vt:lpstr>
      <vt:lpstr>PowerPoint Presentation</vt:lpstr>
      <vt:lpstr>PLSR Results</vt:lpstr>
      <vt:lpstr>80/20 vs LOCOCV</vt:lpstr>
      <vt:lpstr>Derived vs Published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Mittal</dc:creator>
  <cp:lastModifiedBy>Priyanshu Mittal</cp:lastModifiedBy>
  <cp:revision>3</cp:revision>
  <dcterms:created xsi:type="dcterms:W3CDTF">2026-06-16T22:09:36Z</dcterms:created>
  <dcterms:modified xsi:type="dcterms:W3CDTF">2026-06-24T12:00:50Z</dcterms:modified>
</cp:coreProperties>
</file>