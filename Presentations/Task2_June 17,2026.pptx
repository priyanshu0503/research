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7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57692" autoAdjust="0"/>
  </p:normalViewPr>
  <p:slideViewPr>
    <p:cSldViewPr snapToGrid="0">
      <p:cViewPr>
        <p:scale>
          <a:sx n="50" d="100"/>
          <a:sy n="50" d="100"/>
        </p:scale>
        <p:origin x="-360" y="-21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shu Mittal" userId="632a3c7993d7014f" providerId="LiveId" clId="{CB0A0732-E392-4B4C-BFBA-BEC5906584FE}"/>
    <pc:docChg chg="modSld">
      <pc:chgData name="Priyanshu Mittal" userId="632a3c7993d7014f" providerId="LiveId" clId="{CB0A0732-E392-4B4C-BFBA-BEC5906584FE}" dt="2026-06-17T06:42:22.222" v="0" actId="20577"/>
      <pc:docMkLst>
        <pc:docMk/>
      </pc:docMkLst>
      <pc:sldChg chg="modSp mod">
        <pc:chgData name="Priyanshu Mittal" userId="632a3c7993d7014f" providerId="LiveId" clId="{CB0A0732-E392-4B4C-BFBA-BEC5906584FE}" dt="2026-06-17T06:42:22.222" v="0" actId="20577"/>
        <pc:sldMkLst>
          <pc:docMk/>
          <pc:sldMk cId="1983440033" sldId="266"/>
        </pc:sldMkLst>
        <pc:graphicFrameChg chg="modGraphic">
          <ac:chgData name="Priyanshu Mittal" userId="632a3c7993d7014f" providerId="LiveId" clId="{CB0A0732-E392-4B4C-BFBA-BEC5906584FE}" dt="2026-06-17T06:42:22.222" v="0" actId="20577"/>
          <ac:graphicFrameMkLst>
            <pc:docMk/>
            <pc:sldMk cId="1983440033" sldId="266"/>
            <ac:graphicFrameMk id="6" creationId="{0AF9E1E4-1C53-F1AB-FCCD-9FBA0D8D0277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F8E323-6499-4832-BF30-C05A622F82C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A8A6EABF-F821-48E9-99B9-94DB764F9CB2}">
      <dgm:prSet phldrT="[Text]" phldr="0"/>
      <dgm:spPr/>
      <dgm:t>
        <a:bodyPr/>
        <a:lstStyle/>
        <a:p>
          <a:r>
            <a:rPr lang="en-CA" dirty="0"/>
            <a:t>Raw Spectrum</a:t>
          </a:r>
        </a:p>
      </dgm:t>
    </dgm:pt>
    <dgm:pt modelId="{3675CD7C-8DAD-4F86-B7C9-6C602D341328}" type="parTrans" cxnId="{42B60B53-60D5-4E0F-8006-DB993BEEB410}">
      <dgm:prSet/>
      <dgm:spPr/>
      <dgm:t>
        <a:bodyPr/>
        <a:lstStyle/>
        <a:p>
          <a:endParaRPr lang="en-CA"/>
        </a:p>
      </dgm:t>
    </dgm:pt>
    <dgm:pt modelId="{8194B7C9-AD2D-4E94-9467-43EA0FBBD683}" type="sibTrans" cxnId="{42B60B53-60D5-4E0F-8006-DB993BEEB410}">
      <dgm:prSet phldrT="1" phldr="0"/>
      <dgm:spPr/>
      <dgm:t>
        <a:bodyPr/>
        <a:lstStyle/>
        <a:p>
          <a:r>
            <a:t>1</a:t>
          </a:r>
        </a:p>
      </dgm:t>
    </dgm:pt>
    <dgm:pt modelId="{15B5C36B-A1E5-401D-BD8D-85882CCF866D}">
      <dgm:prSet phldrT="[Text]" phldr="0"/>
      <dgm:spPr/>
      <dgm:t>
        <a:bodyPr/>
        <a:lstStyle/>
        <a:p>
          <a:r>
            <a:rPr lang="en-CA"/>
            <a:t>PLSR</a:t>
          </a:r>
        </a:p>
      </dgm:t>
    </dgm:pt>
    <dgm:pt modelId="{5FBB1C55-533E-4F1F-B01A-6EB862FD4CDC}" type="parTrans" cxnId="{C7BBCE4E-7447-4C59-A9C2-8B066AAB3842}">
      <dgm:prSet/>
      <dgm:spPr/>
      <dgm:t>
        <a:bodyPr/>
        <a:lstStyle/>
        <a:p>
          <a:endParaRPr lang="en-CA"/>
        </a:p>
      </dgm:t>
    </dgm:pt>
    <dgm:pt modelId="{A33261B6-40C6-4193-A3FA-619B87D6BB0C}" type="sibTrans" cxnId="{C7BBCE4E-7447-4C59-A9C2-8B066AAB3842}">
      <dgm:prSet phldrT="2" phldr="0"/>
      <dgm:spPr/>
      <dgm:t>
        <a:bodyPr/>
        <a:lstStyle/>
        <a:p>
          <a:r>
            <a:rPr lang="en-CA"/>
            <a:t>2</a:t>
          </a:r>
        </a:p>
      </dgm:t>
    </dgm:pt>
    <dgm:pt modelId="{464F2922-D925-4C9A-B7F4-12BA27B928CC}">
      <dgm:prSet phldrT="[Text]" phldr="0"/>
      <dgm:spPr/>
      <dgm:t>
        <a:bodyPr/>
        <a:lstStyle/>
        <a:p>
          <a:r>
            <a:rPr lang="en-CA"/>
            <a:t>18 Components</a:t>
          </a:r>
        </a:p>
      </dgm:t>
    </dgm:pt>
    <dgm:pt modelId="{80A1EBEF-F19C-4B79-9C4A-A3E28A83C35C}" type="parTrans" cxnId="{5F033209-402B-496D-A26C-D27F5521BCC4}">
      <dgm:prSet/>
      <dgm:spPr/>
      <dgm:t>
        <a:bodyPr/>
        <a:lstStyle/>
        <a:p>
          <a:endParaRPr lang="en-CA"/>
        </a:p>
      </dgm:t>
    </dgm:pt>
    <dgm:pt modelId="{594E05AF-34A6-46DA-9551-10B19D8B6FA7}" type="sibTrans" cxnId="{5F033209-402B-496D-A26C-D27F5521BCC4}">
      <dgm:prSet phldrT="3" phldr="0"/>
      <dgm:spPr/>
      <dgm:t>
        <a:bodyPr/>
        <a:lstStyle/>
        <a:p>
          <a:r>
            <a:rPr lang="en-CA" dirty="0"/>
            <a:t>3</a:t>
          </a:r>
        </a:p>
      </dgm:t>
    </dgm:pt>
    <dgm:pt modelId="{C5F067F6-C76E-4605-BBFA-9A53AC6B2ED4}">
      <dgm:prSet phldrT="[Text]" phldr="0"/>
      <dgm:spPr/>
      <dgm:t>
        <a:bodyPr/>
        <a:lstStyle/>
        <a:p>
          <a:r>
            <a:rPr lang="en-CA" dirty="0"/>
            <a:t>Cysteine Prediction</a:t>
          </a:r>
        </a:p>
      </dgm:t>
    </dgm:pt>
    <dgm:pt modelId="{DD33AFE6-DF27-4D13-96FA-A94C30A8C41F}" type="parTrans" cxnId="{EB6A2F84-05B7-4530-9E33-3BD5D29E104D}">
      <dgm:prSet/>
      <dgm:spPr/>
      <dgm:t>
        <a:bodyPr/>
        <a:lstStyle/>
        <a:p>
          <a:endParaRPr lang="en-CA"/>
        </a:p>
      </dgm:t>
    </dgm:pt>
    <dgm:pt modelId="{211168DA-75AC-46F5-89B5-31C0289BA39F}" type="sibTrans" cxnId="{EB6A2F84-05B7-4530-9E33-3BD5D29E104D}">
      <dgm:prSet phldrT="4" phldr="0"/>
      <dgm:spPr/>
    </dgm:pt>
    <dgm:pt modelId="{BAC73927-DA0E-4989-BCE1-9ECEB65A1C1D}" type="pres">
      <dgm:prSet presAssocID="{5EF8E323-6499-4832-BF30-C05A622F82C7}" presName="Name0" presStyleCnt="0">
        <dgm:presLayoutVars>
          <dgm:dir/>
          <dgm:resizeHandles val="exact"/>
        </dgm:presLayoutVars>
      </dgm:prSet>
      <dgm:spPr/>
    </dgm:pt>
    <dgm:pt modelId="{D5CCA708-0453-43B7-ABD2-10CF86A2AD00}" type="pres">
      <dgm:prSet presAssocID="{A8A6EABF-F821-48E9-99B9-94DB764F9CB2}" presName="node" presStyleLbl="node1" presStyleIdx="0" presStyleCnt="4">
        <dgm:presLayoutVars>
          <dgm:bulletEnabled val="1"/>
        </dgm:presLayoutVars>
      </dgm:prSet>
      <dgm:spPr/>
    </dgm:pt>
    <dgm:pt modelId="{0D37EBBA-3216-48C1-8C88-D8651006E689}" type="pres">
      <dgm:prSet presAssocID="{8194B7C9-AD2D-4E94-9467-43EA0FBBD683}" presName="sibTrans" presStyleLbl="sibTrans2D1" presStyleIdx="0" presStyleCnt="3"/>
      <dgm:spPr/>
    </dgm:pt>
    <dgm:pt modelId="{B6AC1BB9-F1A0-40DE-8FF6-CD22677FA5AA}" type="pres">
      <dgm:prSet presAssocID="{8194B7C9-AD2D-4E94-9467-43EA0FBBD683}" presName="connectorText" presStyleLbl="sibTrans2D1" presStyleIdx="0" presStyleCnt="3"/>
      <dgm:spPr/>
    </dgm:pt>
    <dgm:pt modelId="{77C7033C-4EA9-46E6-98E8-F7906FE2DA60}" type="pres">
      <dgm:prSet presAssocID="{15B5C36B-A1E5-401D-BD8D-85882CCF866D}" presName="node" presStyleLbl="node1" presStyleIdx="1" presStyleCnt="4">
        <dgm:presLayoutVars>
          <dgm:bulletEnabled val="1"/>
        </dgm:presLayoutVars>
      </dgm:prSet>
      <dgm:spPr/>
    </dgm:pt>
    <dgm:pt modelId="{BB7F0A67-FD3A-4C9A-9836-1F4E806949E8}" type="pres">
      <dgm:prSet presAssocID="{A33261B6-40C6-4193-A3FA-619B87D6BB0C}" presName="sibTrans" presStyleLbl="sibTrans2D1" presStyleIdx="1" presStyleCnt="3"/>
      <dgm:spPr/>
    </dgm:pt>
    <dgm:pt modelId="{80E65B15-DB29-4DFC-8CB2-2658349AE313}" type="pres">
      <dgm:prSet presAssocID="{A33261B6-40C6-4193-A3FA-619B87D6BB0C}" presName="connectorText" presStyleLbl="sibTrans2D1" presStyleIdx="1" presStyleCnt="3"/>
      <dgm:spPr/>
    </dgm:pt>
    <dgm:pt modelId="{A50ADD1C-2880-4673-BAE8-050654CAB137}" type="pres">
      <dgm:prSet presAssocID="{464F2922-D925-4C9A-B7F4-12BA27B928CC}" presName="node" presStyleLbl="node1" presStyleIdx="2" presStyleCnt="4">
        <dgm:presLayoutVars>
          <dgm:bulletEnabled val="1"/>
        </dgm:presLayoutVars>
      </dgm:prSet>
      <dgm:spPr/>
    </dgm:pt>
    <dgm:pt modelId="{EF63E7BB-51B9-4556-8A3E-BD1E222CB6BE}" type="pres">
      <dgm:prSet presAssocID="{594E05AF-34A6-46DA-9551-10B19D8B6FA7}" presName="sibTrans" presStyleLbl="sibTrans2D1" presStyleIdx="2" presStyleCnt="3"/>
      <dgm:spPr/>
    </dgm:pt>
    <dgm:pt modelId="{962AE537-E4D6-4816-9599-567F1C4330F9}" type="pres">
      <dgm:prSet presAssocID="{594E05AF-34A6-46DA-9551-10B19D8B6FA7}" presName="connectorText" presStyleLbl="sibTrans2D1" presStyleIdx="2" presStyleCnt="3"/>
      <dgm:spPr/>
    </dgm:pt>
    <dgm:pt modelId="{A3D23B21-7C22-46D0-ACEB-9B2C7AE3DCB9}" type="pres">
      <dgm:prSet presAssocID="{C5F067F6-C76E-4605-BBFA-9A53AC6B2ED4}" presName="node" presStyleLbl="node1" presStyleIdx="3" presStyleCnt="4">
        <dgm:presLayoutVars>
          <dgm:bulletEnabled val="1"/>
        </dgm:presLayoutVars>
      </dgm:prSet>
      <dgm:spPr/>
    </dgm:pt>
  </dgm:ptLst>
  <dgm:cxnLst>
    <dgm:cxn modelId="{5F033209-402B-496D-A26C-D27F5521BCC4}" srcId="{5EF8E323-6499-4832-BF30-C05A622F82C7}" destId="{464F2922-D925-4C9A-B7F4-12BA27B928CC}" srcOrd="2" destOrd="0" parTransId="{80A1EBEF-F19C-4B79-9C4A-A3E28A83C35C}" sibTransId="{594E05AF-34A6-46DA-9551-10B19D8B6FA7}"/>
    <dgm:cxn modelId="{3D5B335C-7ACA-41E9-8D37-EA59A18B275D}" type="presOf" srcId="{464F2922-D925-4C9A-B7F4-12BA27B928CC}" destId="{A50ADD1C-2880-4673-BAE8-050654CAB137}" srcOrd="0" destOrd="0" presId="urn:microsoft.com/office/officeart/2005/8/layout/process1"/>
    <dgm:cxn modelId="{0AEF3E43-AD8E-4738-A34F-3D119594C1EC}" type="presOf" srcId="{8194B7C9-AD2D-4E94-9467-43EA0FBBD683}" destId="{0D37EBBA-3216-48C1-8C88-D8651006E689}" srcOrd="0" destOrd="0" presId="urn:microsoft.com/office/officeart/2005/8/layout/process1"/>
    <dgm:cxn modelId="{8FBE0867-C206-42D4-8553-3007626E6D0D}" type="presOf" srcId="{594E05AF-34A6-46DA-9551-10B19D8B6FA7}" destId="{962AE537-E4D6-4816-9599-567F1C4330F9}" srcOrd="1" destOrd="0" presId="urn:microsoft.com/office/officeart/2005/8/layout/process1"/>
    <dgm:cxn modelId="{C7BBCE4E-7447-4C59-A9C2-8B066AAB3842}" srcId="{5EF8E323-6499-4832-BF30-C05A622F82C7}" destId="{15B5C36B-A1E5-401D-BD8D-85882CCF866D}" srcOrd="1" destOrd="0" parTransId="{5FBB1C55-533E-4F1F-B01A-6EB862FD4CDC}" sibTransId="{A33261B6-40C6-4193-A3FA-619B87D6BB0C}"/>
    <dgm:cxn modelId="{42B60B53-60D5-4E0F-8006-DB993BEEB410}" srcId="{5EF8E323-6499-4832-BF30-C05A622F82C7}" destId="{A8A6EABF-F821-48E9-99B9-94DB764F9CB2}" srcOrd="0" destOrd="0" parTransId="{3675CD7C-8DAD-4F86-B7C9-6C602D341328}" sibTransId="{8194B7C9-AD2D-4E94-9467-43EA0FBBD683}"/>
    <dgm:cxn modelId="{EB6A2F84-05B7-4530-9E33-3BD5D29E104D}" srcId="{5EF8E323-6499-4832-BF30-C05A622F82C7}" destId="{C5F067F6-C76E-4605-BBFA-9A53AC6B2ED4}" srcOrd="3" destOrd="0" parTransId="{DD33AFE6-DF27-4D13-96FA-A94C30A8C41F}" sibTransId="{211168DA-75AC-46F5-89B5-31C0289BA39F}"/>
    <dgm:cxn modelId="{8D92D588-CC54-49B0-95B2-1578C2564487}" type="presOf" srcId="{8194B7C9-AD2D-4E94-9467-43EA0FBBD683}" destId="{B6AC1BB9-F1A0-40DE-8FF6-CD22677FA5AA}" srcOrd="1" destOrd="0" presId="urn:microsoft.com/office/officeart/2005/8/layout/process1"/>
    <dgm:cxn modelId="{49E38D96-293D-4AD8-95DA-E840244B0F10}" type="presOf" srcId="{15B5C36B-A1E5-401D-BD8D-85882CCF866D}" destId="{77C7033C-4EA9-46E6-98E8-F7906FE2DA60}" srcOrd="0" destOrd="0" presId="urn:microsoft.com/office/officeart/2005/8/layout/process1"/>
    <dgm:cxn modelId="{BED2F5B2-6C49-499A-9A19-5541279F0B99}" type="presOf" srcId="{594E05AF-34A6-46DA-9551-10B19D8B6FA7}" destId="{EF63E7BB-51B9-4556-8A3E-BD1E222CB6BE}" srcOrd="0" destOrd="0" presId="urn:microsoft.com/office/officeart/2005/8/layout/process1"/>
    <dgm:cxn modelId="{FE35B4B7-44ED-47AE-A501-C75A7DF55EDB}" type="presOf" srcId="{C5F067F6-C76E-4605-BBFA-9A53AC6B2ED4}" destId="{A3D23B21-7C22-46D0-ACEB-9B2C7AE3DCB9}" srcOrd="0" destOrd="0" presId="urn:microsoft.com/office/officeart/2005/8/layout/process1"/>
    <dgm:cxn modelId="{51584FCA-BC7A-4942-A9CA-4F7F24C973B3}" type="presOf" srcId="{A33261B6-40C6-4193-A3FA-619B87D6BB0C}" destId="{BB7F0A67-FD3A-4C9A-9836-1F4E806949E8}" srcOrd="0" destOrd="0" presId="urn:microsoft.com/office/officeart/2005/8/layout/process1"/>
    <dgm:cxn modelId="{FED95CF2-DB0A-4E04-99C9-B80D08C8758C}" type="presOf" srcId="{A33261B6-40C6-4193-A3FA-619B87D6BB0C}" destId="{80E65B15-DB29-4DFC-8CB2-2658349AE313}" srcOrd="1" destOrd="0" presId="urn:microsoft.com/office/officeart/2005/8/layout/process1"/>
    <dgm:cxn modelId="{98C570F4-0C2F-4912-BA0C-C7956FCFEEA9}" type="presOf" srcId="{A8A6EABF-F821-48E9-99B9-94DB764F9CB2}" destId="{D5CCA708-0453-43B7-ABD2-10CF86A2AD00}" srcOrd="0" destOrd="0" presId="urn:microsoft.com/office/officeart/2005/8/layout/process1"/>
    <dgm:cxn modelId="{E149F4F5-13DD-4189-8337-87CD4F6C71DF}" type="presOf" srcId="{5EF8E323-6499-4832-BF30-C05A622F82C7}" destId="{BAC73927-DA0E-4989-BCE1-9ECEB65A1C1D}" srcOrd="0" destOrd="0" presId="urn:microsoft.com/office/officeart/2005/8/layout/process1"/>
    <dgm:cxn modelId="{5D3AC98F-8A7E-4CAF-AAA8-490894A60943}" type="presParOf" srcId="{BAC73927-DA0E-4989-BCE1-9ECEB65A1C1D}" destId="{D5CCA708-0453-43B7-ABD2-10CF86A2AD00}" srcOrd="0" destOrd="0" presId="urn:microsoft.com/office/officeart/2005/8/layout/process1"/>
    <dgm:cxn modelId="{2B12F7C8-0D2F-4DA0-9190-26023205E415}" type="presParOf" srcId="{BAC73927-DA0E-4989-BCE1-9ECEB65A1C1D}" destId="{0D37EBBA-3216-48C1-8C88-D8651006E689}" srcOrd="1" destOrd="0" presId="urn:microsoft.com/office/officeart/2005/8/layout/process1"/>
    <dgm:cxn modelId="{2FAE1663-2583-446E-ACC1-4A574713566C}" type="presParOf" srcId="{0D37EBBA-3216-48C1-8C88-D8651006E689}" destId="{B6AC1BB9-F1A0-40DE-8FF6-CD22677FA5AA}" srcOrd="0" destOrd="0" presId="urn:microsoft.com/office/officeart/2005/8/layout/process1"/>
    <dgm:cxn modelId="{18123044-5424-4515-B2CF-EC2ED7AB4069}" type="presParOf" srcId="{BAC73927-DA0E-4989-BCE1-9ECEB65A1C1D}" destId="{77C7033C-4EA9-46E6-98E8-F7906FE2DA60}" srcOrd="2" destOrd="0" presId="urn:microsoft.com/office/officeart/2005/8/layout/process1"/>
    <dgm:cxn modelId="{57EC5EA2-020B-4B35-9F4F-DD931A29EF97}" type="presParOf" srcId="{BAC73927-DA0E-4989-BCE1-9ECEB65A1C1D}" destId="{BB7F0A67-FD3A-4C9A-9836-1F4E806949E8}" srcOrd="3" destOrd="0" presId="urn:microsoft.com/office/officeart/2005/8/layout/process1"/>
    <dgm:cxn modelId="{03E99C6D-7A95-42AE-A2C9-B04EBBB231D0}" type="presParOf" srcId="{BB7F0A67-FD3A-4C9A-9836-1F4E806949E8}" destId="{80E65B15-DB29-4DFC-8CB2-2658349AE313}" srcOrd="0" destOrd="0" presId="urn:microsoft.com/office/officeart/2005/8/layout/process1"/>
    <dgm:cxn modelId="{8F99F15B-F4C7-4FAC-9E23-9E14B040AAE0}" type="presParOf" srcId="{BAC73927-DA0E-4989-BCE1-9ECEB65A1C1D}" destId="{A50ADD1C-2880-4673-BAE8-050654CAB137}" srcOrd="4" destOrd="0" presId="urn:microsoft.com/office/officeart/2005/8/layout/process1"/>
    <dgm:cxn modelId="{5F94E69C-7171-46A5-BC8E-D027FAB7552E}" type="presParOf" srcId="{BAC73927-DA0E-4989-BCE1-9ECEB65A1C1D}" destId="{EF63E7BB-51B9-4556-8A3E-BD1E222CB6BE}" srcOrd="5" destOrd="0" presId="urn:microsoft.com/office/officeart/2005/8/layout/process1"/>
    <dgm:cxn modelId="{7E6DC29F-9ADC-44B9-AC67-FF6564A77DF0}" type="presParOf" srcId="{EF63E7BB-51B9-4556-8A3E-BD1E222CB6BE}" destId="{962AE537-E4D6-4816-9599-567F1C4330F9}" srcOrd="0" destOrd="0" presId="urn:microsoft.com/office/officeart/2005/8/layout/process1"/>
    <dgm:cxn modelId="{F19E7BFF-E9D8-4680-AFFF-81E0F4FA8CF8}" type="presParOf" srcId="{BAC73927-DA0E-4989-BCE1-9ECEB65A1C1D}" destId="{A3D23B21-7C22-46D0-ACEB-9B2C7AE3DCB9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CCA708-0453-43B7-ABD2-10CF86A2AD00}">
      <dsp:nvSpPr>
        <dsp:cNvPr id="0" name=""/>
        <dsp:cNvSpPr/>
      </dsp:nvSpPr>
      <dsp:spPr>
        <a:xfrm>
          <a:off x="3571" y="1268085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 dirty="0"/>
            <a:t>Raw Spectrum</a:t>
          </a:r>
        </a:p>
      </dsp:txBody>
      <dsp:txXfrm>
        <a:off x="31015" y="1295529"/>
        <a:ext cx="1506815" cy="882133"/>
      </dsp:txXfrm>
    </dsp:sp>
    <dsp:sp modelId="{0D37EBBA-3216-48C1-8C88-D8651006E689}">
      <dsp:nvSpPr>
        <dsp:cNvPr id="0" name=""/>
        <dsp:cNvSpPr/>
      </dsp:nvSpPr>
      <dsp:spPr>
        <a:xfrm>
          <a:off x="1721445" y="1542945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1600" kern="1200"/>
            <a:t>1</a:t>
          </a:r>
        </a:p>
      </dsp:txBody>
      <dsp:txXfrm>
        <a:off x="1721445" y="1620405"/>
        <a:ext cx="231757" cy="232382"/>
      </dsp:txXfrm>
    </dsp:sp>
    <dsp:sp modelId="{77C7033C-4EA9-46E6-98E8-F7906FE2DA60}">
      <dsp:nvSpPr>
        <dsp:cNvPr id="0" name=""/>
        <dsp:cNvSpPr/>
      </dsp:nvSpPr>
      <dsp:spPr>
        <a:xfrm>
          <a:off x="2189956" y="1268085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PLSR</a:t>
          </a:r>
        </a:p>
      </dsp:txBody>
      <dsp:txXfrm>
        <a:off x="2217400" y="1295529"/>
        <a:ext cx="1506815" cy="882133"/>
      </dsp:txXfrm>
    </dsp:sp>
    <dsp:sp modelId="{BB7F0A67-FD3A-4C9A-9836-1F4E806949E8}">
      <dsp:nvSpPr>
        <dsp:cNvPr id="0" name=""/>
        <dsp:cNvSpPr/>
      </dsp:nvSpPr>
      <dsp:spPr>
        <a:xfrm>
          <a:off x="3907829" y="1542945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2</a:t>
          </a:r>
        </a:p>
      </dsp:txBody>
      <dsp:txXfrm>
        <a:off x="3907829" y="1620405"/>
        <a:ext cx="231757" cy="232382"/>
      </dsp:txXfrm>
    </dsp:sp>
    <dsp:sp modelId="{A50ADD1C-2880-4673-BAE8-050654CAB137}">
      <dsp:nvSpPr>
        <dsp:cNvPr id="0" name=""/>
        <dsp:cNvSpPr/>
      </dsp:nvSpPr>
      <dsp:spPr>
        <a:xfrm>
          <a:off x="4376340" y="1268085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18 Components</a:t>
          </a:r>
        </a:p>
      </dsp:txBody>
      <dsp:txXfrm>
        <a:off x="4403784" y="1295529"/>
        <a:ext cx="1506815" cy="882133"/>
      </dsp:txXfrm>
    </dsp:sp>
    <dsp:sp modelId="{EF63E7BB-51B9-4556-8A3E-BD1E222CB6BE}">
      <dsp:nvSpPr>
        <dsp:cNvPr id="0" name=""/>
        <dsp:cNvSpPr/>
      </dsp:nvSpPr>
      <dsp:spPr>
        <a:xfrm>
          <a:off x="6094214" y="1542945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 dirty="0"/>
            <a:t>3</a:t>
          </a:r>
        </a:p>
      </dsp:txBody>
      <dsp:txXfrm>
        <a:off x="6094214" y="1620405"/>
        <a:ext cx="231757" cy="232382"/>
      </dsp:txXfrm>
    </dsp:sp>
    <dsp:sp modelId="{A3D23B21-7C22-46D0-ACEB-9B2C7AE3DCB9}">
      <dsp:nvSpPr>
        <dsp:cNvPr id="0" name=""/>
        <dsp:cNvSpPr/>
      </dsp:nvSpPr>
      <dsp:spPr>
        <a:xfrm>
          <a:off x="6562724" y="1268085"/>
          <a:ext cx="1561703" cy="937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 dirty="0"/>
            <a:t>Cysteine Prediction</a:t>
          </a:r>
        </a:p>
      </dsp:txBody>
      <dsp:txXfrm>
        <a:off x="6590168" y="1295529"/>
        <a:ext cx="1506815" cy="8821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702D87-02D2-413B-A7B9-EE0BCE5FBE23}" type="datetimeFigureOut">
              <a:rPr lang="en-CA" smtClean="0"/>
              <a:t>2026-06-17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D914C1-A975-4A39-ACC0-F5BC321E7C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7573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CA" b="1" dirty="0"/>
              <a:t>Preprocessing ensembles</a:t>
            </a:r>
            <a:r>
              <a:rPr lang="en-CA" dirty="0"/>
              <a:t> combining multiple preprocessing methods (SNV + MSC + derivatives) into one fused matrix extracts complementary information no single method captures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CA" b="1" dirty="0"/>
              <a:t>Autoencoder + regression</a:t>
            </a:r>
            <a:r>
              <a:rPr lang="en-CA" dirty="0"/>
              <a:t> unsupervised spectral feature extraction followed by regression, handles small datasets better than end-to-end supervised models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CA" b="1" dirty="0"/>
              <a:t>Transfer Learning</a:t>
            </a:r>
            <a:r>
              <a:rPr lang="en-CA" dirty="0"/>
              <a:t> — pretrain CNN on large spectral dataset, fine-tune on our 20-cultivar dataset, directly addresses the small dataset limitation</a:t>
            </a:r>
            <a:endParaRPr lang="en-CA" b="1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CA" b="1" dirty="0" err="1"/>
              <a:t>XGBoost</a:t>
            </a:r>
            <a:r>
              <a:rPr lang="en-CA" b="1" dirty="0"/>
              <a:t> as preprocessing</a:t>
            </a:r>
            <a:r>
              <a:rPr lang="en-CA" dirty="0"/>
              <a:t> transforms spectral data into binary feature vectors before regression, shown to outperform SNV/MSC/derivatives on Raman data </a:t>
            </a:r>
            <a:endParaRPr lang="en-CA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Gaussian Process Regression (GPR)</a:t>
            </a:r>
            <a:r>
              <a:rPr lang="en-CA" dirty="0"/>
              <a:t> provides uncertainty estimates per prediction, particularly useful under LOCO where unseen cultivars may produce unreliable results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General Deep Learning Model (Pea-specific)</a:t>
            </a:r>
            <a:r>
              <a:rPr lang="en-CA" dirty="0"/>
              <a:t> predicts and classifies pea protein content simultaneously using Vis-NIR spectroscopy, directly applicable to our pea cultivar dataset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Deep Neural Network (DNN)</a:t>
            </a:r>
            <a:r>
              <a:rPr lang="en-CA" dirty="0"/>
              <a:t> five-layer fully connected network, outperformed both PLSR and SVR for protein prediction through NIR spectroscopy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914C1-A975-4A39-ACC0-F5BC321E7C52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31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914C1-A975-4A39-ACC0-F5BC321E7C5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5077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SG + SNV</a:t>
            </a:r>
            <a:r>
              <a:rPr lang="en-CA" dirty="0"/>
              <a:t>: Removes intensity scaling differences and normalizes spectra.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SG + MSC</a:t>
            </a:r>
            <a:r>
              <a:rPr lang="en-CA" dirty="0"/>
              <a:t>: Corrects multiplicative scatter effects caused by particle size or light scattering.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SG + 1st Derivative</a:t>
            </a:r>
            <a:r>
              <a:rPr lang="en-CA" dirty="0"/>
              <a:t>: Removes baseline shifts and enhances peak resolution.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SG + 2nd Derivative</a:t>
            </a:r>
            <a:r>
              <a:rPr lang="en-CA" dirty="0"/>
              <a:t>: Provides stronger baseline correction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SG + SNV + 1st Derivative</a:t>
            </a:r>
            <a:r>
              <a:rPr lang="en-CA" dirty="0"/>
              <a:t>: Normalizes spectra and enhances peak features while reducing baseline effects.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SG + SNV + 2nd Derivative</a:t>
            </a:r>
            <a:r>
              <a:rPr lang="en-CA" dirty="0"/>
              <a:t>: Normalizes spectra and provides stronger enhancement of spectral features with improved baseline removal.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SG + MSC + 1st Derivative</a:t>
            </a:r>
            <a:r>
              <a:rPr lang="en-CA" dirty="0"/>
              <a:t>: Corrects scatter effects and enhances peak resolution.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SG + MSC + 2nd Derivative</a:t>
            </a:r>
            <a:r>
              <a:rPr lang="en-CA" dirty="0"/>
              <a:t>: Corrects scatter effects and provides stronger baseline removal and peak separation.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914C1-A975-4A39-ACC0-F5BC321E7C52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0786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Among all preprocessing combinations,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SG + SNV</a:t>
            </a:r>
            <a:r>
              <a:rPr lang="en-CA" dirty="0"/>
              <a:t> produced the strongest overall performance, achieving the highest R² and RPD values and the lowest RMSE for both the 80/20 split and LOCO validation.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Derivative hurts performance</a:t>
            </a:r>
            <a:r>
              <a:rPr lang="en-CA" dirty="0"/>
              <a:t>: adding 1st or 2nd derivative made results worse across all combinations. Likely because the cysteine signal is very subtle and derivatives amplify noise alongside real signal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dirty="0"/>
              <a:t>MSC performs similarly to SNV but slightly worse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b="1" dirty="0"/>
              <a:t>The gap between 80/20 and LOCO is consistent</a:t>
            </a:r>
            <a:r>
              <a:rPr lang="en-CA" dirty="0"/>
              <a:t> across all 8 methods, no preprocessing combination closes it. This indicates the limitation is the model itself, not the preprocessing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914C1-A975-4A39-ACC0-F5BC321E7C52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0136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CA" b="1" dirty="0"/>
              <a:t>80/20 Split (R² = 0.45, RPD = 1.35)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CA" dirty="0"/>
              <a:t>Moderate performance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CA" dirty="0"/>
              <a:t>RPD &lt; 2.0 is not sufficient for screening applications</a:t>
            </a:r>
          </a:p>
          <a:p>
            <a:pPr marL="228600" indent="-228600">
              <a:buFont typeface="+mj-lt"/>
              <a:buAutoNum type="arabicPeriod"/>
            </a:pPr>
            <a:r>
              <a:rPr lang="en-CA" b="1" dirty="0"/>
              <a:t>LOCOCV (R² = -0.65, RPD = 0.78)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CA" dirty="0"/>
              <a:t>Negative R² model predicts global mean (~0.34) for every sample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914C1-A975-4A39-ACC0-F5BC321E7C52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4200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86FB-83C4-4204-AD67-DAF1E2E18894}" type="datetime1">
              <a:rPr lang="en-CA" smtClean="0"/>
              <a:t>2026-06-17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1736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0532-EAFE-4AAA-912D-52BE26C9C6BD}" type="datetime1">
              <a:rPr lang="en-CA" smtClean="0"/>
              <a:t>2026-06-17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4425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470E-9DAA-4651-8CBE-A8C030E0BABD}" type="datetime1">
              <a:rPr lang="en-CA" smtClean="0"/>
              <a:t>2026-06-17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5075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BC81F-7636-4B59-863B-343070CA222B}" type="datetime1">
              <a:rPr lang="en-CA" smtClean="0"/>
              <a:t>2026-06-17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1943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95713-E2C3-4B9B-B95D-43A14E42BB7B}" type="datetime1">
              <a:rPr lang="en-CA" smtClean="0"/>
              <a:t>2026-06-17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4578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05C3D-AEEB-4DDE-B9B9-603B09BCA7EF}" type="datetime1">
              <a:rPr lang="en-CA" smtClean="0"/>
              <a:t>2026-06-17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5360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6D974-28F7-40E7-BF82-100B0B2FF2DC}" type="datetime1">
              <a:rPr lang="en-CA" smtClean="0"/>
              <a:t>2026-06-17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7257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F9DF5-90C1-4B06-9195-AB0B8EBCF3A0}" type="datetime1">
              <a:rPr lang="en-CA" smtClean="0"/>
              <a:t>2026-06-17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074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79F29-7BE1-4B01-9AD0-1CCDA25B2368}" type="datetime1">
              <a:rPr lang="en-CA" smtClean="0"/>
              <a:t>2026-06-17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8561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98FDD-4264-4636-9828-519AE2BF52E1}" type="datetime1">
              <a:rPr lang="en-CA" smtClean="0"/>
              <a:t>2026-06-17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7027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1B0D1-99A8-40A6-9374-F1D7B46C70E5}" type="datetime1">
              <a:rPr lang="en-CA" smtClean="0"/>
              <a:t>2026-06-17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7538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FAD7D-7FFC-49C1-B066-6DBA30CB65E7}" type="datetime1">
              <a:rPr lang="en-CA" smtClean="0"/>
              <a:t>2026-06-17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39378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64D51-D707-4699-AD61-9CC2AB6F4932}" type="datetime1">
              <a:rPr lang="en-CA" smtClean="0"/>
              <a:t>2026-06-17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44822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FF048-D1D8-4D1B-8601-D24E4011B4F5}" type="datetime1">
              <a:rPr lang="en-CA" smtClean="0"/>
              <a:t>2026-06-17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18612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EED48-8186-43C0-AEB7-C8DDF9F6A1FB}" type="datetime1">
              <a:rPr lang="en-CA" smtClean="0"/>
              <a:t>2026-06-17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86592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3FC2F-B51D-4D1B-8455-34496224007B}" type="datetime1">
              <a:rPr lang="en-CA" smtClean="0"/>
              <a:t>2026-06-17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1584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C0A79-D4E6-4ADA-B82F-1D6F2B1049AB}" type="datetime1">
              <a:rPr lang="en-CA" smtClean="0"/>
              <a:t>2026-06-17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C3AD4A3-5824-40EA-9F64-E05717E4FE9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193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D5DDA-F5C4-0951-0681-14AEAD27E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984016"/>
            <a:ext cx="7766936" cy="1646302"/>
          </a:xfrm>
        </p:spPr>
        <p:txBody>
          <a:bodyPr/>
          <a:lstStyle/>
          <a:p>
            <a:pPr algn="ctr"/>
            <a:r>
              <a:rPr lang="en-CA" sz="3600" dirty="0"/>
              <a:t>Cysteine Prediction in Pea Cultivars Using Raman Spectroscopy and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D68E94-DDA8-648E-4848-A963737771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CA" sz="2800" dirty="0"/>
              <a:t>Priyanshu Mittal </a:t>
            </a:r>
          </a:p>
          <a:p>
            <a:pPr algn="ctr">
              <a:spcBef>
                <a:spcPts val="0"/>
              </a:spcBef>
            </a:pPr>
            <a:r>
              <a:rPr lang="en-CA" sz="2800" dirty="0"/>
              <a:t>June 17,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E3394-6F91-F8D4-24A8-7868C1D1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4631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414C2-04A9-3428-4ACE-A79E8491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What We Did This Week?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4F878-F284-643E-08D2-F28A2C166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27452"/>
            <a:ext cx="8596668" cy="3880773"/>
          </a:xfrm>
        </p:spPr>
        <p:txBody>
          <a:bodyPr>
            <a:normAutofit/>
          </a:bodyPr>
          <a:lstStyle/>
          <a:p>
            <a:r>
              <a:rPr lang="en-CA" sz="2000" dirty="0"/>
              <a:t>Completed a second round of literature review (6 papers) </a:t>
            </a:r>
          </a:p>
          <a:p>
            <a:r>
              <a:rPr lang="en-CA" sz="2000" dirty="0"/>
              <a:t>Trained and optimised a PLSR model as the baseline </a:t>
            </a:r>
          </a:p>
          <a:p>
            <a:r>
              <a:rPr lang="en-CA" sz="2000" dirty="0"/>
              <a:t>Tested 8 different preprocessing combinations </a:t>
            </a:r>
          </a:p>
          <a:p>
            <a:r>
              <a:rPr lang="en-CA" sz="2000" dirty="0"/>
              <a:t>Compared two validation strategies: 80/20 split and Leave-One-Cultivar-Out (LOCOCV)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32DB8-4850-803B-B235-4585246F3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8499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3B36D-180D-B972-E174-1671677C4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7CDD56-3646-8780-082E-8A818C63F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CA" dirty="0"/>
              <a:t>Literature Review Summary</a:t>
            </a: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9E4E4C6-1481-F8DD-EDC5-F1FCB9E172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0396672"/>
              </p:ext>
            </p:extLst>
          </p:nvPr>
        </p:nvGraphicFramePr>
        <p:xfrm>
          <a:off x="1286933" y="1709057"/>
          <a:ext cx="10197494" cy="419941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514040">
                  <a:extLst>
                    <a:ext uri="{9D8B030D-6E8A-4147-A177-3AD203B41FA5}">
                      <a16:colId xmlns:a16="http://schemas.microsoft.com/office/drawing/2014/main" val="1715461555"/>
                    </a:ext>
                  </a:extLst>
                </a:gridCol>
                <a:gridCol w="2702720">
                  <a:extLst>
                    <a:ext uri="{9D8B030D-6E8A-4147-A177-3AD203B41FA5}">
                      <a16:colId xmlns:a16="http://schemas.microsoft.com/office/drawing/2014/main" val="1972201366"/>
                    </a:ext>
                  </a:extLst>
                </a:gridCol>
                <a:gridCol w="5980734">
                  <a:extLst>
                    <a:ext uri="{9D8B030D-6E8A-4147-A177-3AD203B41FA5}">
                      <a16:colId xmlns:a16="http://schemas.microsoft.com/office/drawing/2014/main" val="2665139337"/>
                    </a:ext>
                  </a:extLst>
                </a:gridCol>
              </a:tblGrid>
              <a:tr h="379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/>
                        <a:t>Paper</a:t>
                      </a:r>
                    </a:p>
                  </a:txBody>
                  <a:tcPr marL="49731" marR="49731" marT="24866" marB="248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/>
                        <a:t>Method</a:t>
                      </a:r>
                    </a:p>
                  </a:txBody>
                  <a:tcPr marL="49731" marR="49731" marT="24866" marB="248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/>
                        <a:t>Key Contribution</a:t>
                      </a:r>
                    </a:p>
                  </a:txBody>
                  <a:tcPr marL="49731" marR="49731" marT="24866" marB="24866" anchor="ctr"/>
                </a:tc>
                <a:extLst>
                  <a:ext uri="{0D108BD9-81ED-4DB2-BD59-A6C34878D82A}">
                    <a16:rowId xmlns:a16="http://schemas.microsoft.com/office/drawing/2014/main" val="1906796725"/>
                  </a:ext>
                </a:extLst>
              </a:tr>
              <a:tr h="636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Wu et al. 2025</a:t>
                      </a:r>
                    </a:p>
                  </a:txBody>
                  <a:tcPr marL="49731" marR="49731" marT="24866" marB="248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/>
                        <a:t>Preprocessing Ensemble (PFCOVSC)</a:t>
                      </a:r>
                    </a:p>
                  </a:txBody>
                  <a:tcPr marL="49731" marR="49731" marT="24866" marB="248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/>
                        <a:t>Combines multiple preprocessing methods into one fused matrix, outperforming any single method by up to 49%</a:t>
                      </a:r>
                    </a:p>
                  </a:txBody>
                  <a:tcPr marL="49731" marR="49731" marT="24866" marB="24866" anchor="ctr"/>
                </a:tc>
                <a:extLst>
                  <a:ext uri="{0D108BD9-81ED-4DB2-BD59-A6C34878D82A}">
                    <a16:rowId xmlns:a16="http://schemas.microsoft.com/office/drawing/2014/main" val="317770876"/>
                  </a:ext>
                </a:extLst>
              </a:tr>
              <a:tr h="636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Liu et al. 2024</a:t>
                      </a:r>
                    </a:p>
                  </a:txBody>
                  <a:tcPr marL="49731" marR="49731" marT="24866" marB="248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Deep Learning Review</a:t>
                      </a:r>
                    </a:p>
                  </a:txBody>
                  <a:tcPr marL="49731" marR="49731" marT="24866" marB="248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Covers autoencoders, transfer learning, data augmentation, all relevant for small datasets</a:t>
                      </a:r>
                    </a:p>
                  </a:txBody>
                  <a:tcPr marL="49731" marR="49731" marT="24866" marB="24866" anchor="ctr"/>
                </a:tc>
                <a:extLst>
                  <a:ext uri="{0D108BD9-81ED-4DB2-BD59-A6C34878D82A}">
                    <a16:rowId xmlns:a16="http://schemas.microsoft.com/office/drawing/2014/main" val="912765989"/>
                  </a:ext>
                </a:extLst>
              </a:tr>
              <a:tr h="636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Wang et al. 2024</a:t>
                      </a:r>
                    </a:p>
                  </a:txBody>
                  <a:tcPr marL="49731" marR="49731" marT="24866" marB="248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XGBoost as Preprocessor</a:t>
                      </a:r>
                    </a:p>
                  </a:txBody>
                  <a:tcPr marL="49731" marR="49731" marT="24866" marB="248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Uses XGBoost to transform spectral features before regression, a novel alternative to standard preprocessing</a:t>
                      </a:r>
                    </a:p>
                  </a:txBody>
                  <a:tcPr marL="49731" marR="49731" marT="24866" marB="24866" anchor="ctr"/>
                </a:tc>
                <a:extLst>
                  <a:ext uri="{0D108BD9-81ED-4DB2-BD59-A6C34878D82A}">
                    <a16:rowId xmlns:a16="http://schemas.microsoft.com/office/drawing/2014/main" val="4074790137"/>
                  </a:ext>
                </a:extLst>
              </a:tr>
              <a:tr h="636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/>
                        <a:t>Chen et al. 2023</a:t>
                      </a:r>
                    </a:p>
                  </a:txBody>
                  <a:tcPr marL="49731" marR="49731" marT="24866" marB="248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Gaussian Process Regression</a:t>
                      </a:r>
                    </a:p>
                  </a:txBody>
                  <a:tcPr marL="49731" marR="49731" marT="24866" marB="248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GPR provides prediction plus confidence interval, useful for flagging unreliable predictions on unseen samples</a:t>
                      </a:r>
                    </a:p>
                  </a:txBody>
                  <a:tcPr marL="49731" marR="49731" marT="24866" marB="24866" anchor="ctr"/>
                </a:tc>
                <a:extLst>
                  <a:ext uri="{0D108BD9-81ED-4DB2-BD59-A6C34878D82A}">
                    <a16:rowId xmlns:a16="http://schemas.microsoft.com/office/drawing/2014/main" val="3092666240"/>
                  </a:ext>
                </a:extLst>
              </a:tr>
              <a:tr h="636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Xiao et al. 2025</a:t>
                      </a:r>
                    </a:p>
                  </a:txBody>
                  <a:tcPr marL="49731" marR="49731" marT="24866" marB="248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Deep Learning on Pea Protein</a:t>
                      </a:r>
                    </a:p>
                  </a:txBody>
                  <a:tcPr marL="49731" marR="49731" marT="24866" marB="248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Same crop as the SERS study, uses Vis-NIR plus deep learning for combined prediction and classification</a:t>
                      </a:r>
                    </a:p>
                  </a:txBody>
                  <a:tcPr marL="49731" marR="49731" marT="24866" marB="24866" anchor="ctr"/>
                </a:tc>
                <a:extLst>
                  <a:ext uri="{0D108BD9-81ED-4DB2-BD59-A6C34878D82A}">
                    <a16:rowId xmlns:a16="http://schemas.microsoft.com/office/drawing/2014/main" val="2536733516"/>
                  </a:ext>
                </a:extLst>
              </a:tr>
              <a:tr h="636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/>
                        <a:t>Yang et al. 2024</a:t>
                      </a:r>
                    </a:p>
                  </a:txBody>
                  <a:tcPr marL="49731" marR="49731" marT="24866" marB="248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DNN with NIR Spectroscopy</a:t>
                      </a:r>
                    </a:p>
                  </a:txBody>
                  <a:tcPr marL="49731" marR="49731" marT="24866" marB="248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/>
                        <a:t>Demonstrates non-destructive protein prediction through rice husks using a five-layer DNN, outperforming PLSR and SVR</a:t>
                      </a:r>
                    </a:p>
                  </a:txBody>
                  <a:tcPr marL="49731" marR="49731" marT="24866" marB="24866" anchor="ctr"/>
                </a:tc>
                <a:extLst>
                  <a:ext uri="{0D108BD9-81ED-4DB2-BD59-A6C34878D82A}">
                    <a16:rowId xmlns:a16="http://schemas.microsoft.com/office/drawing/2014/main" val="1814851408"/>
                  </a:ext>
                </a:extLst>
              </a:tr>
            </a:tbl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FB1125C-4EBD-E341-9411-2F8620813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2903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C274E-7AF4-1377-9758-EB5FC174E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E7CE7-4268-5E53-D07E-19BA57CB7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Dataset Overview - Updated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A7EE1-D743-A4EC-D3C3-4A0DFD927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27452"/>
            <a:ext cx="8596668" cy="3880773"/>
          </a:xfrm>
        </p:spPr>
        <p:txBody>
          <a:bodyPr>
            <a:normAutofit/>
          </a:bodyPr>
          <a:lstStyle/>
          <a:p>
            <a:r>
              <a:rPr lang="en-CA" sz="2000" dirty="0"/>
              <a:t>20 pea cultivars × 324 spectra = </a:t>
            </a:r>
            <a:r>
              <a:rPr lang="en-CA" sz="2000" b="1" dirty="0"/>
              <a:t>6,480 spectra total</a:t>
            </a:r>
            <a:r>
              <a:rPr lang="en-CA" sz="2000" dirty="0"/>
              <a:t> </a:t>
            </a:r>
          </a:p>
          <a:p>
            <a:r>
              <a:rPr lang="en-CA" sz="2000" dirty="0"/>
              <a:t>1,530 usable spectral data points per spectrum </a:t>
            </a:r>
          </a:p>
          <a:p>
            <a:r>
              <a:rPr lang="en-CA" sz="2000" dirty="0"/>
              <a:t>Raman shift range: 97.8 – 3,361.7 cm⁻¹ </a:t>
            </a:r>
          </a:p>
          <a:p>
            <a:r>
              <a:rPr lang="en-CA" sz="2000" dirty="0"/>
              <a:t>Cysteine range: 0.312 – 0.373 g/100g (spread of only 0.061) </a:t>
            </a:r>
          </a:p>
          <a:p>
            <a:r>
              <a:rPr lang="en-CA" sz="2000" dirty="0"/>
              <a:t>Labels: one cysteine value per cultivar shared across all 324 spectra </a:t>
            </a:r>
          </a:p>
          <a:p>
            <a:r>
              <a:rPr lang="en-CA" sz="2000" dirty="0" err="1"/>
              <a:t>Redbat</a:t>
            </a:r>
            <a:r>
              <a:rPr lang="en-CA" sz="2000" dirty="0"/>
              <a:t> 88 dataset updated and confirmed at 324 spectra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CC086-E442-209F-B54F-F2DB5ED02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0073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A5642-6514-7FF5-C474-FA41B9E4E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04CA8-94BC-37F2-378B-302CC6026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PLSR – Partial Least Squares Regression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C4B12-D61B-B1DD-4B3C-3507F5578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rmAutofit/>
          </a:bodyPr>
          <a:lstStyle/>
          <a:p>
            <a:r>
              <a:rPr lang="en-CA" sz="2000" b="1" dirty="0"/>
              <a:t>Introduction:</a:t>
            </a:r>
          </a:p>
          <a:p>
            <a:pPr lvl="1"/>
            <a:r>
              <a:rPr lang="en-CA" sz="1800" dirty="0"/>
              <a:t>Standard baseline model for spectroscopy</a:t>
            </a:r>
          </a:p>
          <a:p>
            <a:pPr lvl="1"/>
            <a:r>
              <a:rPr lang="en-CA" sz="1800" dirty="0"/>
              <a:t>Designed specifically for high-dimensional data like spectra where we have many features more than samples</a:t>
            </a:r>
          </a:p>
          <a:p>
            <a:pPr marL="0" indent="0">
              <a:buNone/>
            </a:pPr>
            <a:endParaRPr lang="en-CA" sz="2000" dirty="0"/>
          </a:p>
          <a:p>
            <a:r>
              <a:rPr lang="en-CA" sz="2000" b="1" dirty="0"/>
              <a:t>What it does:</a:t>
            </a:r>
            <a:endParaRPr lang="en-CA" sz="2000" dirty="0"/>
          </a:p>
          <a:p>
            <a:pPr lvl="1"/>
            <a:r>
              <a:rPr lang="en-CA" sz="1800" dirty="0"/>
              <a:t>Compresses 1530 spectral features into a small number of latent components</a:t>
            </a:r>
          </a:p>
          <a:p>
            <a:endParaRPr lang="en-CA" sz="2000" dirty="0"/>
          </a:p>
          <a:p>
            <a:endParaRPr lang="en-CA" sz="2000" dirty="0"/>
          </a:p>
          <a:p>
            <a:pPr lvl="1"/>
            <a:endParaRPr lang="en-CA" sz="1800" dirty="0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DA272E64-6596-F430-AA95-F82740EEA8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195161"/>
              </p:ext>
            </p:extLst>
          </p:nvPr>
        </p:nvGraphicFramePr>
        <p:xfrm>
          <a:off x="1146002" y="3998124"/>
          <a:ext cx="8128000" cy="34731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7893071-4246-09A7-B37E-172ED4DD3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8683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5A20E-52DF-2EBE-5998-EA0DAA074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FC7D4-C046-80D8-B974-8D3C82DE3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Preprocessing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3E660-F738-CCBF-7479-58FF33309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600450"/>
            <a:ext cx="8596668" cy="2184400"/>
          </a:xfrm>
        </p:spPr>
        <p:txBody>
          <a:bodyPr>
            <a:normAutofit fontScale="92500" lnSpcReduction="20000"/>
          </a:bodyPr>
          <a:lstStyle/>
          <a:p>
            <a:r>
              <a:rPr lang="en-CA" sz="2000" b="1" dirty="0"/>
              <a:t>Step 1 — </a:t>
            </a:r>
            <a:r>
              <a:rPr lang="en-CA" sz="2000" b="1" dirty="0" err="1"/>
              <a:t>Savitzky</a:t>
            </a:r>
            <a:r>
              <a:rPr lang="en-CA" sz="2000" b="1" dirty="0"/>
              <a:t>-Golay Smoothing (applied to all)</a:t>
            </a:r>
            <a:r>
              <a:rPr lang="en-CA" sz="2000" dirty="0"/>
              <a:t> Reduces high-frequency noise while preserving peak shape. </a:t>
            </a:r>
          </a:p>
          <a:p>
            <a:pPr lvl="1"/>
            <a:r>
              <a:rPr lang="en-CA" sz="1800" dirty="0"/>
              <a:t>Window = 11, polynomial order = 3.</a:t>
            </a:r>
          </a:p>
          <a:p>
            <a:r>
              <a:rPr lang="en-CA" sz="2000" b="1" dirty="0"/>
              <a:t>Step 2 — Normalisation/Correction (varied)</a:t>
            </a:r>
          </a:p>
          <a:p>
            <a:r>
              <a:rPr lang="en-CA" sz="2000" b="1" dirty="0"/>
              <a:t>Eight combinations tested</a:t>
            </a:r>
            <a:r>
              <a:rPr lang="en-CA" sz="2000" dirty="0"/>
              <a:t>: SG + SNV, SG + MSC, SG + 1st Derivative, SG + 2nd Derivative, SG + SNV + 1st Der, SG + SNV + 2nd Der, SG + MSC + 1st Der and SG + MSC + 2nd Der</a:t>
            </a:r>
          </a:p>
          <a:p>
            <a:endParaRPr lang="en-CA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413F40-EDBD-7CF5-9C7E-D9C7E7AF15F5}"/>
              </a:ext>
            </a:extLst>
          </p:cNvPr>
          <p:cNvSpPr/>
          <p:nvPr/>
        </p:nvSpPr>
        <p:spPr>
          <a:xfrm>
            <a:off x="680336" y="1562100"/>
            <a:ext cx="1316566" cy="1206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Raw Spectrum	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8D73DE-AC74-1DC4-8E61-B7523FD285C4}"/>
              </a:ext>
            </a:extLst>
          </p:cNvPr>
          <p:cNvSpPr/>
          <p:nvPr/>
        </p:nvSpPr>
        <p:spPr>
          <a:xfrm>
            <a:off x="6503284" y="1562100"/>
            <a:ext cx="1316567" cy="1181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PLSR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B9FC64-5CEC-8946-B484-CC4C5D84D8A0}"/>
              </a:ext>
            </a:extLst>
          </p:cNvPr>
          <p:cNvSpPr/>
          <p:nvPr/>
        </p:nvSpPr>
        <p:spPr>
          <a:xfrm>
            <a:off x="4528435" y="1562100"/>
            <a:ext cx="1316567" cy="1181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SNV	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D2E566-AB5A-6B6F-1BDE-8FA6E0950E30}"/>
              </a:ext>
            </a:extLst>
          </p:cNvPr>
          <p:cNvSpPr/>
          <p:nvPr/>
        </p:nvSpPr>
        <p:spPr>
          <a:xfrm>
            <a:off x="2553587" y="1562100"/>
            <a:ext cx="1316566" cy="1206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SG Smoothing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DEE415-2959-44E8-1984-6AF469D61904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1996902" y="2165350"/>
            <a:ext cx="5566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8951281-888F-7C4D-8E27-139AAA1A74FA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 flipV="1">
            <a:off x="3870153" y="2152650"/>
            <a:ext cx="658282" cy="12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E79CA4-EE32-B88D-3894-C575550B7FD4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5845002" y="2152650"/>
            <a:ext cx="658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838031E7-1E66-705C-70A4-3CBF5C499C58}"/>
              </a:ext>
            </a:extLst>
          </p:cNvPr>
          <p:cNvSpPr/>
          <p:nvPr/>
        </p:nvSpPr>
        <p:spPr>
          <a:xfrm>
            <a:off x="8376536" y="1562100"/>
            <a:ext cx="1316566" cy="1206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Prediction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B018F42-51F6-18BD-933A-60C734FD27E8}"/>
              </a:ext>
            </a:extLst>
          </p:cNvPr>
          <p:cNvCxnSpPr>
            <a:cxnSpLocks/>
            <a:stCxn id="5" idx="3"/>
            <a:endCxn id="34" idx="1"/>
          </p:cNvCxnSpPr>
          <p:nvPr/>
        </p:nvCxnSpPr>
        <p:spPr>
          <a:xfrm>
            <a:off x="7819851" y="2152650"/>
            <a:ext cx="556685" cy="12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58929056-CEE8-B4C0-B90F-505359748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2169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49BCE-B1C6-A8FD-67C6-59D3BE9C3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3CAD4-1A2A-C76E-BFB0-D2C00255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Preprocessing Optimization Results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18A527-1401-C7C2-794E-5C394F101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442028"/>
            <a:ext cx="10644808" cy="39739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AA58610-9AB3-09CD-623F-25C32E894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7614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B86005C-9594-1307-7111-9781C1CEB4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3325719"/>
              </p:ext>
            </p:extLst>
          </p:nvPr>
        </p:nvGraphicFramePr>
        <p:xfrm>
          <a:off x="407699" y="165533"/>
          <a:ext cx="11105424" cy="659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178">
                  <a:extLst>
                    <a:ext uri="{9D8B030D-6E8A-4147-A177-3AD203B41FA5}">
                      <a16:colId xmlns:a16="http://schemas.microsoft.com/office/drawing/2014/main" val="2142075526"/>
                    </a:ext>
                  </a:extLst>
                </a:gridCol>
                <a:gridCol w="1388178">
                  <a:extLst>
                    <a:ext uri="{9D8B030D-6E8A-4147-A177-3AD203B41FA5}">
                      <a16:colId xmlns:a16="http://schemas.microsoft.com/office/drawing/2014/main" val="839522891"/>
                    </a:ext>
                  </a:extLst>
                </a:gridCol>
                <a:gridCol w="1388178">
                  <a:extLst>
                    <a:ext uri="{9D8B030D-6E8A-4147-A177-3AD203B41FA5}">
                      <a16:colId xmlns:a16="http://schemas.microsoft.com/office/drawing/2014/main" val="2760179476"/>
                    </a:ext>
                  </a:extLst>
                </a:gridCol>
                <a:gridCol w="1388178">
                  <a:extLst>
                    <a:ext uri="{9D8B030D-6E8A-4147-A177-3AD203B41FA5}">
                      <a16:colId xmlns:a16="http://schemas.microsoft.com/office/drawing/2014/main" val="3535534354"/>
                    </a:ext>
                  </a:extLst>
                </a:gridCol>
                <a:gridCol w="1388178">
                  <a:extLst>
                    <a:ext uri="{9D8B030D-6E8A-4147-A177-3AD203B41FA5}">
                      <a16:colId xmlns:a16="http://schemas.microsoft.com/office/drawing/2014/main" val="2330528416"/>
                    </a:ext>
                  </a:extLst>
                </a:gridCol>
                <a:gridCol w="1388178">
                  <a:extLst>
                    <a:ext uri="{9D8B030D-6E8A-4147-A177-3AD203B41FA5}">
                      <a16:colId xmlns:a16="http://schemas.microsoft.com/office/drawing/2014/main" val="2380479782"/>
                    </a:ext>
                  </a:extLst>
                </a:gridCol>
                <a:gridCol w="1388178">
                  <a:extLst>
                    <a:ext uri="{9D8B030D-6E8A-4147-A177-3AD203B41FA5}">
                      <a16:colId xmlns:a16="http://schemas.microsoft.com/office/drawing/2014/main" val="1351984225"/>
                    </a:ext>
                  </a:extLst>
                </a:gridCol>
                <a:gridCol w="1388178">
                  <a:extLst>
                    <a:ext uri="{9D8B030D-6E8A-4147-A177-3AD203B41FA5}">
                      <a16:colId xmlns:a16="http://schemas.microsoft.com/office/drawing/2014/main" val="605043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Preprocessing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Best Components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80/20 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80/20 R²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80/20 RPD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LOCO 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LOCO R²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LOCO RPD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2964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SNV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0.0122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0.4476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1.3455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0.0211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-0.6481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0.7790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6616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MSC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0.0125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0.4182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1.3111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0.0236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-1.0547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0.6976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7422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+ 1st Derivative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0.0139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0.2811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1.1794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0.0238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-1.0987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0.6903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0908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+ 2nd Derivative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0.0140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0.2730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1.1729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0.0223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-0.8413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0.7369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0910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SNV + 1st Derivative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0.0122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0.4470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1.3447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0.0217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-0.7433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0.7574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5525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SNV + 2nd Derivative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0.0127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0.3989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1.2898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0.0219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-0.7762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0.7503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415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MSC + 1st Derivative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0.0125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0.4154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1.3079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0.0238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-1.0876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0.6921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6853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MSC + 2nd Derivative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0.0129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0.3832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1.2733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0.0225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-0.8643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0.7324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8727527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04FD9-10F5-E739-89F6-36EFA18F1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5325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D6FF2-BFB7-20AC-476C-A2761E102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B7A6A-5FB3-68B7-1B2E-30A193208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30946"/>
            <a:ext cx="8596668" cy="1320800"/>
          </a:xfrm>
        </p:spPr>
        <p:txBody>
          <a:bodyPr>
            <a:normAutofit/>
          </a:bodyPr>
          <a:lstStyle/>
          <a:p>
            <a:r>
              <a:rPr lang="en-CA" dirty="0"/>
              <a:t>PLSR Results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E34F421-F09E-2C22-0A64-D3600BCCCF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2171424"/>
              </p:ext>
            </p:extLst>
          </p:nvPr>
        </p:nvGraphicFramePr>
        <p:xfrm>
          <a:off x="677334" y="5132388"/>
          <a:ext cx="859631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16211768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781636213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159423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80/20 Split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LOCOCV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2040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0.0122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0.0211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2154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R²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0.4476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-0.6481</a:t>
                      </a:r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0151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RPD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1.3455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0.7790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484899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E79FF1D-8730-086D-E392-137B8ED2D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1130660"/>
            <a:ext cx="8277496" cy="35231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2CE3E-7948-B5A1-7B09-1E880E4FF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2141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1A251-FDCA-EFD8-3F26-B91A2395B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179FE-E175-763A-A7BE-E08745E14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170" y="624840"/>
            <a:ext cx="10170775" cy="1320800"/>
          </a:xfrm>
        </p:spPr>
        <p:txBody>
          <a:bodyPr>
            <a:normAutofit/>
          </a:bodyPr>
          <a:lstStyle/>
          <a:p>
            <a:r>
              <a:rPr lang="en-CA" dirty="0"/>
              <a:t>80/20 vs LOCOCV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5FB9FF0-F564-8297-4E93-2D7BCF078C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4135142"/>
              </p:ext>
            </p:extLst>
          </p:nvPr>
        </p:nvGraphicFramePr>
        <p:xfrm>
          <a:off x="885681" y="1814224"/>
          <a:ext cx="8596312" cy="2994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3257935700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3403864352"/>
                    </a:ext>
                  </a:extLst>
                </a:gridCol>
              </a:tblGrid>
              <a:tr h="638031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80/20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LOCOCV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028352"/>
                  </a:ext>
                </a:extLst>
              </a:tr>
              <a:tr h="2356334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CA" dirty="0"/>
                        <a:t>Model sees all cultivars during training 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CA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CA" dirty="0"/>
                        <a:t>Artificially inflated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CA" dirty="0"/>
                        <a:t>Model tested on completely unseen cultivar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CA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CA" dirty="0"/>
                        <a:t>Exposes true generalisation ability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CA" dirty="0"/>
                        <a:t>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CA" dirty="0"/>
                        <a:t>PLSR predicts global mean (~0.34) for every unseen cultivar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681411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E24F6A-52A1-354C-09A1-1335E095D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5153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D310D-4331-17C3-38C9-F743F22F9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3D293-DD5C-E896-1B19-E4F2AFBAD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170" y="624840"/>
            <a:ext cx="10170775" cy="1320800"/>
          </a:xfrm>
        </p:spPr>
        <p:txBody>
          <a:bodyPr>
            <a:normAutofit/>
          </a:bodyPr>
          <a:lstStyle/>
          <a:p>
            <a:r>
              <a:rPr lang="en-CA" dirty="0"/>
              <a:t>Derived vs Published Results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81E9E55-3771-7611-16F0-79EAE7B712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3431075"/>
              </p:ext>
            </p:extLst>
          </p:nvPr>
        </p:nvGraphicFramePr>
        <p:xfrm>
          <a:off x="677863" y="2160588"/>
          <a:ext cx="859631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1847417293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92643057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51523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409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108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137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063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75542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AF9E1E4-1C53-F1AB-FCCD-9FBA0D8D0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982531"/>
              </p:ext>
            </p:extLst>
          </p:nvPr>
        </p:nvGraphicFramePr>
        <p:xfrm>
          <a:off x="677863" y="2160588"/>
          <a:ext cx="8596311" cy="1828800"/>
        </p:xfrm>
        <a:graphic>
          <a:graphicData uri="http://schemas.openxmlformats.org/drawingml/2006/table">
            <a:tbl>
              <a:tblPr/>
              <a:tblGrid>
                <a:gridCol w="2865437">
                  <a:extLst>
                    <a:ext uri="{9D8B030D-6E8A-4147-A177-3AD203B41FA5}">
                      <a16:colId xmlns:a16="http://schemas.microsoft.com/office/drawing/2014/main" val="2689040526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411501541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41622552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Research Paper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Derived Paper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310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Preprocessing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ModPoly + Min-Max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SG + SNV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350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Components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599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LOCO 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0.0211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648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Within-cultivar R²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0.626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0.4476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486982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0C6D359-0CCE-D043-A4BB-CAED0B8B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3440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4E8E1-D4E6-9B07-0404-C6D39B335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21238-A6A8-458A-2C37-37B4CD72B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EFC1D-39FB-C0BA-E922-82941979F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27452"/>
            <a:ext cx="8596668" cy="3880773"/>
          </a:xfrm>
        </p:spPr>
        <p:txBody>
          <a:bodyPr>
            <a:normAutofit/>
          </a:bodyPr>
          <a:lstStyle/>
          <a:p>
            <a:r>
              <a:rPr lang="en-CA" sz="2000" dirty="0"/>
              <a:t>Best preprocessing: SG + SNV outperformed all 8 combinations on both validation strategies</a:t>
            </a:r>
          </a:p>
          <a:p>
            <a:r>
              <a:rPr lang="en-CA" sz="2000" dirty="0"/>
              <a:t>PLSR baseline: Moderate performance on 80/20 (R²=0.45) but poor generalisation under LOCO (R²=-0.65)</a:t>
            </a:r>
          </a:p>
          <a:p>
            <a:r>
              <a:rPr lang="en-CA" sz="2000" b="1" dirty="0"/>
              <a:t>Key challenge</a:t>
            </a:r>
            <a:r>
              <a:rPr lang="en-CA" sz="2000" dirty="0"/>
              <a:t>: Narrow cysteine range (0.061 g/100g) and high within-cultivar variability limit PLSR generalisation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1B2FF-B81B-9A9D-0D2E-3699DADBC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AD4A3-5824-40EA-9F64-E05717E4FE93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238417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510</TotalTime>
  <Words>1131</Words>
  <Application>Microsoft Office PowerPoint</Application>
  <PresentationFormat>Widescreen</PresentationFormat>
  <Paragraphs>216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Trebuchet MS</vt:lpstr>
      <vt:lpstr>Wingdings</vt:lpstr>
      <vt:lpstr>Wingdings 3</vt:lpstr>
      <vt:lpstr>Facet</vt:lpstr>
      <vt:lpstr>Cysteine Prediction in Pea Cultivars Using Raman Spectroscopy and Machine Learning</vt:lpstr>
      <vt:lpstr>What We Did This Week?</vt:lpstr>
      <vt:lpstr>Literature Review Summary</vt:lpstr>
      <vt:lpstr>Dataset Overview - Updated</vt:lpstr>
      <vt:lpstr>PLSR – Partial Least Squares Regression </vt:lpstr>
      <vt:lpstr>Preprocessing Pipeline</vt:lpstr>
      <vt:lpstr>Preprocessing Optimization Results</vt:lpstr>
      <vt:lpstr>PowerPoint Presentation</vt:lpstr>
      <vt:lpstr>PLSR Results</vt:lpstr>
      <vt:lpstr>80/20 vs LOCOCV</vt:lpstr>
      <vt:lpstr>Derived vs Published 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Priyanshu Mittal</dc:creator>
  <cp:lastModifiedBy>Priyanshu Mittal</cp:lastModifiedBy>
  <cp:revision>1</cp:revision>
  <dcterms:created xsi:type="dcterms:W3CDTF">2026-06-16T22:09:36Z</dcterms:created>
  <dcterms:modified xsi:type="dcterms:W3CDTF">2026-06-17T06:42:31Z</dcterms:modified>
</cp:coreProperties>
</file>