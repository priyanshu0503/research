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D3702A-7415-4F45-BE64-DF44DE987565}" v="2" dt="2026-06-10T14:18:49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638" autoAdjust="0"/>
  </p:normalViewPr>
  <p:slideViewPr>
    <p:cSldViewPr snapToGrid="0">
      <p:cViewPr varScale="1">
        <p:scale>
          <a:sx n="40" d="100"/>
          <a:sy n="40" d="100"/>
        </p:scale>
        <p:origin x="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Mittal" userId="632a3c7993d7014f" providerId="LiveId" clId="{CB0A0732-E392-4B4C-BFBA-BEC5906584FE}"/>
    <pc:docChg chg="modSld">
      <pc:chgData name="Priyanshu Mittal" userId="632a3c7993d7014f" providerId="LiveId" clId="{CB0A0732-E392-4B4C-BFBA-BEC5906584FE}" dt="2026-06-10T14:21:31.373" v="178" actId="14100"/>
      <pc:docMkLst>
        <pc:docMk/>
      </pc:docMkLst>
      <pc:sldChg chg="modSp mod">
        <pc:chgData name="Priyanshu Mittal" userId="632a3c7993d7014f" providerId="LiveId" clId="{CB0A0732-E392-4B4C-BFBA-BEC5906584FE}" dt="2026-06-10T14:16:49.770" v="5" actId="20577"/>
        <pc:sldMkLst>
          <pc:docMk/>
          <pc:sldMk cId="1696740593" sldId="256"/>
        </pc:sldMkLst>
        <pc:spChg chg="mod">
          <ac:chgData name="Priyanshu Mittal" userId="632a3c7993d7014f" providerId="LiveId" clId="{CB0A0732-E392-4B4C-BFBA-BEC5906584FE}" dt="2026-06-10T14:16:49.770" v="5" actId="20577"/>
          <ac:spMkLst>
            <pc:docMk/>
            <pc:sldMk cId="1696740593" sldId="256"/>
            <ac:spMk id="2" creationId="{F9B7F90C-C17D-B24C-CBD6-E0B1D06D096D}"/>
          </ac:spMkLst>
        </pc:spChg>
      </pc:sldChg>
      <pc:sldChg chg="modSp mod">
        <pc:chgData name="Priyanshu Mittal" userId="632a3c7993d7014f" providerId="LiveId" clId="{CB0A0732-E392-4B4C-BFBA-BEC5906584FE}" dt="2026-06-10T14:16:58.320" v="9" actId="20577"/>
        <pc:sldMkLst>
          <pc:docMk/>
          <pc:sldMk cId="1609432647" sldId="257"/>
        </pc:sldMkLst>
        <pc:spChg chg="mod">
          <ac:chgData name="Priyanshu Mittal" userId="632a3c7993d7014f" providerId="LiveId" clId="{CB0A0732-E392-4B4C-BFBA-BEC5906584FE}" dt="2026-06-10T14:16:58.320" v="9" actId="20577"/>
          <ac:spMkLst>
            <pc:docMk/>
            <pc:sldMk cId="1609432647" sldId="257"/>
            <ac:spMk id="3" creationId="{708CB46B-5956-2FBF-6874-7030BEAD1963}"/>
          </ac:spMkLst>
        </pc:spChg>
      </pc:sldChg>
      <pc:sldChg chg="addSp modSp mod">
        <pc:chgData name="Priyanshu Mittal" userId="632a3c7993d7014f" providerId="LiveId" clId="{CB0A0732-E392-4B4C-BFBA-BEC5906584FE}" dt="2026-06-10T14:21:31.373" v="178" actId="14100"/>
        <pc:sldMkLst>
          <pc:docMk/>
          <pc:sldMk cId="1816393369" sldId="263"/>
        </pc:sldMkLst>
        <pc:spChg chg="mod">
          <ac:chgData name="Priyanshu Mittal" userId="632a3c7993d7014f" providerId="LiveId" clId="{CB0A0732-E392-4B4C-BFBA-BEC5906584FE}" dt="2026-06-10T14:17:56.814" v="25" actId="1076"/>
          <ac:spMkLst>
            <pc:docMk/>
            <pc:sldMk cId="1816393369" sldId="263"/>
            <ac:spMk id="3" creationId="{AD0C4B89-6FAF-A3BF-8A5D-72D6E578B96D}"/>
          </ac:spMkLst>
        </pc:spChg>
        <pc:spChg chg="mod">
          <ac:chgData name="Priyanshu Mittal" userId="632a3c7993d7014f" providerId="LiveId" clId="{CB0A0732-E392-4B4C-BFBA-BEC5906584FE}" dt="2026-06-10T14:20:33.627" v="167" actId="1076"/>
          <ac:spMkLst>
            <pc:docMk/>
            <pc:sldMk cId="1816393369" sldId="263"/>
            <ac:spMk id="4" creationId="{A405DE2E-DB02-0402-4084-7D7E8E6DBA1E}"/>
          </ac:spMkLst>
        </pc:spChg>
        <pc:spChg chg="add mod">
          <ac:chgData name="Priyanshu Mittal" userId="632a3c7993d7014f" providerId="LiveId" clId="{CB0A0732-E392-4B4C-BFBA-BEC5906584FE}" dt="2026-06-10T14:21:08.065" v="174" actId="1076"/>
          <ac:spMkLst>
            <pc:docMk/>
            <pc:sldMk cId="1816393369" sldId="263"/>
            <ac:spMk id="5" creationId="{963FA643-52BF-1558-AB88-6EFC8994F42C}"/>
          </ac:spMkLst>
        </pc:spChg>
        <pc:spChg chg="mod">
          <ac:chgData name="Priyanshu Mittal" userId="632a3c7993d7014f" providerId="LiveId" clId="{CB0A0732-E392-4B4C-BFBA-BEC5906584FE}" dt="2026-06-10T14:20:43.691" v="168" actId="1076"/>
          <ac:spMkLst>
            <pc:docMk/>
            <pc:sldMk cId="1816393369" sldId="263"/>
            <ac:spMk id="6" creationId="{3D353DE9-0F90-EE60-290F-F2FC76649F0A}"/>
          </ac:spMkLst>
        </pc:spChg>
        <pc:spChg chg="mod">
          <ac:chgData name="Priyanshu Mittal" userId="632a3c7993d7014f" providerId="LiveId" clId="{CB0A0732-E392-4B4C-BFBA-BEC5906584FE}" dt="2026-06-10T14:17:45.718" v="22" actId="1076"/>
          <ac:spMkLst>
            <pc:docMk/>
            <pc:sldMk cId="1816393369" sldId="263"/>
            <ac:spMk id="19" creationId="{4C8B8430-2C03-8047-6B6D-FB9759A389BC}"/>
          </ac:spMkLst>
        </pc:spChg>
        <pc:spChg chg="add mod">
          <ac:chgData name="Priyanshu Mittal" userId="632a3c7993d7014f" providerId="LiveId" clId="{CB0A0732-E392-4B4C-BFBA-BEC5906584FE}" dt="2026-06-10T14:21:11.994" v="175" actId="1076"/>
          <ac:spMkLst>
            <pc:docMk/>
            <pc:sldMk cId="1816393369" sldId="263"/>
            <ac:spMk id="20" creationId="{D9E9039A-6759-DFC0-E0A0-297733EF4B2E}"/>
          </ac:spMkLst>
        </pc:spChg>
        <pc:cxnChg chg="mod">
          <ac:chgData name="Priyanshu Mittal" userId="632a3c7993d7014f" providerId="LiveId" clId="{CB0A0732-E392-4B4C-BFBA-BEC5906584FE}" dt="2026-06-10T14:20:33.627" v="167" actId="1076"/>
          <ac:cxnSpMkLst>
            <pc:docMk/>
            <pc:sldMk cId="1816393369" sldId="263"/>
            <ac:cxnSpMk id="8" creationId="{57FEEE86-BA5F-8E34-14C7-30E4C8F722DE}"/>
          </ac:cxnSpMkLst>
        </pc:cxnChg>
        <pc:cxnChg chg="mod">
          <ac:chgData name="Priyanshu Mittal" userId="632a3c7993d7014f" providerId="LiveId" clId="{CB0A0732-E392-4B4C-BFBA-BEC5906584FE}" dt="2026-06-10T14:20:43.691" v="168" actId="1076"/>
          <ac:cxnSpMkLst>
            <pc:docMk/>
            <pc:sldMk cId="1816393369" sldId="263"/>
            <ac:cxnSpMk id="11" creationId="{C8E1ECF9-6948-CF32-18CF-DEA68178EF82}"/>
          </ac:cxnSpMkLst>
        </pc:cxnChg>
        <pc:cxnChg chg="add">
          <ac:chgData name="Priyanshu Mittal" userId="632a3c7993d7014f" providerId="LiveId" clId="{CB0A0732-E392-4B4C-BFBA-BEC5906584FE}" dt="2026-06-10T14:21:20.225" v="176" actId="11529"/>
          <ac:cxnSpMkLst>
            <pc:docMk/>
            <pc:sldMk cId="1816393369" sldId="263"/>
            <ac:cxnSpMk id="32" creationId="{A1613CFB-B20C-DD02-8670-50582175E853}"/>
          </ac:cxnSpMkLst>
        </pc:cxnChg>
        <pc:cxnChg chg="add mod">
          <ac:chgData name="Priyanshu Mittal" userId="632a3c7993d7014f" providerId="LiveId" clId="{CB0A0732-E392-4B4C-BFBA-BEC5906584FE}" dt="2026-06-10T14:21:31.373" v="178" actId="14100"/>
          <ac:cxnSpMkLst>
            <pc:docMk/>
            <pc:sldMk cId="1816393369" sldId="263"/>
            <ac:cxnSpMk id="34" creationId="{CF5426B9-EB95-F4E1-FE37-0C9393D833C9}"/>
          </ac:cxnSpMkLst>
        </pc:cxnChg>
      </pc:sldChg>
      <pc:sldChg chg="modSp mod">
        <pc:chgData name="Priyanshu Mittal" userId="632a3c7993d7014f" providerId="LiveId" clId="{CB0A0732-E392-4B4C-BFBA-BEC5906584FE}" dt="2026-06-10T14:20:24.607" v="166" actId="20577"/>
        <pc:sldMkLst>
          <pc:docMk/>
          <pc:sldMk cId="2734570572" sldId="265"/>
        </pc:sldMkLst>
        <pc:spChg chg="mod">
          <ac:chgData name="Priyanshu Mittal" userId="632a3c7993d7014f" providerId="LiveId" clId="{CB0A0732-E392-4B4C-BFBA-BEC5906584FE}" dt="2026-06-10T14:20:24.607" v="166" actId="20577"/>
          <ac:spMkLst>
            <pc:docMk/>
            <pc:sldMk cId="2734570572" sldId="265"/>
            <ac:spMk id="5" creationId="{5EF3B09B-6393-200E-5D58-27A36B036F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94D51-383C-412A-9AF9-EE4BE0681BA7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30A28-6C96-437F-897D-D5ABC9DCE1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681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Font typeface="+mj-lt"/>
              <a:buAutoNum type="arabicPeriod"/>
            </a:pPr>
            <a:r>
              <a:rPr lang="en-CA" dirty="0"/>
              <a:t>Range: 0.312 – 0.373 g/100g (spread of only 0.061)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Mean: 0.34 g/100g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Highest: CDC Spectrum (0.3732)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Lowest: CDC Meadow (0.3120)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Narrow range makes this a </a:t>
            </a:r>
            <a:r>
              <a:rPr lang="en-CA" b="1" dirty="0"/>
              <a:t>challenging regression problem</a:t>
            </a:r>
            <a:endParaRPr lang="en-CA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30A28-6C96-437F-897D-D5ABC9DCE15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1268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EE63-070D-145B-FC29-F37A0E27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1A7EA-20AF-6EC4-34A7-93DCA4998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DFC58-B853-00D6-653E-F9DAB1120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Font typeface="+mj-lt"/>
              <a:buAutoNum type="arabicPeriod"/>
            </a:pPr>
            <a:r>
              <a:rPr lang="en-CA" dirty="0"/>
              <a:t>All cultivars share the same overall spectral shape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Dominant peak at ~200 cm⁻¹, smaller peaks at ~750 and ~1000 cm⁻¹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Within-cultivar spread varies, some cultivars (e.g. CDC </a:t>
            </a:r>
            <a:r>
              <a:rPr lang="en-CA" dirty="0" err="1"/>
              <a:t>Greenwater</a:t>
            </a:r>
            <a:r>
              <a:rPr lang="en-CA" dirty="0"/>
              <a:t>) show much higher replicate variability than others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Y-axis scales differ between cultivars → intensity normalization will be critical</a:t>
            </a:r>
            <a:endParaRPr lang="en-CA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4F036-56C3-B3CB-A1B4-25DA3979A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30A28-6C96-437F-897D-D5ABC9DCE153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3351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160A-B868-1E5A-A2D7-CA9028B7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34C63-5C6E-658C-D810-2E9E5EB83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F8C22-AFA2-0976-FDDC-5E04DCD93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Font typeface="+mj-lt"/>
              <a:buAutoNum type="arabicPeriod"/>
            </a:pPr>
            <a:r>
              <a:rPr lang="en-CA" dirty="0"/>
              <a:t>Top panel: large intensity scaling differences across all spectra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Bottom panel: mean spectra overlap heavily, no clear visual separation between high and low cysteine cultivars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Subtle differences exist but are not visible → machine learning needed</a:t>
            </a:r>
            <a:endParaRPr lang="en-CA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E016C-AF04-84DA-DBD4-34F71D9E5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30A28-6C96-437F-897D-D5ABC9DCE153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1058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17BB-99C7-15EE-08DB-29744D45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A842E-2BAD-3C48-046A-AF768C655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804B0-7715-BBD2-816F-7DC7311A5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Font typeface="+mj-lt"/>
              <a:buAutoNum type="arabicPeriod"/>
            </a:pPr>
            <a:r>
              <a:rPr lang="en-CA" dirty="0"/>
              <a:t>Within-cultivar variability is highest at the main peak (~200 cm⁻¹)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Between-cultivar variability also peaks at ~200 cm⁻¹, most of the difference between cultivars is intensity scaling, not unique spectral features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Both sources of variability drop sharply after 500 cm⁻¹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Confirms that preprocessing (especially SNV normalization) is essential before modeling</a:t>
            </a:r>
            <a:endParaRPr lang="en-CA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7A670-C12D-A8D1-3F4F-CC1A4F35E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30A28-6C96-437F-897D-D5ABC9DCE15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7417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0900-16E4-76F0-3F3F-24C93A5A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12A2F-119A-452D-3FDF-CC8128304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DB6E3-CB50-0135-8F64-620A849EE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+mj-lt"/>
              <a:buNone/>
            </a:pPr>
            <a:endParaRPr lang="en-CA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D583-A17B-DA01-18A5-7C593B178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30A28-6C96-437F-897D-D5ABC9DCE153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5884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30A28-6C96-437F-897D-D5ABC9DCE153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0928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30A28-6C96-437F-897D-D5ABC9DCE153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8121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30A28-6C96-437F-897D-D5ABC9DCE153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144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6684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888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659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098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3706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892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678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4685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955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217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6538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5314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9210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1774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5611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911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0793F-50B0-4177-B64D-CBEDD0B0FB60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F406F8F-B358-4406-A619-343DEA676F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99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F90C-C17D-B24C-CBD6-E0B1D06D09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CA" sz="4000" dirty="0"/>
              <a:t>Raman Spectroscopy Data Exploration &amp; Modeling Strategy for Cysteine Prediction in Pea Cultivars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C78B0-7372-70AC-E792-3E38ABBC05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endParaRPr lang="en-CA" dirty="0"/>
          </a:p>
          <a:p>
            <a:endParaRPr lang="en-CA" dirty="0"/>
          </a:p>
          <a:p>
            <a:pPr algn="ctr"/>
            <a:r>
              <a:rPr lang="en-CA" sz="5500" dirty="0"/>
              <a:t>Date: June 10, 2026</a:t>
            </a:r>
          </a:p>
          <a:p>
            <a:pPr algn="ctr"/>
            <a:r>
              <a:rPr lang="en-CA" sz="5500" dirty="0"/>
              <a:t>Presented by Priyanshu Mittal</a:t>
            </a:r>
          </a:p>
        </p:txBody>
      </p:sp>
    </p:spTree>
    <p:extLst>
      <p:ext uri="{BB962C8B-B14F-4D97-AF65-F5344CB8AC3E}">
        <p14:creationId xmlns:p14="http://schemas.microsoft.com/office/powerpoint/2010/main" val="1696740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1A82-8921-A6EE-F7E1-DAD6961E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B46B-5956-2FBF-6874-7030BEAD1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20 pea cultivars, 324 spectra each = 6480 total</a:t>
            </a:r>
          </a:p>
          <a:p>
            <a:r>
              <a:rPr lang="en-CA" dirty="0"/>
              <a:t>Each Spectrum: 1530 data points</a:t>
            </a:r>
          </a:p>
          <a:p>
            <a:r>
              <a:rPr lang="en-CA" dirty="0"/>
              <a:t>Raman Shift range: 97.8 – 3361.7 cm^-1</a:t>
            </a:r>
          </a:p>
          <a:p>
            <a:r>
              <a:rPr lang="en-CA" dirty="0"/>
              <a:t>Labels: Cysteine concentration (g/100g) per cultivator</a:t>
            </a:r>
          </a:p>
          <a:p>
            <a:r>
              <a:rPr lang="en-CA" dirty="0"/>
              <a:t>Data collected across 3 field locations: Limerick, Rosthern, Sutherland</a:t>
            </a:r>
          </a:p>
          <a:p>
            <a:r>
              <a:rPr lang="en-CA" dirty="0"/>
              <a:t>One file per spectrum, semicolon-delimited text format</a:t>
            </a:r>
          </a:p>
          <a:p>
            <a:r>
              <a:rPr lang="en-CA" dirty="0"/>
              <a:t>Usable data starts at pixel 518</a:t>
            </a:r>
          </a:p>
        </p:txBody>
      </p:sp>
    </p:spTree>
    <p:extLst>
      <p:ext uri="{BB962C8B-B14F-4D97-AF65-F5344CB8AC3E}">
        <p14:creationId xmlns:p14="http://schemas.microsoft.com/office/powerpoint/2010/main" val="1609432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7E1F-8162-2056-369F-407BE9BC6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28752-FF86-CE13-C1DE-D3CBD019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Dataset Anomalies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18A95-24DB-0B31-E794-7FA7B6E1B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CDC Jasper – No spectral files found, only system metadata.</a:t>
            </a:r>
          </a:p>
          <a:p>
            <a:pPr lvl="1"/>
            <a:r>
              <a:rPr lang="en-CA" dirty="0"/>
              <a:t>Status - Solved</a:t>
            </a:r>
          </a:p>
          <a:p>
            <a:r>
              <a:rPr lang="en-CA" dirty="0"/>
              <a:t>CDC Inca – Initially had 432 spectra instead of 324.</a:t>
            </a:r>
          </a:p>
          <a:p>
            <a:pPr lvl="1"/>
            <a:r>
              <a:rPr lang="en-CA" dirty="0"/>
              <a:t>Status - Solved</a:t>
            </a:r>
          </a:p>
          <a:p>
            <a:r>
              <a:rPr lang="en-CA" dirty="0" err="1"/>
              <a:t>Redbat</a:t>
            </a:r>
            <a:r>
              <a:rPr lang="en-CA" dirty="0"/>
              <a:t> 88 – 323 spectra</a:t>
            </a:r>
          </a:p>
          <a:p>
            <a:pPr lvl="1"/>
            <a:r>
              <a:rPr lang="en-CA" dirty="0"/>
              <a:t>Status – Need to go through</a:t>
            </a:r>
          </a:p>
        </p:txBody>
      </p:sp>
    </p:spTree>
    <p:extLst>
      <p:ext uri="{BB962C8B-B14F-4D97-AF65-F5344CB8AC3E}">
        <p14:creationId xmlns:p14="http://schemas.microsoft.com/office/powerpoint/2010/main" val="320565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A7EE3-713C-CA7F-80ED-410BBB10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5110-26A0-4F36-38BD-B514378C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Cysteine Concentration Distribution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0656D-0CFA-DCB0-E59A-85D9CF84F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B972F-A8C5-A665-7D91-A14DFDA29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52" y="1506417"/>
            <a:ext cx="9566596" cy="47419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84521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8EA8-00F5-E828-8835-8B2AEDE4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77B0-CEBD-24FB-74E7-B37354D3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Individual Cultivar Spectra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551DB0-05A6-A1C2-C739-079C5551A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241" y="1270000"/>
            <a:ext cx="7615826" cy="53642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02098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14316-50DF-AFC0-EBC1-6C2C55D2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5F56-8D8C-9A54-F58C-9D69BAB4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All Spectra Combined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B84E4-7313-02E0-2008-C6E5F75B8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611" y="1461377"/>
            <a:ext cx="8746777" cy="52303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6474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CB9D-B4A5-22DD-3D2E-23BBAF7E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9988-B124-E58F-9B19-709AAC585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Variability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96579-0AD6-619C-F340-0B2FE167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930400"/>
            <a:ext cx="11201400" cy="37045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8848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97C8-EE3D-90AE-929B-47809DBD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900D-01D9-622B-0712-47A941CC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Proposed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C4B89-6FAF-A3BF-8A5D-72D6E578B96D}"/>
              </a:ext>
            </a:extLst>
          </p:cNvPr>
          <p:cNvSpPr/>
          <p:nvPr/>
        </p:nvSpPr>
        <p:spPr>
          <a:xfrm>
            <a:off x="390789" y="1735220"/>
            <a:ext cx="1741714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Raw Spectrum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05DE2E-DB02-0402-4084-7D7E8E6DBA1E}"/>
              </a:ext>
            </a:extLst>
          </p:cNvPr>
          <p:cNvSpPr/>
          <p:nvPr/>
        </p:nvSpPr>
        <p:spPr>
          <a:xfrm>
            <a:off x="2869435" y="1735220"/>
            <a:ext cx="2106233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Savitzky</a:t>
            </a:r>
            <a:r>
              <a:rPr lang="en-CA" dirty="0"/>
              <a:t>-Golay Smoothing</a:t>
            </a:r>
          </a:p>
          <a:p>
            <a:pPr algn="ctr"/>
            <a:r>
              <a:rPr lang="en-CA" dirty="0"/>
              <a:t>(To remove noise)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53DE9-0F90-EE60-290F-F2FC76649F0A}"/>
              </a:ext>
            </a:extLst>
          </p:cNvPr>
          <p:cNvSpPr/>
          <p:nvPr/>
        </p:nvSpPr>
        <p:spPr>
          <a:xfrm>
            <a:off x="5866083" y="1735220"/>
            <a:ext cx="1852601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Baseline Correction</a:t>
            </a:r>
            <a:r>
              <a:rPr lang="en-CA" dirty="0"/>
              <a:t> (remove fluorescence)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FEEE86-BA5F-8E34-14C7-30E4C8F722DE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132503" y="2294020"/>
            <a:ext cx="736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E1ECF9-6948-CF32-18CF-DEA68178EF82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975668" y="2294020"/>
            <a:ext cx="890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8B8430-2C03-8047-6B6D-FB9759A389BC}"/>
              </a:ext>
            </a:extLst>
          </p:cNvPr>
          <p:cNvSpPr txBox="1"/>
          <p:nvPr/>
        </p:nvSpPr>
        <p:spPr>
          <a:xfrm>
            <a:off x="677334" y="4563980"/>
            <a:ext cx="61150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Why each step: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SG Smoothing: reduces noise without distorting peaks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Baseline Correction: removes broad fluorescence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SNV: fixes the large intensity differences seen in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Derivative: enhances subtle differences between cultivars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FA643-52BF-1558-AB88-6EFC8994F42C}"/>
              </a:ext>
            </a:extLst>
          </p:cNvPr>
          <p:cNvSpPr/>
          <p:nvPr/>
        </p:nvSpPr>
        <p:spPr>
          <a:xfrm>
            <a:off x="5866082" y="3446381"/>
            <a:ext cx="1852601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SNV Normalisation</a:t>
            </a:r>
          </a:p>
          <a:p>
            <a:pPr algn="ctr"/>
            <a:r>
              <a:rPr lang="en-CA" b="1" dirty="0"/>
              <a:t>(fix intensity scaling)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E9039A-6759-DFC0-E0A0-297733EF4B2E}"/>
              </a:ext>
            </a:extLst>
          </p:cNvPr>
          <p:cNvSpPr/>
          <p:nvPr/>
        </p:nvSpPr>
        <p:spPr>
          <a:xfrm>
            <a:off x="9109712" y="3429000"/>
            <a:ext cx="2642532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1</a:t>
            </a:r>
            <a:r>
              <a:rPr lang="en-CA" b="1" baseline="30000" dirty="0"/>
              <a:t>st</a:t>
            </a:r>
            <a:r>
              <a:rPr lang="en-CA" b="1" dirty="0"/>
              <a:t> and 2</a:t>
            </a:r>
            <a:r>
              <a:rPr lang="en-CA" b="1" baseline="30000" dirty="0"/>
              <a:t>nd</a:t>
            </a:r>
            <a:r>
              <a:rPr lang="en-CA" b="1" dirty="0"/>
              <a:t> Derivative (enhance subtle </a:t>
            </a:r>
            <a:r>
              <a:rPr lang="en-CA" b="1" dirty="0" err="1"/>
              <a:t>oeak</a:t>
            </a:r>
            <a:r>
              <a:rPr lang="en-CA" b="1" dirty="0"/>
              <a:t> differences)</a:t>
            </a:r>
            <a:endParaRPr lang="en-CA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613CFB-B20C-DD02-8670-50582175E853}"/>
              </a:ext>
            </a:extLst>
          </p:cNvPr>
          <p:cNvCxnSpPr>
            <a:stCxn id="6" idx="2"/>
            <a:endCxn id="5" idx="0"/>
          </p:cNvCxnSpPr>
          <p:nvPr/>
        </p:nvCxnSpPr>
        <p:spPr>
          <a:xfrm flipH="1">
            <a:off x="6792383" y="2852820"/>
            <a:ext cx="1" cy="593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5426B9-EB95-F4E1-FE37-0C9393D833C9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7718683" y="3987800"/>
            <a:ext cx="1391029" cy="17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393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F0EB-1BBA-D145-3ACA-019F0DF06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43CF-8B4F-A0E0-75E9-C2DEE88E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Proposed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36C6AA-609F-EC45-9EB4-4BB3524FD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726699"/>
              </p:ext>
            </p:extLst>
          </p:nvPr>
        </p:nvGraphicFramePr>
        <p:xfrm>
          <a:off x="803369" y="1930400"/>
          <a:ext cx="9954278" cy="408781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49921">
                  <a:extLst>
                    <a:ext uri="{9D8B030D-6E8A-4147-A177-3AD203B41FA5}">
                      <a16:colId xmlns:a16="http://schemas.microsoft.com/office/drawing/2014/main" val="1641958184"/>
                    </a:ext>
                  </a:extLst>
                </a:gridCol>
                <a:gridCol w="7204357">
                  <a:extLst>
                    <a:ext uri="{9D8B030D-6E8A-4147-A177-3AD203B41FA5}">
                      <a16:colId xmlns:a16="http://schemas.microsoft.com/office/drawing/2014/main" val="300103237"/>
                    </a:ext>
                  </a:extLst>
                </a:gridCol>
              </a:tblGrid>
              <a:tr h="982947">
                <a:tc>
                  <a:txBody>
                    <a:bodyPr/>
                    <a:lstStyle/>
                    <a:p>
                      <a:r>
                        <a:rPr lang="en-CA" b="1" dirty="0"/>
                        <a:t>Partial Least Square Regression (PLSR)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Standard for spectroscopy, works well with small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165514"/>
                  </a:ext>
                </a:extLst>
              </a:tr>
              <a:tr h="982947">
                <a:tc>
                  <a:txBody>
                    <a:bodyPr/>
                    <a:lstStyle/>
                    <a:p>
                      <a:r>
                        <a:rPr lang="en-CA" b="1" dirty="0"/>
                        <a:t>Support Vector Regression (SVR)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Robust to overfitting, handles high emissions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862129"/>
                  </a:ext>
                </a:extLst>
              </a:tr>
              <a:tr h="982947">
                <a:tc>
                  <a:txBody>
                    <a:bodyPr/>
                    <a:lstStyle/>
                    <a:p>
                      <a:r>
                        <a:rPr lang="en-CA" b="1" dirty="0"/>
                        <a:t>Principal Component Regression (PCR)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Simple baseline comparison to PLSR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059715"/>
                  </a:ext>
                </a:extLst>
              </a:tr>
              <a:tr h="569485">
                <a:tc>
                  <a:txBody>
                    <a:bodyPr/>
                    <a:lstStyle/>
                    <a:p>
                      <a:r>
                        <a:rPr lang="en-CA" b="1" dirty="0"/>
                        <a:t>Random Forrest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Captures non-linear 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593396"/>
                  </a:ext>
                </a:extLst>
              </a:tr>
              <a:tr h="569485">
                <a:tc>
                  <a:txBody>
                    <a:bodyPr/>
                    <a:lstStyle/>
                    <a:p>
                      <a:r>
                        <a:rPr lang="en-CA" b="1" dirty="0"/>
                        <a:t>1D-CNN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Learns spectral patterns automatically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806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62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B55F-9D8D-29C9-401B-DBC6342D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7753-A881-C0A0-FC25-34D1C519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Evaluation Strategy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F3B09B-6393-200E-5D58-27A36B036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363" y="1725160"/>
            <a:ext cx="8596668" cy="3880773"/>
          </a:xfrm>
        </p:spPr>
        <p:txBody>
          <a:bodyPr/>
          <a:lstStyle/>
          <a:p>
            <a:r>
              <a:rPr lang="en-CA" dirty="0"/>
              <a:t>Why not random split?</a:t>
            </a:r>
          </a:p>
          <a:p>
            <a:pPr lvl="1"/>
            <a:r>
              <a:rPr lang="en-CA" dirty="0"/>
              <a:t>Spectra from the same cultivars share one label. </a:t>
            </a:r>
          </a:p>
          <a:p>
            <a:pPr lvl="1"/>
            <a:r>
              <a:rPr lang="en-CA" dirty="0"/>
              <a:t>Random splitting would leak information and inflate performance.</a:t>
            </a:r>
          </a:p>
          <a:p>
            <a:r>
              <a:rPr lang="en-CA" dirty="0"/>
              <a:t>Approach: Leave One Cultivar Out Cross Validation</a:t>
            </a:r>
          </a:p>
          <a:p>
            <a:pPr lvl="1"/>
            <a:r>
              <a:rPr lang="en-CA" dirty="0"/>
              <a:t>Hold out all 324 spectra from one cultivar </a:t>
            </a:r>
          </a:p>
          <a:p>
            <a:pPr lvl="1"/>
            <a:r>
              <a:rPr lang="en-CA" dirty="0"/>
              <a:t>Train on remaining 19 cultivars </a:t>
            </a:r>
          </a:p>
          <a:p>
            <a:pPr lvl="1"/>
            <a:r>
              <a:rPr lang="en-CA" dirty="0"/>
              <a:t>Predict held-out cultivar </a:t>
            </a:r>
          </a:p>
          <a:p>
            <a:pPr lvl="1"/>
            <a:r>
              <a:rPr lang="en-CA" dirty="0"/>
              <a:t>Repeat 20 times</a:t>
            </a:r>
          </a:p>
        </p:txBody>
      </p:sp>
    </p:spTree>
    <p:extLst>
      <p:ext uri="{BB962C8B-B14F-4D97-AF65-F5344CB8AC3E}">
        <p14:creationId xmlns:p14="http://schemas.microsoft.com/office/powerpoint/2010/main" val="2734570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D6F8-68D4-B533-444C-D4C0B343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DF92-D90E-B6AF-1E10-1C8A4184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995EF2-264F-149C-51C9-AA9E57A9B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Dataset fully explored: 20 cultivars, 6,480 spectra</a:t>
            </a:r>
          </a:p>
          <a:p>
            <a:r>
              <a:rPr lang="en-CA" dirty="0"/>
              <a:t>Key challenge: narrow cysteine range (0.061 g/100g spread)</a:t>
            </a:r>
          </a:p>
          <a:p>
            <a:r>
              <a:rPr lang="en-CA" dirty="0"/>
              <a:t>Preprocessing pipeline defined</a:t>
            </a:r>
          </a:p>
          <a:p>
            <a:r>
              <a:rPr lang="en-CA" dirty="0"/>
              <a:t>Modeling strategy ready</a:t>
            </a:r>
          </a:p>
        </p:txBody>
      </p:sp>
    </p:spTree>
    <p:extLst>
      <p:ext uri="{BB962C8B-B14F-4D97-AF65-F5344CB8AC3E}">
        <p14:creationId xmlns:p14="http://schemas.microsoft.com/office/powerpoint/2010/main" val="7408000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704</TotalTime>
  <Words>556</Words>
  <Application>Microsoft Office PowerPoint</Application>
  <PresentationFormat>Widescreen</PresentationFormat>
  <Paragraphs>86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Raman Spectroscopy Data Exploration &amp; Modeling Strategy for Cysteine Prediction in Pea Cultivars</vt:lpstr>
      <vt:lpstr>Dataset Overview</vt:lpstr>
      <vt:lpstr>Dataset Anomalies</vt:lpstr>
      <vt:lpstr>Cysteine Concentration Distribution</vt:lpstr>
      <vt:lpstr>Individual Cultivar Spectra</vt:lpstr>
      <vt:lpstr>All Spectra Combined</vt:lpstr>
      <vt:lpstr>Variability Analysis</vt:lpstr>
      <vt:lpstr>Proposed Preprocessing</vt:lpstr>
      <vt:lpstr>Proposed Models</vt:lpstr>
      <vt:lpstr>Evaluation Strategy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Mittal</dc:creator>
  <cp:lastModifiedBy>Priyanshu Mittal</cp:lastModifiedBy>
  <cp:revision>1</cp:revision>
  <dcterms:created xsi:type="dcterms:W3CDTF">2026-06-10T02:33:45Z</dcterms:created>
  <dcterms:modified xsi:type="dcterms:W3CDTF">2026-06-10T14:21:36Z</dcterms:modified>
</cp:coreProperties>
</file>