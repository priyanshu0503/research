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63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625" autoAdjust="0"/>
  </p:normalViewPr>
  <p:slideViewPr>
    <p:cSldViewPr snapToGrid="0">
      <p:cViewPr>
        <p:scale>
          <a:sx n="95" d="100"/>
          <a:sy n="95" d="100"/>
        </p:scale>
        <p:origin x="1194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D5ADF-E183-424C-B16C-A104EB0D60F6}" type="datetimeFigureOut">
              <a:rPr lang="en-US" smtClean="0"/>
              <a:t>2026-07-15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2D55E9-411D-48C3-8B9D-74CBF8E79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02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D55E9-411D-48C3-8B9D-74CBF8E79F7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419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Why combine CNN and LSTM:</a:t>
            </a:r>
            <a:endParaRPr lang="en-US" dirty="0"/>
          </a:p>
          <a:p>
            <a:r>
              <a:rPr lang="en-US" dirty="0"/>
              <a:t>CNN alone: great at local features, misses long range spectral relationships</a:t>
            </a:r>
          </a:p>
          <a:p>
            <a:r>
              <a:rPr lang="en-US" dirty="0"/>
              <a:t>LSTM alone: captures long range context but struggles with raw 1,530 point sequences</a:t>
            </a:r>
          </a:p>
          <a:p>
            <a:r>
              <a:rPr lang="en-US" dirty="0"/>
              <a:t>CNN-LSTM: CNN reduces sequence length from 1,530 to 191 making LSTM more efficient, while LSTM captures relationships between distant spectral regions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D55E9-411D-48C3-8B9D-74CBF8E79F7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049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5E841-CB89-4E6E-939A-B9467A045F13}" type="datetime1">
              <a:rPr lang="en-US" smtClean="0"/>
              <a:t>2026-07-15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3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3674D-8985-446B-B60D-DDA5F70769ED}" type="datetime1">
              <a:rPr lang="en-US" smtClean="0"/>
              <a:t>2026-07-15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95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08E6D-36D6-429A-BF9F-C7A2CC154865}" type="datetime1">
              <a:rPr lang="en-US" smtClean="0"/>
              <a:t>2026-07-15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33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90692-A3A9-462E-A553-7DCBDFA7B32D}" type="datetime1">
              <a:rPr lang="en-US" smtClean="0"/>
              <a:t>2026-07-15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06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91840-E378-463D-B27D-735279BA5BC7}" type="datetime1">
              <a:rPr lang="en-US" smtClean="0"/>
              <a:t>2026-07-15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62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EA2A8-54B3-4C22-8D96-677743220803}" type="datetime1">
              <a:rPr lang="en-US" smtClean="0"/>
              <a:t>2026-07-15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43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3D58D-86E6-46B5-9557-BC586FDBF3CD}" type="datetime1">
              <a:rPr lang="en-US" smtClean="0"/>
              <a:t>2026-07-15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464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A81C4-D6FF-4E4C-9D2A-69FBF17197DA}" type="datetime1">
              <a:rPr lang="en-US" smtClean="0"/>
              <a:t>2026-07-15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39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C907-6AC9-4259-8251-E5C64F0887B6}" type="datetime1">
              <a:rPr lang="en-US" smtClean="0"/>
              <a:t>2026-07-15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368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96BEC-CE95-44C1-89D5-235048EFD9F8}" type="datetime1">
              <a:rPr lang="en-US" smtClean="0"/>
              <a:t>2026-07-15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539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BDB3E-548D-47A8-AFAC-6B3F46F41D7C}" type="datetime1">
              <a:rPr lang="en-US" smtClean="0"/>
              <a:t>2026-07-15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5482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D03DE-EA3E-41E6-A0EE-970C7BEEC5D0}" type="datetime1">
              <a:rPr lang="en-US" smtClean="0"/>
              <a:t>2026-07-15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424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E4C02-2049-4212-9AF9-D0DB7EA52240}" type="datetime1">
              <a:rPr lang="en-US" smtClean="0"/>
              <a:t>2026-07-15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85033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2CED6-1827-4F32-B972-2ED6600F5FF9}" type="datetime1">
              <a:rPr lang="en-US" smtClean="0"/>
              <a:t>2026-07-15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48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F28E-815A-488A-A3BF-6B2330EFF685}" type="datetime1">
              <a:rPr lang="en-US" smtClean="0"/>
              <a:t>2026-07-15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232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E97CE-92E5-4626-A279-B43755DEBD05}" type="datetime1">
              <a:rPr lang="en-US" smtClean="0"/>
              <a:t>2026-07-15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352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56958-3429-4699-86F4-71777491F334}" type="datetime1">
              <a:rPr lang="en-US" smtClean="0"/>
              <a:t>2026-07-15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1890282-EE28-47A1-B447-4863ECE2D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957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61C0A-A8F3-2A1B-A8FB-9087385628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3200" dirty="0"/>
              <a:t>Cysteine Prediction in Pea Cultivars using Raman Spectroscopy and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717358-5D98-0662-83DA-CA73DE004C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CA" dirty="0"/>
              <a:t>July 16, 2026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97243-4E3E-05FA-C24C-D6695CD9E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8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B3727-B6F1-6CED-52FB-5A8520CD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LSTM – Long Short-Term Memory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E0322-7FB6-FB82-D0E3-27BCDC2C4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21514" cy="3880773"/>
          </a:xfrm>
        </p:spPr>
        <p:txBody>
          <a:bodyPr/>
          <a:lstStyle/>
          <a:p>
            <a:r>
              <a:rPr lang="en-US" dirty="0"/>
              <a:t>LSTM stands for Long Short-Term Memory, a type of recurrent neural network (RNN) designed to handle sequences where context from much earlier in the input still matters.</a:t>
            </a:r>
          </a:p>
          <a:p>
            <a:r>
              <a:rPr lang="en-US" dirty="0"/>
              <a:t>The core idea behind LSTMs is a gating mechanism that regulates information flow through the network.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6EC4C-8B2D-F060-2457-71AB4D995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 descr="LSTM Cell">
            <a:extLst>
              <a:ext uri="{FF2B5EF4-FFF2-40B4-BE49-F238E27FC236}">
                <a16:creationId xmlns:a16="http://schemas.microsoft.com/office/drawing/2014/main" id="{C0692481-F966-4F4B-01EE-9A487A4DF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179" y="1797651"/>
            <a:ext cx="6505046" cy="374802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142754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9E4C6-6A86-9409-A13B-4697C288B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KEY CONCEPT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5E2AE-BEE1-BEEF-909C-C827FB15A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9925"/>
            <a:ext cx="8596668" cy="3880773"/>
          </a:xfrm>
        </p:spPr>
        <p:txBody>
          <a:bodyPr/>
          <a:lstStyle/>
          <a:p>
            <a:r>
              <a:rPr lang="en-US" dirty="0"/>
              <a:t>Unlike CNN which looks at local windows, LSTM maintains a memory that carries information across the entire 1,530-point sequence. It decides what to remember, what to forget, and what to output at each step using three gates: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Bidirectional LSTM:</a:t>
            </a:r>
            <a:br>
              <a:rPr lang="en-US" dirty="0"/>
            </a:br>
            <a:r>
              <a:rPr lang="en-US" dirty="0"/>
              <a:t>Our LSTM reads the spectrum in both directions simultaneously: left to right AND right to left. This means a peak at 200 cm⁻¹ can influence the prediction based on what happens at 1,500 cm⁻¹ and vice versa.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4BD1C-C6D2-19FC-1396-41E44C66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0819A2-CE0E-2ADD-7657-9B419010C940}"/>
              </a:ext>
            </a:extLst>
          </p:cNvPr>
          <p:cNvSpPr/>
          <p:nvPr/>
        </p:nvSpPr>
        <p:spPr>
          <a:xfrm>
            <a:off x="1121472" y="2468880"/>
            <a:ext cx="7708392" cy="960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Input gate   → decides what new information to store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Forget gate  → decides what old information to discard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Output gate  → decides what to pass to the next step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9FB467-F5CE-549B-33F5-1F17D6DED9D6}"/>
              </a:ext>
            </a:extLst>
          </p:cNvPr>
          <p:cNvSpPr/>
          <p:nvPr/>
        </p:nvSpPr>
        <p:spPr>
          <a:xfrm>
            <a:off x="1121472" y="4958015"/>
            <a:ext cx="7708392" cy="960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Forward LSTM:   97.8 cm⁻¹ → 200 cm⁻¹ → ... → 3361.7 cm⁻¹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Backward LSTM:  3361.7 cm⁻¹ → ... → 200 cm⁻¹ → 97.8 cm⁻¹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Combined output at each step</a:t>
            </a:r>
          </a:p>
        </p:txBody>
      </p:sp>
    </p:spTree>
    <p:extLst>
      <p:ext uri="{BB962C8B-B14F-4D97-AF65-F5344CB8AC3E}">
        <p14:creationId xmlns:p14="http://schemas.microsoft.com/office/powerpoint/2010/main" val="1663809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83064-BA7F-21B1-8678-ADFA764AA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65480"/>
            <a:ext cx="8596668" cy="1320800"/>
          </a:xfrm>
        </p:spPr>
        <p:txBody>
          <a:bodyPr/>
          <a:lstStyle/>
          <a:p>
            <a:r>
              <a:rPr lang="en-CA" dirty="0"/>
              <a:t>LSTM - </a:t>
            </a:r>
            <a:r>
              <a:rPr lang="en-US" dirty="0"/>
              <a:t>Architecture: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9CBF9-F1D5-4162-189A-78DD1E751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ADDAB1-630E-39A3-F03C-70EFDF2001A5}"/>
              </a:ext>
            </a:extLst>
          </p:cNvPr>
          <p:cNvSpPr txBox="1"/>
          <p:nvPr/>
        </p:nvSpPr>
        <p:spPr>
          <a:xfrm>
            <a:off x="6096000" y="2110826"/>
            <a:ext cx="57108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Total parameters:</a:t>
            </a:r>
            <a:r>
              <a:rPr lang="en-US" dirty="0"/>
              <a:t> 545,921 : lightest of all three DL models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48F0D92-4546-BC0A-35D3-E4D270BF64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3" y="1718461"/>
            <a:ext cx="4889453" cy="501699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71061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FE129-864C-4830-9303-1D8FC6A76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Code Step by 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4AC7B-DC57-BCD6-2721-3872DAF57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2474"/>
            <a:ext cx="8596668" cy="3880773"/>
          </a:xfrm>
        </p:spPr>
        <p:txBody>
          <a:bodyPr>
            <a:normAutofit lnSpcReduction="10000"/>
          </a:bodyPr>
          <a:lstStyle/>
          <a:p>
            <a:r>
              <a:rPr lang="en-CA" dirty="0"/>
              <a:t>Step – 1: Reshape Input: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Step - 2: </a:t>
            </a:r>
            <a:r>
              <a:rPr lang="en-US" dirty="0"/>
              <a:t>Bidirectional LSTM processes sequence: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Step – 3: Fully Connected prediction: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814B6-11A7-8912-0082-46C95062B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34FC44-0A26-1C10-B049-184E33D61AEF}"/>
              </a:ext>
            </a:extLst>
          </p:cNvPr>
          <p:cNvSpPr/>
          <p:nvPr/>
        </p:nvSpPr>
        <p:spPr>
          <a:xfrm>
            <a:off x="1106424" y="1930400"/>
            <a:ext cx="7571232" cy="10058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Raw spectrum: (batch, 1530)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Reshaped to:  (batch, 1530, 1)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↑ each wavenumber = one time step with 1 feature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158E0E-3F41-4BB1-3C73-0DF8E0091492}"/>
              </a:ext>
            </a:extLst>
          </p:cNvPr>
          <p:cNvSpPr/>
          <p:nvPr/>
        </p:nvSpPr>
        <p:spPr>
          <a:xfrm>
            <a:off x="1106424" y="3472860"/>
            <a:ext cx="7571232" cy="12279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Forward pass:  reads from wavenumber 97.8 to 3361.7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Backward pass: reads from wavenumber 3361.7 to 97.8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At each step: outputs 128 + 128 = 256 features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Final output: last time step → (batch, 256)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2B1B69-CCA8-A1CA-D7D2-2F3214EC14CA}"/>
              </a:ext>
            </a:extLst>
          </p:cNvPr>
          <p:cNvSpPr/>
          <p:nvPr/>
        </p:nvSpPr>
        <p:spPr>
          <a:xfrm>
            <a:off x="1106424" y="5286031"/>
            <a:ext cx="7571232" cy="7553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256 features → 64 → 1 (cysteine value)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Dropout 0.3 applied between layers</a:t>
            </a:r>
          </a:p>
        </p:txBody>
      </p:sp>
    </p:spTree>
    <p:extLst>
      <p:ext uri="{BB962C8B-B14F-4D97-AF65-F5344CB8AC3E}">
        <p14:creationId xmlns:p14="http://schemas.microsoft.com/office/powerpoint/2010/main" val="3481615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EFE6F-8D8B-8798-F756-E52947690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Code Step by 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0239E-1453-120F-CB33-F1D300CEC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1093"/>
            <a:ext cx="8596668" cy="3880773"/>
          </a:xfrm>
        </p:spPr>
        <p:txBody>
          <a:bodyPr/>
          <a:lstStyle/>
          <a:p>
            <a:r>
              <a:rPr lang="en-CA" dirty="0"/>
              <a:t>Step – 4: </a:t>
            </a:r>
            <a:r>
              <a:rPr lang="en-US" dirty="0"/>
              <a:t>Key difference from CNN: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Step – 5: </a:t>
            </a:r>
            <a:r>
              <a:rPr lang="en-US" dirty="0"/>
              <a:t>Why LSTM is slower than CNN:</a:t>
            </a:r>
            <a:r>
              <a:rPr lang="en-CA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85C78-A11D-286A-6968-3E18F20D8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6679DD-0BD6-C472-122C-0360A70CAD14}"/>
              </a:ext>
            </a:extLst>
          </p:cNvPr>
          <p:cNvSpPr/>
          <p:nvPr/>
        </p:nvSpPr>
        <p:spPr>
          <a:xfrm>
            <a:off x="914400" y="2130552"/>
            <a:ext cx="8110728" cy="9509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CNN:  sliding window sees 5 consecutive points at a time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LSTM: sees ALL 1530 points sequentially, remembers context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A592C1-2469-AB08-CC34-02B9665699F0}"/>
              </a:ext>
            </a:extLst>
          </p:cNvPr>
          <p:cNvSpPr/>
          <p:nvPr/>
        </p:nvSpPr>
        <p:spPr>
          <a:xfrm>
            <a:off x="914400" y="3740009"/>
            <a:ext cx="8110728" cy="9509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CNN:  convolves all positions simultaneously (parallel)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LSTM: must process each of 1530 time steps sequentially (Cannot be fully </a:t>
            </a:r>
            <a:r>
              <a:rPr lang="en-US" dirty="0" err="1">
                <a:solidFill>
                  <a:sysClr val="windowText" lastClr="000000"/>
                </a:solidFill>
              </a:rPr>
              <a:t>parallelised</a:t>
            </a:r>
            <a:r>
              <a:rPr lang="en-US" dirty="0">
                <a:solidFill>
                  <a:sysClr val="windowText" lastClr="000000"/>
                </a:solidFill>
              </a:rPr>
              <a:t> — slower on GPU)</a:t>
            </a:r>
          </a:p>
        </p:txBody>
      </p:sp>
    </p:spTree>
    <p:extLst>
      <p:ext uri="{BB962C8B-B14F-4D97-AF65-F5344CB8AC3E}">
        <p14:creationId xmlns:p14="http://schemas.microsoft.com/office/powerpoint/2010/main" val="1310392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C837D-E166-69E0-65E3-37CEC26B6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Preprocessing Comparison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561A2F-1F13-9AE2-F1C6-B0D6F25363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2160589"/>
                <a:ext cx="11014994" cy="5026595"/>
              </a:xfrm>
            </p:spPr>
            <p:txBody>
              <a:bodyPr>
                <a:normAutofit/>
              </a:bodyPr>
              <a:lstStyle/>
              <a:p>
                <a:endParaRPr lang="en-CA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SG + MSC performs best for both 80/20 and LOCO. MSC corrects multiplicative scattering effects, which benefits sequential processing. </a:t>
                </a:r>
              </a:p>
              <a:p>
                <a:r>
                  <a:rPr lang="en-US" dirty="0"/>
                  <a:t>80/20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is very low across all combinations. LSTM struggles with within cultivar discrimination.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561A2F-1F13-9AE2-F1C6-B0D6F25363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2160589"/>
                <a:ext cx="11014994" cy="5026595"/>
              </a:xfrm>
              <a:blipFill>
                <a:blip r:embed="rId2"/>
                <a:stretch>
                  <a:fillRect l="-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60E10-4F2C-B5DB-E9BB-329218FE8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806D26-FC73-B03F-B199-DEBC84B02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641571"/>
              </p:ext>
            </p:extLst>
          </p:nvPr>
        </p:nvGraphicFramePr>
        <p:xfrm>
          <a:off x="677334" y="1417354"/>
          <a:ext cx="11149902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0660">
                  <a:extLst>
                    <a:ext uri="{9D8B030D-6E8A-4147-A177-3AD203B41FA5}">
                      <a16:colId xmlns:a16="http://schemas.microsoft.com/office/drawing/2014/main" val="3133076510"/>
                    </a:ext>
                  </a:extLst>
                </a:gridCol>
                <a:gridCol w="1783830">
                  <a:extLst>
                    <a:ext uri="{9D8B030D-6E8A-4147-A177-3AD203B41FA5}">
                      <a16:colId xmlns:a16="http://schemas.microsoft.com/office/drawing/2014/main" val="3442516933"/>
                    </a:ext>
                  </a:extLst>
                </a:gridCol>
                <a:gridCol w="1410461">
                  <a:extLst>
                    <a:ext uri="{9D8B030D-6E8A-4147-A177-3AD203B41FA5}">
                      <a16:colId xmlns:a16="http://schemas.microsoft.com/office/drawing/2014/main" val="415458226"/>
                    </a:ext>
                  </a:extLst>
                </a:gridCol>
                <a:gridCol w="1858317">
                  <a:extLst>
                    <a:ext uri="{9D8B030D-6E8A-4147-A177-3AD203B41FA5}">
                      <a16:colId xmlns:a16="http://schemas.microsoft.com/office/drawing/2014/main" val="2713543064"/>
                    </a:ext>
                  </a:extLst>
                </a:gridCol>
                <a:gridCol w="1858317">
                  <a:extLst>
                    <a:ext uri="{9D8B030D-6E8A-4147-A177-3AD203B41FA5}">
                      <a16:colId xmlns:a16="http://schemas.microsoft.com/office/drawing/2014/main" val="3465387838"/>
                    </a:ext>
                  </a:extLst>
                </a:gridCol>
                <a:gridCol w="1858317">
                  <a:extLst>
                    <a:ext uri="{9D8B030D-6E8A-4147-A177-3AD203B41FA5}">
                      <a16:colId xmlns:a16="http://schemas.microsoft.com/office/drawing/2014/main" val="26880104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RMSE 80/20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R² 80/20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RMSE LOCO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R² LOCO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RPD LOCO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7330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SG + SNV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0.0162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0.0202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0.0114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0.5236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1.4488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7252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SG + MSC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0.0143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0.2348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0.0091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0.6918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1.8014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935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SG + 1st Deriv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0.0163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0.0113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0.0109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0.5605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1.5085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0076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SG + 2nd Deriv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0.0163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0.0061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0.0115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0.5143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1.4349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7671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SG + SNV + 1st 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0.0164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0.0112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0.5364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1.4687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8765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SG + SNV + 2nd 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0.0164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0.0112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0.5366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1.4690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825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SG + MSC + 1st 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0.0161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0.0372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0.0109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0.5605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1.5085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8854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SG + MSC + 2nd 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0.0162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0.0225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0.0115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0.5143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1.4349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6921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0.0161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0.0335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0.0093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0.6772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1.7602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7264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7533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F34CB-D980-ACDB-447F-DA0CC01AE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A34A9-999B-57DE-C7F5-F2BFA5C2E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Final Results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446288-8D6A-AFEF-402C-A11584720F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4917613"/>
                <a:ext cx="11389748" cy="3880773"/>
              </a:xfrm>
            </p:spPr>
            <p:txBody>
              <a:bodyPr/>
              <a:lstStyle/>
              <a:p>
                <a:r>
                  <a:rPr lang="en-US" b="1" dirty="0"/>
                  <a:t>LOCO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𝟔𝟗</m:t>
                    </m:r>
                  </m:oMath>
                </a14:m>
                <a:r>
                  <a:rPr lang="en-US" b="1" dirty="0"/>
                  <a:t>: Good generalization to unseen cultivars. </a:t>
                </a:r>
              </a:p>
              <a:p>
                <a:r>
                  <a:rPr lang="en-US" b="1" dirty="0"/>
                  <a:t>80/20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𝟐𝟑</m:t>
                    </m:r>
                  </m:oMath>
                </a14:m>
                <a:r>
                  <a:rPr lang="en-US" b="1" dirty="0"/>
                  <a:t>: Weak within cultivar discrimination compared with CNN and CNN LSTM.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446288-8D6A-AFEF-402C-A11584720F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4917613"/>
                <a:ext cx="11389748" cy="3880773"/>
              </a:xfrm>
              <a:blipFill>
                <a:blip r:embed="rId2"/>
                <a:stretch>
                  <a:fillRect l="-107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9B75E-1A17-C888-7918-23D7C307B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95A9C1-AF8F-A493-0BC5-8DD2AD1A22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60944"/>
              </p:ext>
            </p:extLst>
          </p:nvPr>
        </p:nvGraphicFramePr>
        <p:xfrm>
          <a:off x="6987699" y="1421345"/>
          <a:ext cx="480906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171">
                  <a:extLst>
                    <a:ext uri="{9D8B030D-6E8A-4147-A177-3AD203B41FA5}">
                      <a16:colId xmlns:a16="http://schemas.microsoft.com/office/drawing/2014/main" val="81534805"/>
                    </a:ext>
                  </a:extLst>
                </a:gridCol>
                <a:gridCol w="1558977">
                  <a:extLst>
                    <a:ext uri="{9D8B030D-6E8A-4147-A177-3AD203B41FA5}">
                      <a16:colId xmlns:a16="http://schemas.microsoft.com/office/drawing/2014/main" val="725993526"/>
                    </a:ext>
                  </a:extLst>
                </a:gridCol>
                <a:gridCol w="1648918">
                  <a:extLst>
                    <a:ext uri="{9D8B030D-6E8A-4147-A177-3AD203B41FA5}">
                      <a16:colId xmlns:a16="http://schemas.microsoft.com/office/drawing/2014/main" val="3501916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80/20 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LOCOCV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707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0.0143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0.0091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2340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0.2348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0.6918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0934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RPD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1.1432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1.8014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0329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SG + MSC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SG + MSC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904825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BE10E86-F681-51EC-98B9-9D8EF3D8D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1405434"/>
            <a:ext cx="5943600" cy="29216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29688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DB20B-7F84-CE0C-0607-83A0D2AFB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3DD1A-F9B5-826B-73BA-463E607CC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CNN-LSTM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4FC40-C17B-289F-80E1-63F0D6677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21514" cy="3880773"/>
          </a:xfrm>
        </p:spPr>
        <p:txBody>
          <a:bodyPr/>
          <a:lstStyle/>
          <a:p>
            <a:r>
              <a:rPr lang="en-US" dirty="0"/>
              <a:t>The CNN LSTM architecture involves using Convolutional Neural Network (CNN) layers for feature extraction on input data combined with LSTMs to support sequence prediction.</a:t>
            </a:r>
          </a:p>
          <a:p>
            <a:r>
              <a:rPr lang="en-US" dirty="0"/>
              <a:t>A CNN LSTM can be defined by adding CNN layers on the front end followed by LSTM layers with a Dense layer on the output.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9756B-104C-A3AB-BC4E-EE64BA1EF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 descr="The Prediction of Transmission Towers’ Foundation Ground Subsidence in ...">
            <a:extLst>
              <a:ext uri="{FF2B5EF4-FFF2-40B4-BE49-F238E27FC236}">
                <a16:creationId xmlns:a16="http://schemas.microsoft.com/office/drawing/2014/main" id="{E108EE9E-E2A9-9E56-8637-E80F86779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668" y="2160589"/>
            <a:ext cx="6189697" cy="212212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91310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D8719-16E3-B751-138D-2F3C3C96F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Key Concept – CNN LSTM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1C8EF-BBBC-4718-275E-719FF97BF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7998" y="1930400"/>
            <a:ext cx="8596668" cy="3880773"/>
          </a:xfrm>
        </p:spPr>
        <p:txBody>
          <a:bodyPr/>
          <a:lstStyle/>
          <a:p>
            <a:r>
              <a:rPr lang="en-US" dirty="0"/>
              <a:t>CNN extracts local peak features from the spectrum.</a:t>
            </a:r>
          </a:p>
          <a:p>
            <a:r>
              <a:rPr lang="en-US" dirty="0"/>
              <a:t>Compresses 1,530 spectral points into 191 feature vectors.</a:t>
            </a:r>
          </a:p>
          <a:p>
            <a:r>
              <a:rPr lang="en-US" dirty="0"/>
              <a:t>LSTM processes these feature vectors as a sequence.</a:t>
            </a:r>
          </a:p>
          <a:p>
            <a:r>
              <a:rPr lang="en-US" dirty="0"/>
              <a:t>Captures long range relationships between spectral regions.</a:t>
            </a:r>
          </a:p>
          <a:p>
            <a:r>
              <a:rPr lang="en-US" dirty="0"/>
              <a:t>Combines local feature extraction with sequential learning for improved performance.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24A06-E760-78FF-081E-6968E90E9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 descr="Convolutional Neural Network Long Short-Term Memory Network Architecture">
            <a:extLst>
              <a:ext uri="{FF2B5EF4-FFF2-40B4-BE49-F238E27FC236}">
                <a16:creationId xmlns:a16="http://schemas.microsoft.com/office/drawing/2014/main" id="{893AB3AF-7A53-6A0B-1C42-68F4CD41C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376" y="1607736"/>
            <a:ext cx="1624638" cy="512601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40894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AA231-6703-4B69-6FC8-AF39F019A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859" y="390525"/>
            <a:ext cx="8596668" cy="1320800"/>
          </a:xfrm>
        </p:spPr>
        <p:txBody>
          <a:bodyPr/>
          <a:lstStyle/>
          <a:p>
            <a:r>
              <a:rPr lang="en-CA" dirty="0"/>
              <a:t>CNN-LSTM ARCHITECTURE	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A6AFE6C-BA48-9CE0-996D-7916379F54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2517"/>
          <a:stretch>
            <a:fillRect/>
          </a:stretch>
        </p:blipFill>
        <p:spPr>
          <a:xfrm>
            <a:off x="639859" y="1398497"/>
            <a:ext cx="3777563" cy="464445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66089-DF88-0195-576A-815E9DF17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223924"/>
            <a:ext cx="683339" cy="365125"/>
          </a:xfrm>
        </p:spPr>
        <p:txBody>
          <a:bodyPr/>
          <a:lstStyle/>
          <a:p>
            <a:fld id="{D1890282-EE28-47A1-B447-4863ECE2D380}" type="slidenum">
              <a:rPr lang="en-US" smtClean="0"/>
              <a:t>11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BC226D-8389-8A2C-C667-E8CE082B3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8962" y="1398497"/>
            <a:ext cx="3691701" cy="464445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717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88C82-D62D-8E7C-FC52-522ED15CB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59" y="657225"/>
            <a:ext cx="8596668" cy="1320800"/>
          </a:xfrm>
        </p:spPr>
        <p:txBody>
          <a:bodyPr/>
          <a:lstStyle/>
          <a:p>
            <a:r>
              <a:rPr lang="en-US" dirty="0"/>
              <a:t>CNN-LSTM Code Step by 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36382-A713-4D02-CC88-5466015C9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559" y="1559258"/>
            <a:ext cx="8596668" cy="3880773"/>
          </a:xfrm>
        </p:spPr>
        <p:txBody>
          <a:bodyPr/>
          <a:lstStyle/>
          <a:p>
            <a:r>
              <a:rPr lang="en-CA" dirty="0"/>
              <a:t>Step 1: </a:t>
            </a:r>
            <a:r>
              <a:rPr lang="en-US" dirty="0"/>
              <a:t>CNN extracts features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Step 2: Reshape for LSTM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1E305-2ADE-E1FA-1CAA-DDC5136BC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85888" y="6088987"/>
            <a:ext cx="683339" cy="365125"/>
          </a:xfrm>
        </p:spPr>
        <p:txBody>
          <a:bodyPr/>
          <a:lstStyle/>
          <a:p>
            <a:fld id="{D1890282-EE28-47A1-B447-4863ECE2D380}" type="slidenum">
              <a:rPr lang="en-US" smtClean="0"/>
              <a:t>12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697125-7D16-9AB5-4312-1AD88E626811}"/>
              </a:ext>
            </a:extLst>
          </p:cNvPr>
          <p:cNvSpPr/>
          <p:nvPr/>
        </p:nvSpPr>
        <p:spPr>
          <a:xfrm>
            <a:off x="962025" y="1978025"/>
            <a:ext cx="7523863" cy="20764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Input:  (batch, 1530)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  ↓ </a:t>
            </a:r>
            <a:r>
              <a:rPr lang="en-US" dirty="0" err="1">
                <a:solidFill>
                  <a:sysClr val="windowText" lastClr="000000"/>
                </a:solidFill>
              </a:rPr>
              <a:t>unsqueeze</a:t>
            </a:r>
            <a:endParaRPr lang="en-US" dirty="0">
              <a:solidFill>
                <a:sysClr val="windowText" lastClr="000000"/>
              </a:solidFill>
            </a:endParaRPr>
          </a:p>
          <a:p>
            <a:r>
              <a:rPr lang="en-US" dirty="0">
                <a:solidFill>
                  <a:sysClr val="windowText" lastClr="000000"/>
                </a:solidFill>
              </a:rPr>
              <a:t>        (batch, 1, 1530)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  ↓ 3 Conv blocks with </a:t>
            </a:r>
            <a:r>
              <a:rPr lang="en-US" dirty="0" err="1">
                <a:solidFill>
                  <a:sysClr val="windowText" lastClr="000000"/>
                </a:solidFill>
              </a:rPr>
              <a:t>MaxPool</a:t>
            </a:r>
            <a:endParaRPr lang="en-US" dirty="0">
              <a:solidFill>
                <a:sysClr val="windowText" lastClr="000000"/>
              </a:solidFill>
            </a:endParaRPr>
          </a:p>
          <a:p>
            <a:r>
              <a:rPr lang="en-US" dirty="0">
                <a:solidFill>
                  <a:sysClr val="windowText" lastClr="000000"/>
                </a:solidFill>
              </a:rPr>
              <a:t>        (batch, 64, 191)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  1530 / 2 / 2 / 2 = 191 time steps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  each with 64 learned features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D54F20-081A-4788-8313-4A772B0791CF}"/>
              </a:ext>
            </a:extLst>
          </p:cNvPr>
          <p:cNvSpPr/>
          <p:nvPr/>
        </p:nvSpPr>
        <p:spPr>
          <a:xfrm>
            <a:off x="962025" y="4762170"/>
            <a:ext cx="7523863" cy="13268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CNN output: (batch, 64, 191)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      ↓ permute dimensions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LSTM input: (batch, 191, 64)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      191 time steps, 64 features each</a:t>
            </a:r>
          </a:p>
        </p:txBody>
      </p:sp>
    </p:spTree>
    <p:extLst>
      <p:ext uri="{BB962C8B-B14F-4D97-AF65-F5344CB8AC3E}">
        <p14:creationId xmlns:p14="http://schemas.microsoft.com/office/powerpoint/2010/main" val="2041638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8BC2C-581C-9FE8-2877-A8A9F5F52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CNN-LSTM Code Step by 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2623E-9F45-277F-A469-7FE39DF9E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r>
              <a:rPr lang="en-US" dirty="0"/>
              <a:t>Step 3 : LSTM reads feature sequence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Step 4 : Final prediction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6AAFB-994E-C95D-1330-EE969E7C5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13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ADB13B-28D7-457F-9E83-144145AAAE42}"/>
              </a:ext>
            </a:extLst>
          </p:cNvPr>
          <p:cNvSpPr/>
          <p:nvPr/>
        </p:nvSpPr>
        <p:spPr>
          <a:xfrm>
            <a:off x="1066800" y="1930400"/>
            <a:ext cx="7523863" cy="14351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Bidirectional LSTM processes 191 steps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Forward:  step 1 → step 2 → ... → step 191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Backward: step 191 → ... → step 1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Last step output: (batch, 256)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A6B497-9A40-4644-4E2C-BE4997DE7DA2}"/>
              </a:ext>
            </a:extLst>
          </p:cNvPr>
          <p:cNvSpPr/>
          <p:nvPr/>
        </p:nvSpPr>
        <p:spPr>
          <a:xfrm>
            <a:off x="1066799" y="4037476"/>
            <a:ext cx="7523863" cy="5154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256 → 64 → 1 (cysteine value)</a:t>
            </a:r>
          </a:p>
        </p:txBody>
      </p:sp>
    </p:spTree>
    <p:extLst>
      <p:ext uri="{BB962C8B-B14F-4D97-AF65-F5344CB8AC3E}">
        <p14:creationId xmlns:p14="http://schemas.microsoft.com/office/powerpoint/2010/main" val="552625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5F79D-0458-60FA-87D0-5483AACC5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84" y="609600"/>
            <a:ext cx="8596668" cy="1320800"/>
          </a:xfrm>
        </p:spPr>
        <p:txBody>
          <a:bodyPr/>
          <a:lstStyle/>
          <a:p>
            <a:r>
              <a:rPr lang="en-US" dirty="0"/>
              <a:t>Key advantage over standalone LSTM: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D7F2692-5C83-850D-35E7-6EDFA24193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7126820"/>
              </p:ext>
            </p:extLst>
          </p:nvPr>
        </p:nvGraphicFramePr>
        <p:xfrm>
          <a:off x="677334" y="1684337"/>
          <a:ext cx="8714316" cy="2573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717">
                  <a:extLst>
                    <a:ext uri="{9D8B030D-6E8A-4147-A177-3AD203B41FA5}">
                      <a16:colId xmlns:a16="http://schemas.microsoft.com/office/drawing/2014/main" val="2424922209"/>
                    </a:ext>
                  </a:extLst>
                </a:gridCol>
                <a:gridCol w="3038827">
                  <a:extLst>
                    <a:ext uri="{9D8B030D-6E8A-4147-A177-3AD203B41FA5}">
                      <a16:colId xmlns:a16="http://schemas.microsoft.com/office/drawing/2014/main" val="1449770558"/>
                    </a:ext>
                  </a:extLst>
                </a:gridCol>
                <a:gridCol w="2904772">
                  <a:extLst>
                    <a:ext uri="{9D8B030D-6E8A-4147-A177-3AD203B41FA5}">
                      <a16:colId xmlns:a16="http://schemas.microsoft.com/office/drawing/2014/main" val="3980738119"/>
                    </a:ext>
                  </a:extLst>
                </a:gridCol>
              </a:tblGrid>
              <a:tr h="433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Model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Processing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Efficiency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044040"/>
                  </a:ext>
                </a:extLst>
              </a:tr>
              <a:tr h="1069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LSTM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Processes all </a:t>
                      </a:r>
                      <a:r>
                        <a:rPr lang="en-US" b="1"/>
                        <a:t>1,530 raw spectral points</a:t>
                      </a:r>
                      <a:r>
                        <a:rPr lang="en-US"/>
                        <a:t> sequentially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Slow due to long sequence length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1882966"/>
                  </a:ext>
                </a:extLst>
              </a:tr>
              <a:tr h="1069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CNN LSTM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CNN compresses the input to </a:t>
                      </a:r>
                      <a:r>
                        <a:rPr lang="en-US" b="1"/>
                        <a:t>191 feature vectors</a:t>
                      </a:r>
                      <a:r>
                        <a:rPr lang="en-US"/>
                        <a:t> before LSTM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8× fewer LSTM steps</a:t>
                      </a:r>
                      <a:r>
                        <a:rPr lang="en-US" dirty="0"/>
                        <a:t>, faster and more meaningful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947075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705CB-CF81-472E-FBD4-F563DAB56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06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A5B0B-914B-29A4-1F2B-F137217EC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CNN-LSTM Preprocessing Comparison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BC543A-3461-EFDE-6F75-3E8CE034B1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8258" y="4927601"/>
                <a:ext cx="9828741" cy="3880773"/>
              </a:xfrm>
            </p:spPr>
            <p:txBody>
              <a:bodyPr/>
              <a:lstStyle/>
              <a:p>
                <a:r>
                  <a:rPr lang="en-US" dirty="0"/>
                  <a:t>SG + SNV performs best for LOCO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b="0" i="1"/>
                          <m:t>𝑅</m:t>
                        </m:r>
                      </m:e>
                      <m:sup>
                        <m:r>
                          <a:rPr lang="en-US" b="0"/>
                          <m:t>2</m:t>
                        </m:r>
                      </m:sup>
                    </m:sSup>
                    <m:r>
                      <a:rPr lang="en-US" b="0"/>
                      <m:t>=0.7282</m:t>
                    </m:r>
                  </m:oMath>
                </a14:m>
                <a:r>
                  <a:rPr lang="en-US" dirty="0"/>
                  <a:t>), unlike standalone CNN where raw spectra performed best. </a:t>
                </a:r>
              </a:p>
              <a:p>
                <a:r>
                  <a:rPr lang="en-US" dirty="0"/>
                  <a:t>80/20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 b="0" i="1"/>
                          <m:t>𝑅</m:t>
                        </m:r>
                      </m:e>
                      <m:sup>
                        <m:r>
                          <a:rPr lang="en-US" b="0"/>
                          <m:t>2</m:t>
                        </m:r>
                      </m:sup>
                    </m:sSup>
                    <m:r>
                      <a:rPr lang="en-US" b="0"/>
                      <m:t>=0.25</m:t>
                    </m:r>
                  </m:oMath>
                </a14:m>
                <a:r>
                  <a:rPr lang="en-US" dirty="0"/>
                  <a:t>, indicating limited within cultivar discrimination, similar to the standalone LSTM.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BC543A-3461-EFDE-6F75-3E8CE034B1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8258" y="4927601"/>
                <a:ext cx="9828741" cy="3880773"/>
              </a:xfrm>
              <a:blipFill>
                <a:blip r:embed="rId2"/>
                <a:stretch>
                  <a:fillRect l="-124" t="-785" r="-1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43A95-8769-926C-7075-C2CD9B05B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1447323-E5D3-A7F1-B58E-857015182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050687"/>
              </p:ext>
            </p:extLst>
          </p:nvPr>
        </p:nvGraphicFramePr>
        <p:xfrm>
          <a:off x="677334" y="1433485"/>
          <a:ext cx="9305926" cy="3221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533">
                  <a:extLst>
                    <a:ext uri="{9D8B030D-6E8A-4147-A177-3AD203B41FA5}">
                      <a16:colId xmlns:a16="http://schemas.microsoft.com/office/drawing/2014/main" val="715126857"/>
                    </a:ext>
                  </a:extLst>
                </a:gridCol>
                <a:gridCol w="1468442">
                  <a:extLst>
                    <a:ext uri="{9D8B030D-6E8A-4147-A177-3AD203B41FA5}">
                      <a16:colId xmlns:a16="http://schemas.microsoft.com/office/drawing/2014/main" val="3031973060"/>
                    </a:ext>
                  </a:extLst>
                </a:gridCol>
                <a:gridCol w="1550988">
                  <a:extLst>
                    <a:ext uri="{9D8B030D-6E8A-4147-A177-3AD203B41FA5}">
                      <a16:colId xmlns:a16="http://schemas.microsoft.com/office/drawing/2014/main" val="553912839"/>
                    </a:ext>
                  </a:extLst>
                </a:gridCol>
                <a:gridCol w="1550988">
                  <a:extLst>
                    <a:ext uri="{9D8B030D-6E8A-4147-A177-3AD203B41FA5}">
                      <a16:colId xmlns:a16="http://schemas.microsoft.com/office/drawing/2014/main" val="1773193009"/>
                    </a:ext>
                  </a:extLst>
                </a:gridCol>
                <a:gridCol w="1546641">
                  <a:extLst>
                    <a:ext uri="{9D8B030D-6E8A-4147-A177-3AD203B41FA5}">
                      <a16:colId xmlns:a16="http://schemas.microsoft.com/office/drawing/2014/main" val="989489131"/>
                    </a:ext>
                  </a:extLst>
                </a:gridCol>
                <a:gridCol w="1555334">
                  <a:extLst>
                    <a:ext uri="{9D8B030D-6E8A-4147-A177-3AD203B41FA5}">
                      <a16:colId xmlns:a16="http://schemas.microsoft.com/office/drawing/2014/main" val="1114074308"/>
                    </a:ext>
                  </a:extLst>
                </a:gridCol>
              </a:tblGrid>
              <a:tr h="367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RMSE 80/20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R² 80/20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RMSE LOCO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R² LOCO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RPD LOCO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704355"/>
                  </a:ext>
                </a:extLst>
              </a:tr>
              <a:tr h="247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SG + SNV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0.0142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0.2496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0.0086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0.7282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1.9183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166272"/>
                  </a:ext>
                </a:extLst>
              </a:tr>
              <a:tr h="247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SG + MSC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0.0141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0.2547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0.0091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0.6937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1.8068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443721"/>
                  </a:ext>
                </a:extLst>
              </a:tr>
              <a:tr h="247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SG + 1st Deriv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0.0160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0.0466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0.5729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1.5302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0787970"/>
                  </a:ext>
                </a:extLst>
              </a:tr>
              <a:tr h="247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SG + 2nd Deriv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0.0162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0.0166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0.5818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1.5463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0443635"/>
                  </a:ext>
                </a:extLst>
              </a:tr>
              <a:tr h="367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SG + SNV + 1st 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0.0153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0.1242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0.0108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0.5718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1.5281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3938312"/>
                  </a:ext>
                </a:extLst>
              </a:tr>
              <a:tr h="367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SG + SNV + 2nd 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0.0154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0.1147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0.5934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1.5683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5676494"/>
                  </a:ext>
                </a:extLst>
              </a:tr>
              <a:tr h="367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SG + MSC + 1st 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0.0154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0.1205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0.0108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0.5700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1.5250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7477881"/>
                  </a:ext>
                </a:extLst>
              </a:tr>
              <a:tr h="379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SG + MSC + 2nd 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0.0154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0.1178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0.5848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1.5519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850204"/>
                  </a:ext>
                </a:extLst>
              </a:tr>
              <a:tr h="247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0.0162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0.0224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0.0091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0.6959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1.8133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7417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5783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69688-F3A0-B470-BE3A-8B6A5F380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09" y="666750"/>
            <a:ext cx="8596668" cy="1320800"/>
          </a:xfrm>
        </p:spPr>
        <p:txBody>
          <a:bodyPr/>
          <a:lstStyle/>
          <a:p>
            <a:r>
              <a:rPr lang="en-US" dirty="0"/>
              <a:t>CNN-LSTM Final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77D64-3334-378E-FB54-F2C50F174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12" y="5187949"/>
            <a:ext cx="11389748" cy="3880773"/>
          </a:xfrm>
        </p:spPr>
        <p:txBody>
          <a:bodyPr/>
          <a:lstStyle/>
          <a:p>
            <a:r>
              <a:rPr lang="en-US" dirty="0"/>
              <a:t>Best LOCO RMSE = 0.0086, the lowest prediction error among all three deep learning models.</a:t>
            </a:r>
          </a:p>
          <a:p>
            <a:r>
              <a:rPr lang="en-US" dirty="0"/>
              <a:t>LOCO RPD = 1.918, close to the acceptable value of 2.0, but standalone CNN performs better (RPD = 2.148).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8839F-C29B-6252-E8DC-9F597D60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7338" y="6098512"/>
            <a:ext cx="683339" cy="365125"/>
          </a:xfrm>
        </p:spPr>
        <p:txBody>
          <a:bodyPr/>
          <a:lstStyle/>
          <a:p>
            <a:fld id="{D1890282-EE28-47A1-B447-4863ECE2D380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39C542-F07E-A67B-4E8C-260B2C01F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782795"/>
              </p:ext>
            </p:extLst>
          </p:nvPr>
        </p:nvGraphicFramePr>
        <p:xfrm>
          <a:off x="7920394" y="1670051"/>
          <a:ext cx="4018491" cy="1522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950">
                  <a:extLst>
                    <a:ext uri="{9D8B030D-6E8A-4147-A177-3AD203B41FA5}">
                      <a16:colId xmlns:a16="http://schemas.microsoft.com/office/drawing/2014/main" val="81534805"/>
                    </a:ext>
                  </a:extLst>
                </a:gridCol>
                <a:gridCol w="1302693">
                  <a:extLst>
                    <a:ext uri="{9D8B030D-6E8A-4147-A177-3AD203B41FA5}">
                      <a16:colId xmlns:a16="http://schemas.microsoft.com/office/drawing/2014/main" val="725993526"/>
                    </a:ext>
                  </a:extLst>
                </a:gridCol>
                <a:gridCol w="1377848">
                  <a:extLst>
                    <a:ext uri="{9D8B030D-6E8A-4147-A177-3AD203B41FA5}">
                      <a16:colId xmlns:a16="http://schemas.microsoft.com/office/drawing/2014/main" val="3501916408"/>
                    </a:ext>
                  </a:extLst>
                </a:gridCol>
              </a:tblGrid>
              <a:tr h="304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80/20 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LOCOCV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707158"/>
                  </a:ext>
                </a:extLst>
              </a:tr>
              <a:tr h="304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0.0142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0.0086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2340770"/>
                  </a:ext>
                </a:extLst>
              </a:tr>
              <a:tr h="304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0.2496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0.7282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0934224"/>
                  </a:ext>
                </a:extLst>
              </a:tr>
              <a:tr h="304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RPD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1.1544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1.9183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0329048"/>
                  </a:ext>
                </a:extLst>
              </a:tr>
              <a:tr h="304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SG + SNV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SG + SNV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9048252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B8079984-D1F4-1CAA-C55B-872528A45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09" y="1670051"/>
            <a:ext cx="6730115" cy="32004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04857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EE0E3-BE7F-81B4-2F97-F2EB9321D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Learning Model Comparison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EACF31-4936-2578-876C-EA1C795762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4591608"/>
                <a:ext cx="10194982" cy="3629758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/>
                  <a:t>CNN with raw data performs best overall, with the highest LOCO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/>
                        </m:ctrlPr>
                      </m:sSupPr>
                      <m:e>
                        <m:r>
                          <a:rPr lang="en-US" sz="1600" b="0" i="1"/>
                          <m:t>𝑅</m:t>
                        </m:r>
                      </m:e>
                      <m:sup>
                        <m:r>
                          <a:rPr lang="en-US" sz="1600" b="0"/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(0.7833) and RPD (2.148). </a:t>
                </a:r>
              </a:p>
              <a:p>
                <a:r>
                  <a:rPr lang="en-US" sz="1600" dirty="0"/>
                  <a:t>CNN LSTM gives the lowest LOCO RMSE (0.0086), showing the most accurate predictions. </a:t>
                </a:r>
              </a:p>
              <a:p>
                <a:r>
                  <a:rPr lang="en-US" sz="1600" dirty="0"/>
                  <a:t>All three deep learning models achieve positive LOCO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/>
                        </m:ctrlPr>
                      </m:sSupPr>
                      <m:e>
                        <m:r>
                          <a:rPr lang="en-US" sz="1600" b="0" i="1"/>
                          <m:t>𝑅</m:t>
                        </m:r>
                      </m:e>
                      <m:sup>
                        <m:r>
                          <a:rPr lang="en-US" sz="1600" b="0"/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, demonstrating good cross cultivar generalization. </a:t>
                </a:r>
              </a:p>
              <a:p>
                <a:r>
                  <a:rPr lang="en-US" sz="1600" dirty="0"/>
                  <a:t>Models with an LSTM component have low 80/20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/>
                        </m:ctrlPr>
                      </m:sSupPr>
                      <m:e>
                        <m:r>
                          <a:rPr lang="en-US" sz="1600" b="0" i="1"/>
                          <m:t>𝑅</m:t>
                        </m:r>
                      </m:e>
                      <m:sup>
                        <m:r>
                          <a:rPr lang="en-US" sz="1600" b="0"/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, indicating limited within cultivar discrimination.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EACF31-4936-2578-876C-EA1C795762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4591608"/>
                <a:ext cx="10194982" cy="3629758"/>
              </a:xfrm>
              <a:blipFill>
                <a:blip r:embed="rId2"/>
                <a:stretch>
                  <a:fillRect l="-60" t="-5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8CD54-C10D-2161-3AAF-29F387D49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282-EE28-47A1-B447-4863ECE2D380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3BCD33-B975-0239-9B06-A371E9D97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400803"/>
              </p:ext>
            </p:extLst>
          </p:nvPr>
        </p:nvGraphicFramePr>
        <p:xfrm>
          <a:off x="677334" y="1505096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2448974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1491541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2777279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8708385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59205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Best Config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80/20 R²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LOCO R²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LOCO RPD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9501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SG + SNV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0.7828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0.6863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1.786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5532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CNN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Raw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0.7027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0.7833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2.148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1321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CNN-LSTM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SG + SNV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0.2496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0.7282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1.918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7515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CNN-LSTM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0.0224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0.6959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1.813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387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SG + MSC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0.2348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0.6918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1.801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2656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0.0335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0.6772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1.760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231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716549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107</TotalTime>
  <Words>1335</Words>
  <Application>Microsoft Office PowerPoint</Application>
  <PresentationFormat>Widescreen</PresentationFormat>
  <Paragraphs>338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Cambria Math</vt:lpstr>
      <vt:lpstr>Trebuchet MS</vt:lpstr>
      <vt:lpstr>Wingdings 3</vt:lpstr>
      <vt:lpstr>Facet</vt:lpstr>
      <vt:lpstr>Cysteine Prediction in Pea Cultivars using Raman Spectroscopy and Machine Learning</vt:lpstr>
      <vt:lpstr>LSTM – Long Short-Term Memory </vt:lpstr>
      <vt:lpstr>KEY CONCEPT </vt:lpstr>
      <vt:lpstr>LSTM - Architecture:</vt:lpstr>
      <vt:lpstr>LSTM Code Step by Step</vt:lpstr>
      <vt:lpstr>LSTM Code Step by Step</vt:lpstr>
      <vt:lpstr>LSTM Preprocessing Comparison</vt:lpstr>
      <vt:lpstr>LSTM Final Results</vt:lpstr>
      <vt:lpstr>CNN-LSTM</vt:lpstr>
      <vt:lpstr>Key Concept – CNN LSTM</vt:lpstr>
      <vt:lpstr>CNN-LSTM ARCHITECTURE </vt:lpstr>
      <vt:lpstr>CNN-LSTM Code Step by Step</vt:lpstr>
      <vt:lpstr>CNN-LSTM Code Step by Step</vt:lpstr>
      <vt:lpstr>Key advantage over standalone LSTM:</vt:lpstr>
      <vt:lpstr>CNN-LSTM Preprocessing Comparison</vt:lpstr>
      <vt:lpstr>CNN-LSTM Final Results</vt:lpstr>
      <vt:lpstr>Deep Learning Model 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Priyanshu Mittal</dc:creator>
  <cp:lastModifiedBy>Priyanshu Mittal</cp:lastModifiedBy>
  <cp:revision>1</cp:revision>
  <dcterms:created xsi:type="dcterms:W3CDTF">2026-07-15T19:11:53Z</dcterms:created>
  <dcterms:modified xsi:type="dcterms:W3CDTF">2026-07-15T20:59:51Z</dcterms:modified>
</cp:coreProperties>
</file>