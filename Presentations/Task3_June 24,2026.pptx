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73" r:id="rId4"/>
    <p:sldId id="270" r:id="rId5"/>
    <p:sldId id="281" r:id="rId6"/>
    <p:sldId id="274" r:id="rId7"/>
    <p:sldId id="275" r:id="rId8"/>
    <p:sldId id="271" r:id="rId9"/>
    <p:sldId id="258" r:id="rId10"/>
    <p:sldId id="263" r:id="rId11"/>
    <p:sldId id="259" r:id="rId12"/>
    <p:sldId id="260" r:id="rId13"/>
    <p:sldId id="267" r:id="rId14"/>
    <p:sldId id="261" r:id="rId15"/>
    <p:sldId id="268" r:id="rId16"/>
    <p:sldId id="269" r:id="rId17"/>
    <p:sldId id="276" r:id="rId18"/>
    <p:sldId id="277" r:id="rId19"/>
    <p:sldId id="278" r:id="rId20"/>
    <p:sldId id="279" r:id="rId21"/>
    <p:sldId id="280" r:id="rId22"/>
    <p:sldId id="262" r:id="rId23"/>
    <p:sldId id="264" r:id="rId24"/>
    <p:sldId id="265" r:id="rId25"/>
    <p:sldId id="266" r:id="rId26"/>
    <p:sldId id="2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68625" autoAdjust="0"/>
  </p:normalViewPr>
  <p:slideViewPr>
    <p:cSldViewPr snapToGrid="0">
      <p:cViewPr>
        <p:scale>
          <a:sx n="45" d="100"/>
          <a:sy n="45" d="100"/>
        </p:scale>
        <p:origin x="1496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9676B-10B3-44A5-9136-9C7312ADB3E5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15218-8907-4C8C-9EC2-BAF9B3FFEC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48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Step 1: </a:t>
            </a:r>
            <a:r>
              <a:rPr lang="en-CA" b="1" dirty="0"/>
              <a:t>The tube idea:</a:t>
            </a:r>
            <a:br>
              <a:rPr lang="en-CA" dirty="0"/>
            </a:br>
            <a:r>
              <a:rPr lang="en-CA" dirty="0"/>
              <a:t>Instead of fitting a line through the data, SVR fits a </a:t>
            </a:r>
            <a:r>
              <a:rPr lang="en-CA" b="1" dirty="0"/>
              <a:t>tube</a:t>
            </a:r>
            <a:r>
              <a:rPr lang="en-CA" dirty="0"/>
              <a:t> around the data. Any spectrum whose prediction falls inside the tube is considered correct. Only predictions outside the tube are penalised. This makes SVR more robust to noisy spectra.</a:t>
            </a:r>
          </a:p>
          <a:p>
            <a:endParaRPr lang="en-CA" dirty="0"/>
          </a:p>
          <a:p>
            <a:r>
              <a:rPr lang="en-CA" dirty="0"/>
              <a:t>Step 2: </a:t>
            </a:r>
            <a:r>
              <a:rPr lang="en-CA" b="1" dirty="0"/>
              <a:t>The kernel trick:</a:t>
            </a:r>
            <a:br>
              <a:rPr lang="en-CA" dirty="0"/>
            </a:br>
            <a:r>
              <a:rPr lang="en-CA" dirty="0"/>
              <a:t>Our spectra have 1,530 features : the relationship between spectrum and cysteine is too complex for a straight line even with a tube. The </a:t>
            </a:r>
            <a:r>
              <a:rPr lang="en-CA" b="1" dirty="0"/>
              <a:t>RBF kernel</a:t>
            </a:r>
            <a:r>
              <a:rPr lang="en-CA" dirty="0"/>
              <a:t> secretly transforms each spectrum into a much higher-dimensional space where a linear fit suddenly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57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50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70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6FD1-E791-4418-4B4C-BEDFCBFF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107D5-4BB3-920E-936E-753DF889E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C9381-3C74-0F9D-A3D5-4D506AC27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4AB4-C072-87D8-08C5-AD6C4B4F4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8340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49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Step 1: Each of the 200 trees sees a different random sample of the 6,480 spectra with replacement. This means some spectra appear multiple times in one tree's training data and not at all in another’s. </a:t>
            </a:r>
          </a:p>
          <a:p>
            <a:r>
              <a:rPr lang="en-CA" dirty="0"/>
              <a:t>Step 2: At every node split, instead of considering all 1,530 wavelengths, each tree randomly picks only </a:t>
            </a:r>
            <a:r>
              <a:rPr lang="en-CA" b="1" dirty="0"/>
              <a:t>√1530 ≈ 39 wavelengths</a:t>
            </a:r>
            <a:r>
              <a:rPr lang="en-CA" dirty="0"/>
              <a:t> to consider. This forces trees to be different from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048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Step 3: Each tree asks a series of questions about the spectrum:</a:t>
            </a:r>
          </a:p>
          <a:p>
            <a:r>
              <a:rPr lang="en-CA" dirty="0"/>
              <a:t>Trees keep splitting until groups are as pure as possible measured by MSE.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494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9944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7E08-01B7-F984-D00B-C345B50B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0B39A-F1C8-2CC1-83AA-E835C3B20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E45F8-7BC6-BA5A-6082-0ACFB6F60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D6D7B-EE4A-FCC3-D852-A6D384056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1062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FC67-A32A-C90A-72D9-56DA656E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6C12E-C092-B73C-ABAC-874E23C3E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5BF5A-BEF4-E00F-FE10-7E36EE349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903F0-662B-52D8-7570-F0D23DE63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5218-8907-4C8C-9EC2-BAF9B3FFECD9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3812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AFC0-223E-424C-AB05-FC8EDFB02832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815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C4FE-AF98-45AC-8C99-344CC61FC9A3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921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5B144-A354-413F-B0CE-A86C471229F7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31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2BFB4-A199-45A0-B629-E91FD5BD95FF}" type="datetime1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707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B74-8E24-4143-871E-90C0403FF227}" type="datetime1">
              <a:rPr lang="en-CA" smtClean="0"/>
              <a:t>2026-06-23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279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F04-37EA-47E4-97CD-629143DFD1D5}" type="datetime1">
              <a:rPr lang="en-CA" smtClean="0"/>
              <a:t>2026-06-23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21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E70-9842-444A-8C38-88A05D495266}" type="datetime1">
              <a:rPr lang="en-CA" smtClean="0"/>
              <a:t>2026-06-23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01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F039-C76D-48CD-96E7-C7A73298A79D}" type="datetime1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59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2725-6E61-4097-884E-BB511BCF7FC4}" type="datetime1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82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BE79-A6AA-406E-A55F-B8F7C09AF030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196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EF88-400C-4764-A06A-4AD48EC182A2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899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5610-26C4-468E-9C82-57DFCD2C0070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150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33E7-1638-4FD5-AE19-8E4460A7F9B9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851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F8C92-CB36-4158-BBBC-1A2EE8BC785B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6389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E2C32-0046-4B31-9AF7-80EEED4658C6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305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7C0-6505-45AA-B220-B054A3823007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65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A1CF8-9A92-45FD-8516-43D3656EC595}" type="datetime1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A45489F-7E4D-4DA9-ABCA-873DF10E43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14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6508-BBFF-3AB3-86E8-EED787379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467" y="2126827"/>
            <a:ext cx="9939866" cy="1646302"/>
          </a:xfrm>
        </p:spPr>
        <p:txBody>
          <a:bodyPr/>
          <a:lstStyle/>
          <a:p>
            <a:pPr algn="ctr"/>
            <a:r>
              <a:rPr lang="en-CA" sz="3600" dirty="0"/>
              <a:t>Cysteine Prediction in Pea Cultivars Using Raman Spectroscopy and Machine Learning </a:t>
            </a:r>
            <a:br>
              <a:rPr lang="en-CA" sz="3600" dirty="0"/>
            </a:br>
            <a:r>
              <a:rPr lang="en-CA" sz="3600" dirty="0"/>
              <a:t>Week –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05A8B-F3B3-CC6E-6B80-8D9A51AD8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67" y="4118567"/>
            <a:ext cx="9381066" cy="1096899"/>
          </a:xfrm>
        </p:spPr>
        <p:txBody>
          <a:bodyPr>
            <a:normAutofit/>
          </a:bodyPr>
          <a:lstStyle/>
          <a:p>
            <a:pPr algn="ctr"/>
            <a:r>
              <a:rPr lang="en-CA" sz="2400" dirty="0"/>
              <a:t>Priyanshu Mittal </a:t>
            </a:r>
          </a:p>
          <a:p>
            <a:pPr algn="ctr"/>
            <a:r>
              <a:rPr lang="en-CA" sz="2400" dirty="0"/>
              <a:t>June 24,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72C74-C382-64C1-6E0F-996118A8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5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013C-A465-4570-DF34-BE3AD268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Support Vector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1111-750D-2033-F930-1C251B985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30400"/>
            <a:ext cx="5418666" cy="388077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Support Vector Regression (SVR) is a machine learning technique for regression tasks. It extends the principles of </a:t>
            </a:r>
            <a:r>
              <a:rPr lang="en-CA" u="sng" dirty="0"/>
              <a:t>Support Vector Machines (SVM)</a:t>
            </a:r>
            <a:r>
              <a:rPr lang="en-CA" dirty="0"/>
              <a:t> from classification to regression.</a:t>
            </a:r>
          </a:p>
          <a:p>
            <a:r>
              <a:rPr lang="en-CA" dirty="0"/>
              <a:t>In SVR, the goal is to predict continuous target variables rather than discrete classes. </a:t>
            </a:r>
          </a:p>
          <a:p>
            <a:r>
              <a:rPr lang="en-CA" dirty="0"/>
              <a:t>SVR works by finding a hyperplane (or hyperplanes in high-dimensional space) that best fits the training data while also maintaining a maximum margin, where the margin is defined as the distance between the hyperplane and the support vectors.</a:t>
            </a:r>
          </a:p>
        </p:txBody>
      </p:sp>
      <p:pic>
        <p:nvPicPr>
          <p:cNvPr id="4" name="Picture 3" descr="the hyperplane in a support vector regression (SVR)">
            <a:extLst>
              <a:ext uri="{FF2B5EF4-FFF2-40B4-BE49-F238E27FC236}">
                <a16:creationId xmlns:a16="http://schemas.microsoft.com/office/drawing/2014/main" id="{0EB01563-76EB-2E7A-4CEE-E3E79A2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6" r="11862"/>
          <a:stretch>
            <a:fillRect/>
          </a:stretch>
        </p:blipFill>
        <p:spPr>
          <a:xfrm>
            <a:off x="677334" y="1799562"/>
            <a:ext cx="4974879" cy="4011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AEA-5818-0BCA-D91B-EC871EAB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284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6866-80CC-6553-494A-3D6A148E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DDDC-BA83-4ABB-9D75-DD56FE47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Support Vector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595E-28C8-B240-8988-D89D281EA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87" y="1732280"/>
            <a:ext cx="10661226" cy="3880773"/>
          </a:xfrm>
        </p:spPr>
        <p:txBody>
          <a:bodyPr>
            <a:normAutofit/>
          </a:bodyPr>
          <a:lstStyle/>
          <a:p>
            <a:r>
              <a:rPr lang="en-CA" dirty="0"/>
              <a:t>SVR fits a prediction function within an </a:t>
            </a:r>
            <a:r>
              <a:rPr lang="en-CA" b="1" dirty="0"/>
              <a:t>epsilon error margin</a:t>
            </a:r>
            <a:r>
              <a:rPr lang="en-CA" dirty="0"/>
              <a:t>, where small errors are ignored.</a:t>
            </a:r>
          </a:p>
          <a:p>
            <a:r>
              <a:rPr lang="en-CA" dirty="0"/>
              <a:t>Only samples outside the epsilon margin contribute to model training and influence the prediction function.</a:t>
            </a:r>
          </a:p>
          <a:p>
            <a:r>
              <a:rPr lang="en-CA" dirty="0"/>
              <a:t>The </a:t>
            </a:r>
            <a:r>
              <a:rPr lang="en-CA" b="1" dirty="0"/>
              <a:t>RBF kernel</a:t>
            </a:r>
            <a:r>
              <a:rPr lang="en-CA" dirty="0"/>
              <a:t> transforms spectral data into a higher dimensional space, enabling the model to capture complex nonlinear relationships.</a:t>
            </a:r>
          </a:p>
          <a:p>
            <a:r>
              <a:rPr lang="en-CA" dirty="0"/>
              <a:t>This allows SVR to model spectral patterns associated with cysteine concentration more effectively than linear methods such as PLSR.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3BE60-DDD9-D4A1-298D-F00B9BEA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93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96CDB-8C9C-68FE-C687-E6EA3F7E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FC0E-B623-B8E4-FEB0-376C347D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679608" cy="1320800"/>
          </a:xfrm>
        </p:spPr>
        <p:txBody>
          <a:bodyPr/>
          <a:lstStyle/>
          <a:p>
            <a:r>
              <a:rPr lang="en-CA" dirty="0"/>
              <a:t>Support Vector Regression – Mathematical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CAE24-FBB6-ACAC-3C4D-80C14B2C0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2066794"/>
                <a:ext cx="5418666" cy="3880773"/>
              </a:xfrm>
            </p:spPr>
            <p:txBody>
              <a:bodyPr>
                <a:normAutofit/>
              </a:bodyPr>
              <a:lstStyle/>
              <a:p>
                <a:r>
                  <a:rPr lang="en-CA" b="1" dirty="0"/>
                  <a:t>Prediction Function:</a:t>
                </a:r>
                <a:r>
                  <a:rPr lang="en-CA" dirty="0"/>
                  <a:t> Combines support vectors to predict protein content. </a:t>
                </a:r>
              </a:p>
              <a:p>
                <a:r>
                  <a:rPr lang="en-CA" b="1" dirty="0"/>
                  <a:t>RBF Kernel:</a:t>
                </a:r>
                <a:r>
                  <a:rPr lang="en-CA" dirty="0"/>
                  <a:t> Measures similarity between spectra and captures nonlinear relationships. </a:t>
                </a:r>
              </a:p>
              <a:p>
                <a:r>
                  <a:rPr lang="en-CA" b="1" dirty="0"/>
                  <a:t>Optimization Objective:</a:t>
                </a:r>
                <a:r>
                  <a:rPr lang="en-CA" dirty="0"/>
                  <a:t> Balances prediction accuracy and model simplicity. </a:t>
                </a:r>
                <a:r>
                  <a:rPr lang="en-CA" b="1" dirty="0"/>
                  <a:t>ε-Insensitive Loss:</a:t>
                </a:r>
                <a:r>
                  <a:rPr lang="en-CA" dirty="0"/>
                  <a:t> Small prediction errors within the margin 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CA" dirty="0"/>
                  <a:t>) are ignored. </a:t>
                </a:r>
              </a:p>
              <a:p>
                <a:r>
                  <a:rPr lang="en-CA" b="1" dirty="0"/>
                  <a:t>Regularization Parameter 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b="1" dirty="0"/>
                  <a:t>):</a:t>
                </a:r>
                <a:r>
                  <a:rPr lang="en-CA" dirty="0"/>
                  <a:t> Controls the trade off between fitting the training data and generalization.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CAE24-FBB6-ACAC-3C4D-80C14B2C0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2066794"/>
                <a:ext cx="5418666" cy="3880773"/>
              </a:xfrm>
              <a:blipFill>
                <a:blip r:embed="rId2"/>
                <a:stretch>
                  <a:fillRect l="-225" t="-942" r="-123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E50E3-F540-3063-2B6A-EB794C53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4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1792E-3D84-B308-BEE0-3A8C875D2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066794"/>
            <a:ext cx="4786206" cy="410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6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8D2C-F8C3-0ED5-A058-443585C6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AE0F-6715-3E5F-4682-14722295C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9889"/>
            <a:ext cx="10770954" cy="4651474"/>
          </a:xfrm>
        </p:spPr>
        <p:txBody>
          <a:bodyPr/>
          <a:lstStyle/>
          <a:p>
            <a:r>
              <a:rPr lang="en-CA" dirty="0"/>
              <a:t>PLSR assumes a straight-line relationship between spectrum and cysteine. But what if the relationship is curved or complex? </a:t>
            </a:r>
          </a:p>
          <a:p>
            <a:r>
              <a:rPr lang="en-CA" dirty="0"/>
              <a:t>Answer: SVR handles this by finding a flexible fit that can bend to match non-linear patterns PLSR completely misses.</a:t>
            </a:r>
          </a:p>
          <a:p>
            <a:r>
              <a:rPr lang="en-CA" dirty="0"/>
              <a:t>The Tube Idea: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The Kernel Trick: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A0D49-92AE-DFC6-9608-75CF64B2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5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E2CF6-2B15-3738-4684-78D3EA7878D9}"/>
              </a:ext>
            </a:extLst>
          </p:cNvPr>
          <p:cNvSpPr/>
          <p:nvPr/>
        </p:nvSpPr>
        <p:spPr>
          <a:xfrm>
            <a:off x="932688" y="3145536"/>
            <a:ext cx="9893808" cy="11155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Inside tube  → no penalty</a:t>
            </a:r>
          </a:p>
          <a:p>
            <a:pPr algn="ctr"/>
            <a:r>
              <a:rPr lang="en-US"/>
              <a:t>Outside tube → penalised by parameter C</a:t>
            </a:r>
          </a:p>
          <a:p>
            <a:pPr algn="ctr"/>
            <a:r>
              <a:rPr lang="en-US"/>
              <a:t>Tube width   → controlled by epsilon</a:t>
            </a:r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5E3C9FD-4701-2590-374D-48B54AA1A4EA}"/>
                  </a:ext>
                </a:extLst>
              </p:cNvPr>
              <p:cNvSpPr/>
              <p:nvPr/>
            </p:nvSpPr>
            <p:spPr>
              <a:xfrm>
                <a:off x="932688" y="4791456"/>
                <a:ext cx="9893808" cy="175564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CA" dirty="0"/>
                  <a:t>RBF Kernel: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i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r>
                  <a:rPr lang="en-CA" dirty="0"/>
                  <a:t>This measures similarity between two spectra.</a:t>
                </a:r>
              </a:p>
              <a:p>
                <a:r>
                  <a:rPr lang="en-CA" dirty="0"/>
                  <a:t>Similar spectra → K close to 1</a:t>
                </a:r>
              </a:p>
              <a:p>
                <a:r>
                  <a:rPr lang="en-CA" dirty="0"/>
                  <a:t>Very different spectra → K close to 0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5E3C9FD-4701-2590-374D-48B54AA1A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4791456"/>
                <a:ext cx="9893808" cy="1755648"/>
              </a:xfrm>
              <a:prstGeom prst="rect">
                <a:avLst/>
              </a:prstGeom>
              <a:blipFill>
                <a:blip r:embed="rId3"/>
                <a:stretch>
                  <a:fillRect l="-4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89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BBBD-2C33-5AB1-EB69-4C6F41F7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in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DCF65-0592-DA68-3693-FDA02E37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6249"/>
            <a:ext cx="8596668" cy="3880773"/>
          </a:xfrm>
        </p:spPr>
        <p:txBody>
          <a:bodyPr/>
          <a:lstStyle/>
          <a:p>
            <a:r>
              <a:rPr lang="en-CA" dirty="0"/>
              <a:t>Preprocess and Scale: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Find best hyperparameters: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4420-42D8-C6A4-7F07-DC2CD5AE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6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F231A-A675-725D-36AC-6CF6C41BD19E}"/>
              </a:ext>
            </a:extLst>
          </p:cNvPr>
          <p:cNvSpPr/>
          <p:nvPr/>
        </p:nvSpPr>
        <p:spPr>
          <a:xfrm>
            <a:off x="677334" y="2171701"/>
            <a:ext cx="10885170" cy="14401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/>
              <a:t>SG Smoothing 	: remove noise</a:t>
            </a:r>
          </a:p>
          <a:p>
            <a:r>
              <a:rPr lang="en-CA" dirty="0"/>
              <a:t>SNV  	        	: fix intensity differences between spectra</a:t>
            </a:r>
          </a:p>
          <a:p>
            <a:r>
              <a:rPr lang="en-CA" dirty="0" err="1"/>
              <a:t>StandardScaler</a:t>
            </a:r>
            <a:r>
              <a:rPr lang="en-CA" dirty="0"/>
              <a:t>	: centre each wavelength across all 6,480 spectra (different from SNV which normalises each spectrum)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93899-0DB4-0452-CD52-72E2DC9A4EEF}"/>
              </a:ext>
            </a:extLst>
          </p:cNvPr>
          <p:cNvSpPr/>
          <p:nvPr/>
        </p:nvSpPr>
        <p:spPr>
          <a:xfrm>
            <a:off x="811530" y="4281055"/>
            <a:ext cx="10750974" cy="24426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 err="1"/>
              <a:t>GridSearchCV</a:t>
            </a:r>
            <a:r>
              <a:rPr lang="en-CA" dirty="0"/>
              <a:t> tests 24 combinations:</a:t>
            </a:r>
          </a:p>
          <a:p>
            <a:r>
              <a:rPr lang="en-CA" dirty="0"/>
              <a:t>	C = [0.1, 1, 10, 100]</a:t>
            </a:r>
          </a:p>
          <a:p>
            <a:r>
              <a:rPr lang="en-CA" dirty="0"/>
              <a:t>	epsilon = [0.001, 0.01, 0.1]</a:t>
            </a:r>
          </a:p>
          <a:p>
            <a:r>
              <a:rPr lang="en-CA" dirty="0"/>
              <a:t>	gamma   = ['scale', 'auto']</a:t>
            </a:r>
          </a:p>
          <a:p>
            <a:endParaRPr lang="en-CA" dirty="0"/>
          </a:p>
          <a:p>
            <a:r>
              <a:rPr lang="en-CA" dirty="0"/>
              <a:t>5-fold CV on training set for each combination</a:t>
            </a:r>
          </a:p>
          <a:p>
            <a:r>
              <a:rPr lang="en-CA" dirty="0"/>
              <a:t>Winner: C=100, epsilon=0.001, gamma=auto</a:t>
            </a:r>
          </a:p>
          <a:p>
            <a:r>
              <a:rPr lang="en-CA" dirty="0"/>
              <a:t>CV RMSE = 0.00557</a:t>
            </a:r>
          </a:p>
        </p:txBody>
      </p:sp>
    </p:spTree>
    <p:extLst>
      <p:ext uri="{BB962C8B-B14F-4D97-AF65-F5344CB8AC3E}">
        <p14:creationId xmlns:p14="http://schemas.microsoft.com/office/powerpoint/2010/main" val="55829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0794-4A6F-58AD-ECB4-6F0D6899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in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B0FE1-CE52-89D0-6176-4B965E93B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51346"/>
            <a:ext cx="8596668" cy="5254254"/>
          </a:xfrm>
        </p:spPr>
        <p:txBody>
          <a:bodyPr/>
          <a:lstStyle/>
          <a:p>
            <a:r>
              <a:rPr lang="en-CA" dirty="0"/>
              <a:t>Train SVR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LOCOCV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Evaluate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9FB8F-889A-CE83-1A63-FCB3F828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7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3D2ADB-6195-0C43-0DAA-FC97B75725AD}"/>
              </a:ext>
            </a:extLst>
          </p:cNvPr>
          <p:cNvSpPr/>
          <p:nvPr/>
        </p:nvSpPr>
        <p:spPr>
          <a:xfrm>
            <a:off x="677332" y="1791969"/>
            <a:ext cx="8596669" cy="8191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 err="1"/>
              <a:t>svr</a:t>
            </a:r>
            <a:r>
              <a:rPr lang="en-CA" dirty="0"/>
              <a:t> = SVR(kernel='</a:t>
            </a:r>
            <a:r>
              <a:rPr lang="en-CA" dirty="0" err="1"/>
              <a:t>rbf</a:t>
            </a:r>
            <a:r>
              <a:rPr lang="en-CA" dirty="0"/>
              <a:t>', C=100, epsilon=0.001, gamma='auto')</a:t>
            </a:r>
          </a:p>
          <a:p>
            <a:r>
              <a:rPr lang="en-CA" dirty="0" err="1"/>
              <a:t>svr.fit</a:t>
            </a:r>
            <a:r>
              <a:rPr lang="en-CA" dirty="0"/>
              <a:t>(</a:t>
            </a:r>
            <a:r>
              <a:rPr lang="en-CA" dirty="0" err="1"/>
              <a:t>X_train_scaled</a:t>
            </a:r>
            <a:r>
              <a:rPr lang="en-CA" dirty="0"/>
              <a:t>, </a:t>
            </a:r>
            <a:r>
              <a:rPr lang="en-CA" dirty="0" err="1"/>
              <a:t>y_train</a:t>
            </a:r>
            <a:r>
              <a:rPr lang="en-CA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E8FF5-F694-F1FC-7294-4F2A2592AA3F}"/>
              </a:ext>
            </a:extLst>
          </p:cNvPr>
          <p:cNvSpPr/>
          <p:nvPr/>
        </p:nvSpPr>
        <p:spPr>
          <a:xfrm>
            <a:off x="677333" y="3015144"/>
            <a:ext cx="8596668" cy="19724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For each fold:</a:t>
            </a:r>
          </a:p>
          <a:p>
            <a:pPr lvl="1"/>
            <a:r>
              <a:rPr lang="en-US" dirty="0"/>
              <a:t>  Fit </a:t>
            </a:r>
            <a:r>
              <a:rPr lang="en-US" dirty="0" err="1"/>
              <a:t>StandardScaler</a:t>
            </a:r>
            <a:r>
              <a:rPr lang="en-US" dirty="0"/>
              <a:t> on TRAINING fold only</a:t>
            </a:r>
          </a:p>
          <a:p>
            <a:pPr lvl="1"/>
            <a:r>
              <a:rPr lang="en-US" dirty="0"/>
              <a:t>  Transform both train and test with that scaler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# Never fit scaler on test data (This prevents data leakage between folds)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5E5DB-FD58-5353-B49F-71FC9223CA8B}"/>
              </a:ext>
            </a:extLst>
          </p:cNvPr>
          <p:cNvSpPr/>
          <p:nvPr/>
        </p:nvSpPr>
        <p:spPr>
          <a:xfrm>
            <a:off x="677332" y="5523417"/>
            <a:ext cx="8596668" cy="6464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80/20 Split → quick evaluation, optimistic</a:t>
            </a:r>
          </a:p>
          <a:p>
            <a:pPr algn="ctr"/>
            <a:r>
              <a:rPr lang="en-US"/>
              <a:t>LOCOCV      → realistic evaluation, harder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44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5201-5891-5D9C-65B6-F2EE6A4C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4A4A1-7BA2-3A1A-CACD-F086326B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SVR for spectral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9E1A-24CB-5A3F-C0F0-E229FDB78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87" y="1732280"/>
            <a:ext cx="10661226" cy="3880773"/>
          </a:xfrm>
        </p:spPr>
        <p:txBody>
          <a:bodyPr>
            <a:normAutofit/>
          </a:bodyPr>
          <a:lstStyle/>
          <a:p>
            <a:r>
              <a:rPr lang="en-CA" dirty="0"/>
              <a:t>Handles high dimensional spectral data effectively, even with 1,530 features. </a:t>
            </a:r>
          </a:p>
          <a:p>
            <a:r>
              <a:rPr lang="en-CA" dirty="0"/>
              <a:t>RBF kernel captures complex nonlinear relationships between spectra and protein content. </a:t>
            </a:r>
          </a:p>
          <a:p>
            <a:r>
              <a:rPr lang="en-CA" dirty="0"/>
              <a:t>Robust to overfitting through the epsilon insensitive error margin. </a:t>
            </a:r>
          </a:p>
          <a:p>
            <a:r>
              <a:rPr lang="en-CA" dirty="0"/>
              <a:t>Requires feature standardization using </a:t>
            </a:r>
            <a:r>
              <a:rPr lang="en-CA" b="1" dirty="0" err="1"/>
              <a:t>StandardScaler</a:t>
            </a:r>
            <a:r>
              <a:rPr lang="en-CA" dirty="0"/>
              <a:t> before model training. </a:t>
            </a:r>
          </a:p>
          <a:p>
            <a:r>
              <a:rPr lang="en-CA" dirty="0"/>
              <a:t>Uses only the most informative samples (support vectors) for prediction.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DF887-2979-91B3-9EAA-80291018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600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B1D5-C352-C9B4-B923-693B90A3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D053-B03C-39A9-5826-FEBF97AF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2" y="386426"/>
            <a:ext cx="8596668" cy="1320800"/>
          </a:xfrm>
        </p:spPr>
        <p:txBody>
          <a:bodyPr/>
          <a:lstStyle/>
          <a:p>
            <a:r>
              <a:rPr lang="en-CA" dirty="0"/>
              <a:t>SVR Preprocessing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B82E-3798-C26D-C39D-2FC16F58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92" y="5393073"/>
            <a:ext cx="8596668" cy="1464927"/>
          </a:xfrm>
        </p:spPr>
        <p:txBody>
          <a:bodyPr/>
          <a:lstStyle/>
          <a:p>
            <a:r>
              <a:rPr lang="en-CA" dirty="0"/>
              <a:t>G + SNV wins on 80/20 (RMSE=0.0053, R²=0.89, RPD=3.06) </a:t>
            </a:r>
          </a:p>
          <a:p>
            <a:r>
              <a:rPr lang="en-CA" dirty="0"/>
              <a:t>Derivatives perform similarly under LOCO (~0.0196–0.0200) </a:t>
            </a:r>
          </a:p>
          <a:p>
            <a:r>
              <a:rPr lang="en-CA" dirty="0"/>
              <a:t>All methods cluster around RMSE ~0.020 under LOCO</a:t>
            </a:r>
          </a:p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FA926-EA24-3FE0-38AD-A0C911C3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55" y="1270000"/>
            <a:ext cx="10395241" cy="38807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EF59C-24DD-ADD2-BC95-28D6944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78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BEEB-1A5F-D671-2CCA-CA25454C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A806-CA2A-D700-C33D-8F780AE3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83" y="231150"/>
            <a:ext cx="8596668" cy="1320800"/>
          </a:xfrm>
        </p:spPr>
        <p:txBody>
          <a:bodyPr/>
          <a:lstStyle/>
          <a:p>
            <a:r>
              <a:rPr lang="en-CA" dirty="0"/>
              <a:t>SVR Preprocessing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0C2A7-8399-D1F9-D48A-F3C84B5A9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83" y="10361888"/>
            <a:ext cx="8596668" cy="1464927"/>
          </a:xfrm>
        </p:spPr>
        <p:txBody>
          <a:bodyPr/>
          <a:lstStyle/>
          <a:p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52CC0A-8C61-45B0-F6A8-01927D92A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79466"/>
              </p:ext>
            </p:extLst>
          </p:nvPr>
        </p:nvGraphicFramePr>
        <p:xfrm>
          <a:off x="502283" y="1202745"/>
          <a:ext cx="11028423" cy="5225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102">
                  <a:extLst>
                    <a:ext uri="{9D8B030D-6E8A-4147-A177-3AD203B41FA5}">
                      <a16:colId xmlns:a16="http://schemas.microsoft.com/office/drawing/2014/main" val="4086617883"/>
                    </a:ext>
                  </a:extLst>
                </a:gridCol>
                <a:gridCol w="1306876">
                  <a:extLst>
                    <a:ext uri="{9D8B030D-6E8A-4147-A177-3AD203B41FA5}">
                      <a16:colId xmlns:a16="http://schemas.microsoft.com/office/drawing/2014/main" val="20388313"/>
                    </a:ext>
                  </a:extLst>
                </a:gridCol>
                <a:gridCol w="1575489">
                  <a:extLst>
                    <a:ext uri="{9D8B030D-6E8A-4147-A177-3AD203B41FA5}">
                      <a16:colId xmlns:a16="http://schemas.microsoft.com/office/drawing/2014/main" val="2232540986"/>
                    </a:ext>
                  </a:extLst>
                </a:gridCol>
                <a:gridCol w="1575489">
                  <a:extLst>
                    <a:ext uri="{9D8B030D-6E8A-4147-A177-3AD203B41FA5}">
                      <a16:colId xmlns:a16="http://schemas.microsoft.com/office/drawing/2014/main" val="3078820804"/>
                    </a:ext>
                  </a:extLst>
                </a:gridCol>
                <a:gridCol w="1575489">
                  <a:extLst>
                    <a:ext uri="{9D8B030D-6E8A-4147-A177-3AD203B41FA5}">
                      <a16:colId xmlns:a16="http://schemas.microsoft.com/office/drawing/2014/main" val="949901201"/>
                    </a:ext>
                  </a:extLst>
                </a:gridCol>
                <a:gridCol w="1575489">
                  <a:extLst>
                    <a:ext uri="{9D8B030D-6E8A-4147-A177-3AD203B41FA5}">
                      <a16:colId xmlns:a16="http://schemas.microsoft.com/office/drawing/2014/main" val="2593245411"/>
                    </a:ext>
                  </a:extLst>
                </a:gridCol>
                <a:gridCol w="1575489">
                  <a:extLst>
                    <a:ext uri="{9D8B030D-6E8A-4147-A177-3AD203B41FA5}">
                      <a16:colId xmlns:a16="http://schemas.microsoft.com/office/drawing/2014/main" val="3689355296"/>
                    </a:ext>
                  </a:extLst>
                </a:gridCol>
              </a:tblGrid>
              <a:tr h="450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Preprocessing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RMSE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R²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RPD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RMSE (LOCO)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R² (LOCO)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RPD (LOCO)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750490"/>
                  </a:ext>
                </a:extLst>
              </a:tr>
              <a:tr h="257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0.0053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0.8935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3.0644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5614"/>
                  </a:ext>
                </a:extLst>
              </a:tr>
              <a:tr h="257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2.8660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-1.2826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0.6619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104896"/>
                  </a:ext>
                </a:extLst>
              </a:tr>
              <a:tr h="450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0.7490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1.9960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0.8344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263502"/>
                  </a:ext>
                </a:extLst>
              </a:tr>
              <a:tr h="450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1.7320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0.8395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83505"/>
                  </a:ext>
                </a:extLst>
              </a:tr>
              <a:tr h="643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0.6996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1.8246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0.8358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867405"/>
                  </a:ext>
                </a:extLst>
              </a:tr>
              <a:tr h="643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0.6216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1.6256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0.8282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5718"/>
                  </a:ext>
                </a:extLst>
              </a:tr>
              <a:tr h="643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0.7064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1.8455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0.8344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929399"/>
                  </a:ext>
                </a:extLst>
              </a:tr>
              <a:tr h="643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1.6374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0.0196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-0.4191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 dirty="0"/>
                        <a:t>0.8395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01646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7A5A0-E6D6-FF4B-CEAF-342D56BC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047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4F4BC-74AD-ACB3-F820-D96A6750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A9D1-EF5D-EA95-9D07-84EC196A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2" y="386426"/>
            <a:ext cx="8596668" cy="1320800"/>
          </a:xfrm>
        </p:spPr>
        <p:txBody>
          <a:bodyPr/>
          <a:lstStyle/>
          <a:p>
            <a:r>
              <a:rPr lang="en-CA" dirty="0"/>
              <a:t>SVR Best Configuration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CF995-63BA-926A-006D-E12CCE83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2" y="1269565"/>
            <a:ext cx="10137413" cy="43188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DC705-3362-744F-3A46-202FEF92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609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20A44-D067-12C9-E81F-8E181204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3522-9D06-2DBB-96ED-4BBB2E9F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2" y="386426"/>
            <a:ext cx="8596668" cy="1320800"/>
          </a:xfrm>
        </p:spPr>
        <p:txBody>
          <a:bodyPr/>
          <a:lstStyle/>
          <a:p>
            <a:r>
              <a:rPr lang="en-CA" dirty="0"/>
              <a:t>SVR Best Configuration 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114179-AC30-4F55-061F-6AB9885E6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969582"/>
              </p:ext>
            </p:extLst>
          </p:nvPr>
        </p:nvGraphicFramePr>
        <p:xfrm>
          <a:off x="661292" y="1707226"/>
          <a:ext cx="11128631" cy="22878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380515">
                  <a:extLst>
                    <a:ext uri="{9D8B030D-6E8A-4147-A177-3AD203B41FA5}">
                      <a16:colId xmlns:a16="http://schemas.microsoft.com/office/drawing/2014/main" val="1022508436"/>
                    </a:ext>
                  </a:extLst>
                </a:gridCol>
                <a:gridCol w="3874058">
                  <a:extLst>
                    <a:ext uri="{9D8B030D-6E8A-4147-A177-3AD203B41FA5}">
                      <a16:colId xmlns:a16="http://schemas.microsoft.com/office/drawing/2014/main" val="2697780158"/>
                    </a:ext>
                  </a:extLst>
                </a:gridCol>
                <a:gridCol w="3874058">
                  <a:extLst>
                    <a:ext uri="{9D8B030D-6E8A-4147-A177-3AD203B41FA5}">
                      <a16:colId xmlns:a16="http://schemas.microsoft.com/office/drawing/2014/main" val="2953411284"/>
                    </a:ext>
                  </a:extLst>
                </a:gridCol>
              </a:tblGrid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80/20 Split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LOCOCV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87417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RMSE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0.0053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25640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R²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0.8935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-0.4750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835263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RPD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3.0644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0.8234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49693"/>
                  </a:ext>
                </a:extLst>
              </a:tr>
              <a:tr h="45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Best preprocessing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SG + SNV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SG + SNV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073847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 / ε / γ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100 / 0.001 / auto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100 / 0.001 / auto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527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416F30-8E3B-8AFF-428C-D53E728C3D67}"/>
              </a:ext>
            </a:extLst>
          </p:cNvPr>
          <p:cNvSpPr txBox="1"/>
          <p:nvPr/>
        </p:nvSpPr>
        <p:spPr>
          <a:xfrm>
            <a:off x="661291" y="4550609"/>
            <a:ext cx="107428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80/20 R² = 0.89 and RPD = 3.06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First model to cross the RPD &gt; 3.0 screening threshold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LOCO still shows negative R²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SVR memorises cultivar-specific patterns rather than learning the true cysteine signal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916-E6DC-A751-E112-C9D30E88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2789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8AD21-C5BC-712F-5603-F0C1BE77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3764-E098-E317-0FFC-F0872DAD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4" y="609600"/>
            <a:ext cx="4338895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100"/>
              <a:t>Random Forest Regression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E2FC86B-262B-73D3-D8D9-2F9FA3DD6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89"/>
            <a:ext cx="4159719" cy="3880773"/>
          </a:xfrm>
        </p:spPr>
        <p:txBody>
          <a:bodyPr>
            <a:normAutofit/>
          </a:bodyPr>
          <a:lstStyle/>
          <a:p>
            <a:r>
              <a:rPr lang="en-CA" dirty="0"/>
              <a:t>Random Forest is a machine learning algorithm that uses many decision trees to make better predictions. </a:t>
            </a:r>
          </a:p>
          <a:p>
            <a:r>
              <a:rPr lang="en-CA" dirty="0"/>
              <a:t>Each tree looks at different random parts of the data and their results are combined by voting for classification or averaging for regression which makes it as ensemble learning technique. </a:t>
            </a:r>
          </a:p>
          <a:p>
            <a:r>
              <a:rPr lang="en-CA" dirty="0"/>
              <a:t>This helps in improving accuracy and reducing errors.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6C40C4-8360-15A3-FE4E-57BEED30C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91" y="629526"/>
            <a:ext cx="5203494" cy="2601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3C5C08-E7B4-DB25-243C-F452A160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091" y="3455676"/>
            <a:ext cx="5204682" cy="26023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037A-F13F-818F-2860-55FCE243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068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5E65-DC4E-9FCE-9DDC-C4DEDFFE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7A79-F2FD-6AF2-188B-A583433C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Random Forest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2711-BA2C-DE8E-FCA0-587864AF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87" y="1732280"/>
            <a:ext cx="1066122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b="1" dirty="0"/>
          </a:p>
          <a:p>
            <a:r>
              <a:rPr lang="en-CA" dirty="0"/>
              <a:t>Builds </a:t>
            </a:r>
            <a:r>
              <a:rPr lang="en-CA" b="1" dirty="0"/>
              <a:t>200 decision trees</a:t>
            </a:r>
            <a:r>
              <a:rPr lang="en-CA" dirty="0"/>
              <a:t> using random bootstrap samples of the training data.</a:t>
            </a:r>
          </a:p>
          <a:p>
            <a:r>
              <a:rPr lang="en-CA" dirty="0"/>
              <a:t>At each node split, only a </a:t>
            </a:r>
            <a:r>
              <a:rPr lang="en-CA" b="1" dirty="0"/>
              <a:t>random subset of features</a:t>
            </a:r>
            <a:r>
              <a:rPr lang="en-CA" dirty="0"/>
              <a:t> is considered (</a:t>
            </a:r>
            <a:r>
              <a:rPr lang="en-CA" b="1" dirty="0"/>
              <a:t>√1530 ≈ 39 features</a:t>
            </a:r>
            <a:r>
              <a:rPr lang="en-CA" dirty="0"/>
              <a:t>).</a:t>
            </a:r>
          </a:p>
          <a:p>
            <a:r>
              <a:rPr lang="en-CA" dirty="0"/>
              <a:t>Each tree generates an individual prediction for protein content.</a:t>
            </a:r>
          </a:p>
          <a:p>
            <a:r>
              <a:rPr lang="en-CA" dirty="0"/>
              <a:t>The </a:t>
            </a:r>
            <a:r>
              <a:rPr lang="en-CA" b="1" dirty="0"/>
              <a:t>final prediction</a:t>
            </a:r>
            <a:r>
              <a:rPr lang="en-CA" dirty="0"/>
              <a:t> is obtained by averaging the predictions from all 200 trees.</a:t>
            </a:r>
          </a:p>
          <a:p>
            <a:r>
              <a:rPr lang="en-CA" dirty="0"/>
              <a:t>Random feature selection and bootstrapping help </a:t>
            </a:r>
            <a:r>
              <a:rPr lang="en-CA" b="1" dirty="0"/>
              <a:t>reduce overfitting</a:t>
            </a:r>
            <a:r>
              <a:rPr lang="en-CA" dirty="0"/>
              <a:t>.</a:t>
            </a:r>
          </a:p>
          <a:p>
            <a:r>
              <a:rPr lang="en-CA" dirty="0"/>
              <a:t>Combining many trees lowers prediction </a:t>
            </a:r>
            <a:r>
              <a:rPr lang="en-CA" b="1" dirty="0"/>
              <a:t>variance</a:t>
            </a:r>
            <a:r>
              <a:rPr lang="en-CA" dirty="0"/>
              <a:t> compared to a single decision tree.</a:t>
            </a:r>
          </a:p>
          <a:p>
            <a:r>
              <a:rPr lang="en-CA" dirty="0"/>
              <a:t>The ensemble approach makes the model </a:t>
            </a:r>
            <a:r>
              <a:rPr lang="en-CA" b="1" dirty="0"/>
              <a:t>robust to noise and variability</a:t>
            </a:r>
            <a:r>
              <a:rPr lang="en-CA" dirty="0"/>
              <a:t> in NIR spectral data.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41DB4-D8B7-97EE-FA9E-4840CE0E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189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7F03-3E2F-FDF2-449F-66489D92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0F92-30E0-9C2E-8AB8-1DDB5EA4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851892" cy="1320800"/>
          </a:xfrm>
        </p:spPr>
        <p:txBody>
          <a:bodyPr/>
          <a:lstStyle/>
          <a:p>
            <a:r>
              <a:rPr lang="en-CA" dirty="0"/>
              <a:t>Random Forest Regression – Mathematical Formula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3C987-218C-B876-4B54-B11DD411E428}"/>
              </a:ext>
            </a:extLst>
          </p:cNvPr>
          <p:cNvSpPr txBox="1"/>
          <p:nvPr/>
        </p:nvSpPr>
        <p:spPr>
          <a:xfrm>
            <a:off x="5927387" y="1619724"/>
            <a:ext cx="58751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Individual Tree Prediction : </a:t>
            </a:r>
            <a:r>
              <a:rPr lang="en-CA" dirty="0"/>
              <a:t>Each decision tree predicts cysteine content independently.</a:t>
            </a:r>
          </a:p>
          <a:p>
            <a:endParaRPr lang="en-CA" dirty="0"/>
          </a:p>
          <a:p>
            <a:r>
              <a:rPr lang="en-CA" b="1" dirty="0"/>
              <a:t>Random Forest Prediction : </a:t>
            </a:r>
            <a:r>
              <a:rPr lang="en-CA" dirty="0"/>
              <a:t>Final prediction is the average of all 200 tree predictions.</a:t>
            </a:r>
          </a:p>
          <a:p>
            <a:endParaRPr lang="en-CA" dirty="0"/>
          </a:p>
          <a:p>
            <a:endParaRPr lang="en-CA" b="1" dirty="0"/>
          </a:p>
          <a:p>
            <a:endParaRPr lang="en-CA" b="1" dirty="0"/>
          </a:p>
          <a:p>
            <a:r>
              <a:rPr lang="en-CA" b="1" dirty="0"/>
              <a:t>Node Split Criterion (MSE)</a:t>
            </a:r>
            <a:r>
              <a:rPr lang="en-CA" dirty="0"/>
              <a:t>: Trees select splits that minimize prediction error within each node.</a:t>
            </a:r>
          </a:p>
          <a:p>
            <a:endParaRPr lang="en-CA" b="1" dirty="0"/>
          </a:p>
          <a:p>
            <a:endParaRPr lang="en-CA" b="1" dirty="0"/>
          </a:p>
          <a:p>
            <a:r>
              <a:rPr lang="en-CA" b="1" dirty="0"/>
              <a:t>Random Feature Selection</a:t>
            </a:r>
            <a:r>
              <a:rPr lang="en-CA" dirty="0"/>
              <a:t>: Only 39 randomly selected wavelengths are evaluated at each split, increasing model diversity and reducing overfitting.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06BC5-CBB9-4CBA-5760-3AB8DB9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15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AA9E7A-A04B-FDEB-5631-3C112F5B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62574"/>
            <a:ext cx="5140406" cy="40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9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F0D7-C952-BFBD-1ADD-5263DC75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6FCC-D143-6E7E-6F56-E3CED194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Random Forest for spectral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4BC0-D73A-F5BB-D413-4F08CAE8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87" y="1732280"/>
            <a:ext cx="10661226" cy="3880773"/>
          </a:xfrm>
        </p:spPr>
        <p:txBody>
          <a:bodyPr>
            <a:normAutofit/>
          </a:bodyPr>
          <a:lstStyle/>
          <a:p>
            <a:r>
              <a:rPr lang="en-CA" dirty="0"/>
              <a:t>No feature scaling required since decision trees are unaffected by feature magnitude.</a:t>
            </a:r>
          </a:p>
          <a:p>
            <a:r>
              <a:rPr lang="en-CA" dirty="0"/>
              <a:t>Captures complex nonlinear relationships and interactions among spectral features.</a:t>
            </a:r>
          </a:p>
          <a:p>
            <a:r>
              <a:rPr lang="en-CA" dirty="0"/>
              <a:t>Provides built in feature importance to identify the most influential wavelengths.</a:t>
            </a:r>
          </a:p>
          <a:p>
            <a:r>
              <a:rPr lang="en-CA" dirty="0"/>
              <a:t>Robust to outliers and noisy spectra through ensemble averaging.</a:t>
            </a:r>
          </a:p>
          <a:p>
            <a:r>
              <a:rPr lang="en-CA" dirty="0"/>
              <a:t>Efficient training using parallel processing with </a:t>
            </a:r>
            <a:r>
              <a:rPr lang="en-CA" b="1" dirty="0" err="1"/>
              <a:t>n_jobs</a:t>
            </a:r>
            <a:r>
              <a:rPr lang="en-CA" b="1" dirty="0"/>
              <a:t> = -1</a:t>
            </a:r>
            <a:r>
              <a:rPr lang="en-CA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3D0D6-DF19-540A-0B99-F4342C58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7670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63EA-8F24-00ED-DF9A-CEFF926D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C639-8A2C-D368-A2F7-4A388CF1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CA" dirty="0"/>
              <a:t>Imagine asking 200 different experts to independently predict cysteine concentration. Each expert only sees a random portion of the data and only considers a random subset of wavelengths. Then you average all 200 answers. No single expert is perfect — but together they are much more reliable. That is exactly what Random Forest does.</a:t>
            </a:r>
          </a:p>
          <a:p>
            <a:r>
              <a:rPr lang="en-CA" dirty="0"/>
              <a:t>Bootstrap Sampling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Random feature selection at each split: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5296D-189D-0064-DF6A-6D48A45D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17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1FF76A-7390-2F80-E44B-9579DA408E7F}"/>
              </a:ext>
            </a:extLst>
          </p:cNvPr>
          <p:cNvSpPr/>
          <p:nvPr/>
        </p:nvSpPr>
        <p:spPr>
          <a:xfrm>
            <a:off x="775854" y="3474402"/>
            <a:ext cx="8936182" cy="9005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Tree 1 sees: spectra 1, 1, 3, 5, 7, 7, 9 ...  (random sample with replacement)</a:t>
            </a:r>
          </a:p>
          <a:p>
            <a:r>
              <a:rPr lang="en-US" dirty="0"/>
              <a:t>Tree 2 sees: spectra 2, 4, 4, 6, 8, 9, 9 ...  (different random sample)</a:t>
            </a:r>
          </a:p>
          <a:p>
            <a:r>
              <a:rPr lang="en-US" dirty="0"/>
              <a:t>Tree 3 sees: spectra 1, 3, 5, 5, 6, 8, 9 ...  (yet another sample)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6A52D-BB0C-7A15-E295-17E6456692E1}"/>
              </a:ext>
            </a:extLst>
          </p:cNvPr>
          <p:cNvSpPr/>
          <p:nvPr/>
        </p:nvSpPr>
        <p:spPr>
          <a:xfrm>
            <a:off x="775854" y="5062755"/>
            <a:ext cx="8936182" cy="9005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Without random features → all trees look identical → averaging does nothing</a:t>
            </a:r>
          </a:p>
          <a:p>
            <a:r>
              <a:rPr lang="en-US" dirty="0"/>
              <a:t>With random features → trees are diverse → averaging reduces error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44191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A57-94D0-B9EB-0B97-9AD0174B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0584E-0C88-1BCC-87A7-0D2EF8D22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CA" dirty="0"/>
              <a:t>Growing each tree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Final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67CF7-DB7C-AB5F-2D58-81E8D66E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18</a:t>
            </a:fld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F82CBC-E66A-C962-70DF-6BA683FD2046}"/>
              </a:ext>
            </a:extLst>
          </p:cNvPr>
          <p:cNvSpPr/>
          <p:nvPr/>
        </p:nvSpPr>
        <p:spPr>
          <a:xfrm>
            <a:off x="677331" y="1850418"/>
            <a:ext cx="10510619" cy="2327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Is intensity at 643 cm⁻¹ &gt; 250?</a:t>
            </a:r>
          </a:p>
          <a:p>
            <a:r>
              <a:rPr lang="en-US" dirty="0"/>
              <a:t>  Yes : Is intensity at 712 cm⁻¹ &gt; 180?</a:t>
            </a:r>
          </a:p>
          <a:p>
            <a:r>
              <a:rPr lang="en-US" dirty="0"/>
              <a:t>          Yes : predict 0.365</a:t>
            </a:r>
          </a:p>
          <a:p>
            <a:r>
              <a:rPr lang="en-US" dirty="0"/>
              <a:t>          No  : predict 0.341</a:t>
            </a:r>
          </a:p>
          <a:p>
            <a:r>
              <a:rPr lang="en-US" dirty="0"/>
              <a:t>  No  : Is intensity at 891 cm⁻¹ &gt; 420?</a:t>
            </a:r>
          </a:p>
          <a:p>
            <a:r>
              <a:rPr lang="en-US" dirty="0"/>
              <a:t>          Yes : predict 0.328</a:t>
            </a:r>
          </a:p>
          <a:p>
            <a:r>
              <a:rPr lang="en-US" dirty="0"/>
              <a:t>          No  : predict 0.312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E43BC-65DF-A64B-273B-5E8BF4CDB5FC}"/>
              </a:ext>
            </a:extLst>
          </p:cNvPr>
          <p:cNvSpPr/>
          <p:nvPr/>
        </p:nvSpPr>
        <p:spPr>
          <a:xfrm>
            <a:off x="677330" y="4759786"/>
            <a:ext cx="10510619" cy="18504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Tree 1   predicts: 0.342</a:t>
            </a:r>
          </a:p>
          <a:p>
            <a:r>
              <a:rPr lang="en-US" dirty="0"/>
              <a:t>Tree 2   predicts: 0.338</a:t>
            </a:r>
          </a:p>
          <a:p>
            <a:r>
              <a:rPr lang="en-US" dirty="0"/>
              <a:t>Tree 3   predicts: 0.351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Tree 200 predicts: 0.344</a:t>
            </a:r>
          </a:p>
          <a:p>
            <a:r>
              <a:rPr lang="en-US" dirty="0"/>
              <a:t>Final answer = average of all 200 = 0.344 g/100g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542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6DD5-9AAA-C732-FB0A-6210AA3F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E5388-31E6-461D-8935-0BAB79725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1990"/>
            <a:ext cx="8596668" cy="3880773"/>
          </a:xfrm>
        </p:spPr>
        <p:txBody>
          <a:bodyPr/>
          <a:lstStyle/>
          <a:p>
            <a:r>
              <a:rPr lang="en-CA" dirty="0"/>
              <a:t>Preprocessing: (No scaling required)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Find Best hyperparameters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77811-E0B5-5C0F-1F8A-EF9AC199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19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C362B9-7863-7B90-07A3-22B3E9CB2D99}"/>
              </a:ext>
            </a:extLst>
          </p:cNvPr>
          <p:cNvSpPr/>
          <p:nvPr/>
        </p:nvSpPr>
        <p:spPr>
          <a:xfrm>
            <a:off x="677334" y="2071687"/>
            <a:ext cx="8958262" cy="14287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/>
              <a:t>SG Smoothing 			: remove noise</a:t>
            </a:r>
          </a:p>
          <a:p>
            <a:r>
              <a:rPr lang="en-CA" dirty="0"/>
              <a:t>SNV          				: fix intensity differences</a:t>
            </a:r>
          </a:p>
          <a:p>
            <a:r>
              <a:rPr lang="en-CA" dirty="0"/>
              <a:t>No </a:t>
            </a:r>
            <a:r>
              <a:rPr lang="en-CA" dirty="0" err="1"/>
              <a:t>StandardScaler</a:t>
            </a:r>
            <a:r>
              <a:rPr lang="en-CA" dirty="0"/>
              <a:t> needed : RF is scale-invariant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3AF50-6A1E-8F71-865D-AE15FC9D91DF}"/>
              </a:ext>
            </a:extLst>
          </p:cNvPr>
          <p:cNvSpPr/>
          <p:nvPr/>
        </p:nvSpPr>
        <p:spPr>
          <a:xfrm>
            <a:off x="677334" y="4080934"/>
            <a:ext cx="9572625" cy="26585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dirty="0" err="1"/>
              <a:t>RandomizedSearchCV</a:t>
            </a:r>
            <a:r>
              <a:rPr lang="en-CA" sz="1400" dirty="0"/>
              <a:t> tests 20 random combinations from: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n_estimators</a:t>
            </a:r>
            <a:r>
              <a:rPr lang="en-CA" sz="1400" dirty="0"/>
              <a:t> = [100, 200, 300]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max_depth</a:t>
            </a:r>
            <a:r>
              <a:rPr lang="en-CA" sz="1400" dirty="0"/>
              <a:t> = [5, 10, 20, None]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min_samples_split</a:t>
            </a:r>
            <a:r>
              <a:rPr lang="en-CA" sz="1400" dirty="0"/>
              <a:t> = [2, 5, 10]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min_samples_leaf</a:t>
            </a:r>
            <a:r>
              <a:rPr lang="en-CA" sz="1400" dirty="0"/>
              <a:t>  = [1, 2, 4]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max_features</a:t>
            </a:r>
            <a:r>
              <a:rPr lang="en-CA" sz="1400" dirty="0"/>
              <a:t>  = ['sqrt', 'log2']</a:t>
            </a:r>
          </a:p>
          <a:p>
            <a:r>
              <a:rPr lang="en-CA" sz="1400" dirty="0"/>
              <a:t>Winner: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n_estimators</a:t>
            </a:r>
            <a:r>
              <a:rPr lang="en-CA" sz="1400" dirty="0"/>
              <a:t> = 200   	 # 200 trees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max_depth</a:t>
            </a:r>
            <a:r>
              <a:rPr lang="en-CA" sz="1400" dirty="0"/>
              <a:t>    = None	 # trees grow fully</a:t>
            </a:r>
          </a:p>
          <a:p>
            <a:pPr lvl="1"/>
            <a:r>
              <a:rPr lang="en-CA" sz="1400" dirty="0"/>
              <a:t>  </a:t>
            </a:r>
            <a:r>
              <a:rPr lang="en-CA" sz="1400" dirty="0" err="1"/>
              <a:t>max_features</a:t>
            </a:r>
            <a:r>
              <a:rPr lang="en-CA" sz="1400" dirty="0"/>
              <a:t> = sqrt	 # 39 features per split</a:t>
            </a:r>
          </a:p>
          <a:p>
            <a:pPr lvl="1"/>
            <a:r>
              <a:rPr lang="en-CA" sz="1400" dirty="0"/>
              <a:t>  CV RMSE = 0.00747</a:t>
            </a:r>
          </a:p>
        </p:txBody>
      </p:sp>
    </p:spTree>
    <p:extLst>
      <p:ext uri="{BB962C8B-B14F-4D97-AF65-F5344CB8AC3E}">
        <p14:creationId xmlns:p14="http://schemas.microsoft.com/office/powerpoint/2010/main" val="20321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E197-F98E-3D4E-F26B-B164BAB2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556C4-D012-25D2-0B18-1A861101D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5957"/>
            <a:ext cx="8596668" cy="3880773"/>
          </a:xfrm>
        </p:spPr>
        <p:txBody>
          <a:bodyPr/>
          <a:lstStyle/>
          <a:p>
            <a:r>
              <a:rPr lang="en-CA" dirty="0"/>
              <a:t>Train Random Forest: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LOCOCV – no scaler needed for fold: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5DBC-8511-A392-A775-F06CD08C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20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13F4C-17E5-27A4-DBAE-4D737F8305DA}"/>
              </a:ext>
            </a:extLst>
          </p:cNvPr>
          <p:cNvSpPr/>
          <p:nvPr/>
        </p:nvSpPr>
        <p:spPr>
          <a:xfrm>
            <a:off x="1045029" y="1805939"/>
            <a:ext cx="8969828" cy="25180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/>
              <a:t>rf = </a:t>
            </a:r>
            <a:r>
              <a:rPr lang="en-CA" dirty="0" err="1"/>
              <a:t>RandomForestRegressor</a:t>
            </a:r>
            <a:r>
              <a:rPr lang="en-CA" dirty="0"/>
              <a:t>(</a:t>
            </a:r>
            <a:r>
              <a:rPr lang="en-CA" dirty="0" err="1"/>
              <a:t>n_estimators</a:t>
            </a:r>
            <a:r>
              <a:rPr lang="en-CA" dirty="0"/>
              <a:t>=200,</a:t>
            </a:r>
          </a:p>
          <a:p>
            <a:r>
              <a:rPr lang="en-CA" dirty="0"/>
              <a:t>                            </a:t>
            </a:r>
            <a:r>
              <a:rPr lang="en-CA" dirty="0" err="1"/>
              <a:t>max_depth</a:t>
            </a:r>
            <a:r>
              <a:rPr lang="en-CA" dirty="0"/>
              <a:t>=None,</a:t>
            </a:r>
          </a:p>
          <a:p>
            <a:r>
              <a:rPr lang="en-CA" dirty="0"/>
              <a:t>                            </a:t>
            </a:r>
            <a:r>
              <a:rPr lang="en-CA" dirty="0" err="1"/>
              <a:t>max_features</a:t>
            </a:r>
            <a:r>
              <a:rPr lang="en-CA" dirty="0"/>
              <a:t>='sqrt',</a:t>
            </a:r>
          </a:p>
          <a:p>
            <a:r>
              <a:rPr lang="en-CA" dirty="0"/>
              <a:t>                            </a:t>
            </a:r>
            <a:r>
              <a:rPr lang="en-CA" dirty="0" err="1"/>
              <a:t>n_jobs</a:t>
            </a:r>
            <a:r>
              <a:rPr lang="en-CA" dirty="0"/>
              <a:t>=-1)</a:t>
            </a:r>
          </a:p>
          <a:p>
            <a:r>
              <a:rPr lang="en-CA" dirty="0" err="1"/>
              <a:t>rf.fit</a:t>
            </a:r>
            <a:r>
              <a:rPr lang="en-CA" dirty="0"/>
              <a:t>(</a:t>
            </a:r>
            <a:r>
              <a:rPr lang="en-CA" dirty="0" err="1"/>
              <a:t>X_train</a:t>
            </a:r>
            <a:r>
              <a:rPr lang="en-CA" dirty="0"/>
              <a:t>, </a:t>
            </a:r>
            <a:r>
              <a:rPr lang="en-CA" dirty="0" err="1"/>
              <a:t>y_train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 err="1"/>
              <a:t>n_jobs</a:t>
            </a:r>
            <a:r>
              <a:rPr lang="en-CA" dirty="0"/>
              <a:t>=-1  </a:t>
            </a:r>
          </a:p>
          <a:p>
            <a:r>
              <a:rPr lang="en-CA" dirty="0"/>
              <a:t>#uses all CPU cores simultaneously (this is why RF is much faster than SVR)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F6554-602C-45FA-781C-D4D359559783}"/>
              </a:ext>
            </a:extLst>
          </p:cNvPr>
          <p:cNvSpPr/>
          <p:nvPr/>
        </p:nvSpPr>
        <p:spPr>
          <a:xfrm>
            <a:off x="1045029" y="5137110"/>
            <a:ext cx="8969828" cy="13861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For each fold:</a:t>
            </a:r>
          </a:p>
          <a:p>
            <a:pPr lvl="1"/>
            <a:r>
              <a:rPr lang="en-US" dirty="0"/>
              <a:t>  Train RF on 19 cultivars</a:t>
            </a:r>
          </a:p>
          <a:p>
            <a:pPr lvl="1"/>
            <a:r>
              <a:rPr lang="en-US" dirty="0"/>
              <a:t>  Predict held-out cultivar</a:t>
            </a:r>
          </a:p>
          <a:p>
            <a:pPr lvl="1"/>
            <a:r>
              <a:rPr lang="en-US" dirty="0"/>
              <a:t>  No scaling step needed 	# simpler than SVR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029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249-2BC9-4E1F-4ECA-51B5D1A5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1717E-EFA8-DC01-462C-0B3759CB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8136"/>
            <a:ext cx="8596668" cy="3880773"/>
          </a:xfrm>
        </p:spPr>
        <p:txBody>
          <a:bodyPr/>
          <a:lstStyle/>
          <a:p>
            <a:r>
              <a:rPr lang="en-CA" dirty="0"/>
              <a:t>Finding in Preprocessing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7E7BA-8F63-E6AA-2200-206604FE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21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5484E-CE73-36A5-10F5-FE07E419AE74}"/>
              </a:ext>
            </a:extLst>
          </p:cNvPr>
          <p:cNvSpPr/>
          <p:nvPr/>
        </p:nvSpPr>
        <p:spPr>
          <a:xfrm>
            <a:off x="476239" y="2459150"/>
            <a:ext cx="10511801" cy="22787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/>
              <a:t>Best 80/20 preprocessing → SG + SNV      (same as PLSR and SVR)</a:t>
            </a:r>
          </a:p>
          <a:p>
            <a:r>
              <a:rPr lang="en-CA" dirty="0"/>
              <a:t>Best LOCO  preprocessing → SG + 2nd </a:t>
            </a:r>
            <a:r>
              <a:rPr lang="en-CA" dirty="0" err="1"/>
              <a:t>Deriv</a:t>
            </a:r>
            <a:r>
              <a:rPr lang="en-CA" dirty="0"/>
              <a:t> (different!)</a:t>
            </a:r>
          </a:p>
          <a:p>
            <a:endParaRPr lang="en-CA" dirty="0"/>
          </a:p>
          <a:p>
            <a:r>
              <a:rPr lang="en-CA" dirty="0"/>
              <a:t>2nd derivative helps RF generalise to unseen cultivars</a:t>
            </a:r>
          </a:p>
          <a:p>
            <a:r>
              <a:rPr lang="en-CA" dirty="0"/>
              <a:t>by removing baseline effects that vary between cultivars</a:t>
            </a:r>
          </a:p>
        </p:txBody>
      </p:sp>
    </p:spTree>
    <p:extLst>
      <p:ext uri="{BB962C8B-B14F-4D97-AF65-F5344CB8AC3E}">
        <p14:creationId xmlns:p14="http://schemas.microsoft.com/office/powerpoint/2010/main" val="91905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0E87-75A6-1606-8823-AB347ADB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8619-6088-C5DA-043D-4A56AE6F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1" y="386426"/>
            <a:ext cx="9729617" cy="1320800"/>
          </a:xfrm>
        </p:spPr>
        <p:txBody>
          <a:bodyPr/>
          <a:lstStyle/>
          <a:p>
            <a:r>
              <a:rPr lang="en-CA" dirty="0"/>
              <a:t>Random Forest Preprocessing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8D6C-F822-C975-F0C9-7DC07A87A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92" y="5393073"/>
            <a:ext cx="8596668" cy="1464927"/>
          </a:xfrm>
        </p:spPr>
        <p:txBody>
          <a:bodyPr/>
          <a:lstStyle/>
          <a:p>
            <a:r>
              <a:rPr lang="en-CA" dirty="0"/>
              <a:t>SG + SNV best for 80/20 as consistent with PLSR and SVR </a:t>
            </a:r>
          </a:p>
          <a:p>
            <a:r>
              <a:rPr lang="en-CA" dirty="0"/>
              <a:t>SG + 2nd Derivative best for LOCO as derivatives help RF generalise to unseen cultivars unlike PLSR and SVR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B908E-3863-9023-6EB0-E3B15134D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1" y="1105899"/>
            <a:ext cx="11314587" cy="422398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BF3E-9E30-03C3-C6AB-B6994B51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533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CEFC2-0D3B-ECBC-CCBC-BE61FA4C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094D-A496-3D9C-950F-4FDC6D91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3122"/>
            <a:ext cx="9694965" cy="1320800"/>
          </a:xfrm>
        </p:spPr>
        <p:txBody>
          <a:bodyPr/>
          <a:lstStyle/>
          <a:p>
            <a:r>
              <a:rPr lang="en-CA" dirty="0"/>
              <a:t>Random Forest Preprocessing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B1DEE-A381-E77C-54CE-3AACE57E3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93918"/>
              </p:ext>
            </p:extLst>
          </p:nvPr>
        </p:nvGraphicFramePr>
        <p:xfrm>
          <a:off x="677334" y="1270000"/>
          <a:ext cx="11018798" cy="522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445">
                  <a:extLst>
                    <a:ext uri="{9D8B030D-6E8A-4147-A177-3AD203B41FA5}">
                      <a16:colId xmlns:a16="http://schemas.microsoft.com/office/drawing/2014/main" val="751630654"/>
                    </a:ext>
                  </a:extLst>
                </a:gridCol>
                <a:gridCol w="1259783">
                  <a:extLst>
                    <a:ext uri="{9D8B030D-6E8A-4147-A177-3AD203B41FA5}">
                      <a16:colId xmlns:a16="http://schemas.microsoft.com/office/drawing/2014/main" val="197777287"/>
                    </a:ext>
                  </a:extLst>
                </a:gridCol>
                <a:gridCol w="1574114">
                  <a:extLst>
                    <a:ext uri="{9D8B030D-6E8A-4147-A177-3AD203B41FA5}">
                      <a16:colId xmlns:a16="http://schemas.microsoft.com/office/drawing/2014/main" val="3674532637"/>
                    </a:ext>
                  </a:extLst>
                </a:gridCol>
                <a:gridCol w="1574114">
                  <a:extLst>
                    <a:ext uri="{9D8B030D-6E8A-4147-A177-3AD203B41FA5}">
                      <a16:colId xmlns:a16="http://schemas.microsoft.com/office/drawing/2014/main" val="2942130821"/>
                    </a:ext>
                  </a:extLst>
                </a:gridCol>
                <a:gridCol w="1574114">
                  <a:extLst>
                    <a:ext uri="{9D8B030D-6E8A-4147-A177-3AD203B41FA5}">
                      <a16:colId xmlns:a16="http://schemas.microsoft.com/office/drawing/2014/main" val="2155252926"/>
                    </a:ext>
                  </a:extLst>
                </a:gridCol>
                <a:gridCol w="1574114">
                  <a:extLst>
                    <a:ext uri="{9D8B030D-6E8A-4147-A177-3AD203B41FA5}">
                      <a16:colId xmlns:a16="http://schemas.microsoft.com/office/drawing/2014/main" val="1824770888"/>
                    </a:ext>
                  </a:extLst>
                </a:gridCol>
                <a:gridCol w="1574114">
                  <a:extLst>
                    <a:ext uri="{9D8B030D-6E8A-4147-A177-3AD203B41FA5}">
                      <a16:colId xmlns:a16="http://schemas.microsoft.com/office/drawing/2014/main" val="336459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Preprocessing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RMSE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R²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RPD (80/20)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RMSE (LOCO)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R² (LOCO)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RPD (LOCO)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06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0.0076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0.7857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2.1604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-0.3117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71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0.7832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2.1478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0.8196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30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0.5911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1.5638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-0.2381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34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0.5552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1.4995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0.0181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-0.2117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0.9085</a:t>
                      </a: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0.6029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1.5869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-0.2484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0.8950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13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0.5524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1.4948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-0.2356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46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0.5970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1.5753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-0.2381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17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0.5608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1.5090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 dirty="0"/>
                        <a:t>0.0181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-0.2117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 dirty="0"/>
                        <a:t>0.9085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68445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9BC0F-2DA4-85BB-D829-60185B29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6067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D0B2-931E-C42D-9A65-74215D0B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2EBE-D30D-74DC-FE90-6D828718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2" y="386426"/>
            <a:ext cx="9999274" cy="1320800"/>
          </a:xfrm>
        </p:spPr>
        <p:txBody>
          <a:bodyPr/>
          <a:lstStyle/>
          <a:p>
            <a:r>
              <a:rPr lang="en-CA" dirty="0"/>
              <a:t>Random Forest Best Configuration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8183F-9AD0-B5ED-96C0-43E9DCB6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2" y="1502315"/>
            <a:ext cx="11070265" cy="47208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5668F-992A-4A49-2962-0808736E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73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942C-8C27-D4E9-ED23-99CEF3BF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925A-EA34-1E18-F9FF-43DC1DE1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2" y="386426"/>
            <a:ext cx="9786214" cy="1320800"/>
          </a:xfrm>
        </p:spPr>
        <p:txBody>
          <a:bodyPr/>
          <a:lstStyle/>
          <a:p>
            <a:r>
              <a:rPr lang="en-CA" dirty="0"/>
              <a:t>Random Forest Best Configuration 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BAD300-97AD-E15C-04C3-D6B6DA5BB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23381"/>
              </p:ext>
            </p:extLst>
          </p:nvPr>
        </p:nvGraphicFramePr>
        <p:xfrm>
          <a:off x="661292" y="1707226"/>
          <a:ext cx="11128631" cy="301939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380515">
                  <a:extLst>
                    <a:ext uri="{9D8B030D-6E8A-4147-A177-3AD203B41FA5}">
                      <a16:colId xmlns:a16="http://schemas.microsoft.com/office/drawing/2014/main" val="1022508436"/>
                    </a:ext>
                  </a:extLst>
                </a:gridCol>
                <a:gridCol w="3874058">
                  <a:extLst>
                    <a:ext uri="{9D8B030D-6E8A-4147-A177-3AD203B41FA5}">
                      <a16:colId xmlns:a16="http://schemas.microsoft.com/office/drawing/2014/main" val="2697780158"/>
                    </a:ext>
                  </a:extLst>
                </a:gridCol>
                <a:gridCol w="3874058">
                  <a:extLst>
                    <a:ext uri="{9D8B030D-6E8A-4147-A177-3AD203B41FA5}">
                      <a16:colId xmlns:a16="http://schemas.microsoft.com/office/drawing/2014/main" val="2953411284"/>
                    </a:ext>
                  </a:extLst>
                </a:gridCol>
              </a:tblGrid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Metric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80/20 Split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LOCOCV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87417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RMSE</a:t>
                      </a:r>
                      <a:endParaRPr lang="en-CA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0.0076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0.0188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476624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R²</a:t>
                      </a:r>
                      <a:endParaRPr lang="en-CA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0.7857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-0.3117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22159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RPD</a:t>
                      </a:r>
                      <a:endParaRPr lang="en-CA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2.1604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0.8731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25640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Preprocessing</a:t>
                      </a:r>
                      <a:endParaRPr lang="en-CA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SG + SNV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835263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n_estimators</a:t>
                      </a:r>
                      <a:endParaRPr lang="en-CA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49693"/>
                  </a:ext>
                </a:extLst>
              </a:tr>
              <a:tr h="45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max_depth</a:t>
                      </a:r>
                      <a:endParaRPr lang="en-CA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None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None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073847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max_features</a:t>
                      </a:r>
                      <a:endParaRPr lang="en-CA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sqrt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sqrt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527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A269CD-763E-A692-84CC-8B331EAA0607}"/>
              </a:ext>
            </a:extLst>
          </p:cNvPr>
          <p:cNvSpPr txBox="1"/>
          <p:nvPr/>
        </p:nvSpPr>
        <p:spPr>
          <a:xfrm>
            <a:off x="724585" y="5150774"/>
            <a:ext cx="10742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Best LOCO R² of all three models so far (-0.31 vs SVR -0.47 vs PLSR -0.65)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Best LOCO RPD = 0.87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62FE1-A9E5-A5DC-57F8-E7986F92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66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D9A3-6BB8-5ABA-0874-B1679830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PLSR vs SVR vs Random Forest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0AF674-CCCD-D014-4CEF-DF9AF8941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531886"/>
              </p:ext>
            </p:extLst>
          </p:nvPr>
        </p:nvGraphicFramePr>
        <p:xfrm>
          <a:off x="677334" y="1550988"/>
          <a:ext cx="9186572" cy="3078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643">
                  <a:extLst>
                    <a:ext uri="{9D8B030D-6E8A-4147-A177-3AD203B41FA5}">
                      <a16:colId xmlns:a16="http://schemas.microsoft.com/office/drawing/2014/main" val="579489426"/>
                    </a:ext>
                  </a:extLst>
                </a:gridCol>
                <a:gridCol w="2296643">
                  <a:extLst>
                    <a:ext uri="{9D8B030D-6E8A-4147-A177-3AD203B41FA5}">
                      <a16:colId xmlns:a16="http://schemas.microsoft.com/office/drawing/2014/main" val="1184900479"/>
                    </a:ext>
                  </a:extLst>
                </a:gridCol>
                <a:gridCol w="2296643">
                  <a:extLst>
                    <a:ext uri="{9D8B030D-6E8A-4147-A177-3AD203B41FA5}">
                      <a16:colId xmlns:a16="http://schemas.microsoft.com/office/drawing/2014/main" val="618627300"/>
                    </a:ext>
                  </a:extLst>
                </a:gridCol>
                <a:gridCol w="2296643">
                  <a:extLst>
                    <a:ext uri="{9D8B030D-6E8A-4147-A177-3AD203B41FA5}">
                      <a16:colId xmlns:a16="http://schemas.microsoft.com/office/drawing/2014/main" val="4217648847"/>
                    </a:ext>
                  </a:extLst>
                </a:gridCol>
              </a:tblGrid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PLSR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SVR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RF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544194"/>
                  </a:ext>
                </a:extLst>
              </a:tr>
              <a:tr h="363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0.0076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199493"/>
                  </a:ext>
                </a:extLst>
              </a:tr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0.4476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0.8935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0.7857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113666"/>
                  </a:ext>
                </a:extLst>
              </a:tr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1.3455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3.0644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2.1604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988155"/>
                  </a:ext>
                </a:extLst>
              </a:tr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0.0188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010716"/>
                  </a:ext>
                </a:extLst>
              </a:tr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-0.6481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-0.4750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-0.3117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555082"/>
                  </a:ext>
                </a:extLst>
              </a:tr>
              <a:tr h="33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0.7790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0.8731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112678"/>
                  </a:ext>
                </a:extLst>
              </a:tr>
              <a:tr h="518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Best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SG + SNV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407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03181A-9CDC-7EBE-8A15-914499396100}"/>
              </a:ext>
            </a:extLst>
          </p:cNvPr>
          <p:cNvSpPr txBox="1"/>
          <p:nvPr/>
        </p:nvSpPr>
        <p:spPr>
          <a:xfrm>
            <a:off x="677334" y="5103674"/>
            <a:ext cx="94364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SVR achieved the best performance for within cultivar prediction, with an RPD greater than 3.0, making it suitable for screening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RF showed the strongest cross cultivar performance, achieving the lowest LOCO RMSE and highest LOCO RPD.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All models produced negative LOCO R² values, indicating limited generalisation to unseen cultivars.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00B55-57C7-2A8D-31B0-95443C38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5489F-7E4D-4DA9-ABCA-873DF10E435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3137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522</TotalTime>
  <Words>2314</Words>
  <Application>Microsoft Office PowerPoint</Application>
  <PresentationFormat>Widescreen</PresentationFormat>
  <Paragraphs>455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Cambria Math</vt:lpstr>
      <vt:lpstr>Trebuchet MS</vt:lpstr>
      <vt:lpstr>Wingdings</vt:lpstr>
      <vt:lpstr>Wingdings 3</vt:lpstr>
      <vt:lpstr>Facet</vt:lpstr>
      <vt:lpstr>Cysteine Prediction in Pea Cultivars Using Raman Spectroscopy and Machine Learning  Week – 3</vt:lpstr>
      <vt:lpstr>Support Vector Regression</vt:lpstr>
      <vt:lpstr>Support Vector Regression</vt:lpstr>
      <vt:lpstr>Support Vector Regression – Mathematical Formula</vt:lpstr>
      <vt:lpstr>How It Works?</vt:lpstr>
      <vt:lpstr>Step by Step in Coding</vt:lpstr>
      <vt:lpstr>Step by Step in Coding</vt:lpstr>
      <vt:lpstr>Why SVR for spectral data:</vt:lpstr>
      <vt:lpstr>SVR Preprocessing Comparison</vt:lpstr>
      <vt:lpstr>SVR Preprocessing Comparison</vt:lpstr>
      <vt:lpstr>SVR Best Configuration Results</vt:lpstr>
      <vt:lpstr>SVR Best Configuration Results</vt:lpstr>
      <vt:lpstr>Random Forest Regression</vt:lpstr>
      <vt:lpstr>Random Forest Regression</vt:lpstr>
      <vt:lpstr>Random Forest Regression – Mathematical Formula</vt:lpstr>
      <vt:lpstr>Why Random Forest for spectral data:</vt:lpstr>
      <vt:lpstr>How it Works:</vt:lpstr>
      <vt:lpstr>How it works?</vt:lpstr>
      <vt:lpstr>Step by Step Coding</vt:lpstr>
      <vt:lpstr>Step by Step Coding</vt:lpstr>
      <vt:lpstr>Step by Step Coding</vt:lpstr>
      <vt:lpstr>Random Forest Preprocessing Comparison</vt:lpstr>
      <vt:lpstr>Random Forest Preprocessing Comparison</vt:lpstr>
      <vt:lpstr>Random Forest Best Configuration Results</vt:lpstr>
      <vt:lpstr>Random Forest Best Configuration Results</vt:lpstr>
      <vt:lpstr>PLSR vs SVR vs 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Mittal</dc:creator>
  <cp:lastModifiedBy>Priyanshu Mittal</cp:lastModifiedBy>
  <cp:revision>5</cp:revision>
  <dcterms:created xsi:type="dcterms:W3CDTF">2026-06-24T02:45:46Z</dcterms:created>
  <dcterms:modified xsi:type="dcterms:W3CDTF">2026-06-24T11:29:39Z</dcterms:modified>
</cp:coreProperties>
</file>