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70" r:id="rId5"/>
    <p:sldId id="271" r:id="rId6"/>
    <p:sldId id="272" r:id="rId7"/>
    <p:sldId id="273" r:id="rId8"/>
    <p:sldId id="275" r:id="rId9"/>
    <p:sldId id="259" r:id="rId10"/>
    <p:sldId id="260" r:id="rId11"/>
    <p:sldId id="261" r:id="rId12"/>
    <p:sldId id="262" r:id="rId13"/>
    <p:sldId id="263" r:id="rId14"/>
    <p:sldId id="264" r:id="rId15"/>
    <p:sldId id="265" r:id="rId16"/>
    <p:sldId id="267" r:id="rId17"/>
    <p:sldId id="266" r:id="rId18"/>
    <p:sldId id="268" r:id="rId19"/>
    <p:sldId id="26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p:scale>
          <a:sx n="45" d="100"/>
          <a:sy n="45" d="100"/>
        </p:scale>
        <p:origin x="700" y="3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74840F-AC09-40D4-9E65-9E77B4584175}" type="datetimeFigureOut">
              <a:rPr lang="en-CA" smtClean="0"/>
              <a:t>2026-07-01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F9A0E9-9F41-4831-816B-F8D7FF1BA51C}" type="slidenum">
              <a:rPr lang="en-CA" smtClean="0"/>
              <a:t>‹#›</a:t>
            </a:fld>
            <a:endParaRPr lang="en-CA"/>
          </a:p>
        </p:txBody>
      </p:sp>
    </p:spTree>
    <p:extLst>
      <p:ext uri="{BB962C8B-B14F-4D97-AF65-F5344CB8AC3E}">
        <p14:creationId xmlns:p14="http://schemas.microsoft.com/office/powerpoint/2010/main" val="2261619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DF9A0E9-9F41-4831-816B-F8D7FF1BA51C}" type="slidenum">
              <a:rPr lang="en-CA" smtClean="0"/>
              <a:t>17</a:t>
            </a:fld>
            <a:endParaRPr lang="en-CA"/>
          </a:p>
        </p:txBody>
      </p:sp>
    </p:spTree>
    <p:extLst>
      <p:ext uri="{BB962C8B-B14F-4D97-AF65-F5344CB8AC3E}">
        <p14:creationId xmlns:p14="http://schemas.microsoft.com/office/powerpoint/2010/main" val="955144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2056305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1804500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3344902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34463F-1463-4300-880C-32A75D34AF94}" type="datetimeFigureOut">
              <a:rPr lang="en-CA" smtClean="0"/>
              <a:t>2026-07-01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251713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34463F-1463-4300-880C-32A75D34AF94}" type="datetimeFigureOut">
              <a:rPr lang="en-CA" smtClean="0"/>
              <a:t>2026-07-01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422276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34463F-1463-4300-880C-32A75D34AF94}" type="datetimeFigureOut">
              <a:rPr lang="en-CA" smtClean="0"/>
              <a:t>2026-07-01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266085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34463F-1463-4300-880C-32A75D34AF94}" type="datetimeFigureOut">
              <a:rPr lang="en-CA" smtClean="0"/>
              <a:t>2026-07-01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2758502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34463F-1463-4300-880C-32A75D34AF94}" type="datetimeFigureOut">
              <a:rPr lang="en-CA" smtClean="0"/>
              <a:t>2026-07-01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3928893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34463F-1463-4300-880C-32A75D34AF94}" type="datetimeFigureOut">
              <a:rPr lang="en-CA" smtClean="0"/>
              <a:t>2026-07-01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1962814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2349889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14649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3569652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6309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634859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1857718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34463F-1463-4300-880C-32A75D34AF94}" type="datetimeFigureOut">
              <a:rPr lang="en-CA" smtClean="0"/>
              <a:t>2026-07-01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316F9AC-7199-4F4D-AB34-7025C4F8D7E2}" type="slidenum">
              <a:rPr lang="en-CA" smtClean="0"/>
              <a:t>‹#›</a:t>
            </a:fld>
            <a:endParaRPr lang="en-CA"/>
          </a:p>
        </p:txBody>
      </p:sp>
    </p:spTree>
    <p:extLst>
      <p:ext uri="{BB962C8B-B14F-4D97-AF65-F5344CB8AC3E}">
        <p14:creationId xmlns:p14="http://schemas.microsoft.com/office/powerpoint/2010/main" val="410463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E34463F-1463-4300-880C-32A75D34AF94}" type="datetimeFigureOut">
              <a:rPr lang="en-CA" smtClean="0"/>
              <a:t>2026-07-01</a:t>
            </a:fld>
            <a:endParaRPr lang="en-C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316F9AC-7199-4F4D-AB34-7025C4F8D7E2}" type="slidenum">
              <a:rPr lang="en-CA" smtClean="0"/>
              <a:t>‹#›</a:t>
            </a:fld>
            <a:endParaRPr lang="en-CA"/>
          </a:p>
        </p:txBody>
      </p:sp>
    </p:spTree>
    <p:extLst>
      <p:ext uri="{BB962C8B-B14F-4D97-AF65-F5344CB8AC3E}">
        <p14:creationId xmlns:p14="http://schemas.microsoft.com/office/powerpoint/2010/main" val="4118137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EEA54-F600-8C99-7F26-4BB55AED1C43}"/>
              </a:ext>
            </a:extLst>
          </p:cNvPr>
          <p:cNvSpPr>
            <a:spLocks noGrp="1"/>
          </p:cNvSpPr>
          <p:nvPr>
            <p:ph type="ctrTitle"/>
          </p:nvPr>
        </p:nvSpPr>
        <p:spPr/>
        <p:txBody>
          <a:bodyPr/>
          <a:lstStyle/>
          <a:p>
            <a:pPr algn="ctr"/>
            <a:r>
              <a:rPr lang="en-CA" sz="3600" dirty="0"/>
              <a:t>Cysteine Prediction in Pea Cultivars Using Raman Spectroscopy and Machine Learning </a:t>
            </a:r>
            <a:br>
              <a:rPr lang="en-CA" sz="3600" dirty="0"/>
            </a:br>
            <a:r>
              <a:rPr lang="en-CA" sz="3600" dirty="0"/>
              <a:t>Week – 4</a:t>
            </a:r>
          </a:p>
        </p:txBody>
      </p:sp>
      <p:sp>
        <p:nvSpPr>
          <p:cNvPr id="3" name="Subtitle 2">
            <a:extLst>
              <a:ext uri="{FF2B5EF4-FFF2-40B4-BE49-F238E27FC236}">
                <a16:creationId xmlns:a16="http://schemas.microsoft.com/office/drawing/2014/main" id="{F2EA1107-FA31-A99E-EE17-D322F7640628}"/>
              </a:ext>
            </a:extLst>
          </p:cNvPr>
          <p:cNvSpPr>
            <a:spLocks noGrp="1"/>
          </p:cNvSpPr>
          <p:nvPr>
            <p:ph type="subTitle" idx="1"/>
          </p:nvPr>
        </p:nvSpPr>
        <p:spPr>
          <a:xfrm>
            <a:off x="1326957" y="4050836"/>
            <a:ext cx="7766936" cy="1096899"/>
          </a:xfrm>
        </p:spPr>
        <p:txBody>
          <a:bodyPr>
            <a:normAutofit/>
          </a:bodyPr>
          <a:lstStyle/>
          <a:p>
            <a:pPr lvl="1"/>
            <a:r>
              <a:rPr lang="en-CA" sz="2400" dirty="0"/>
              <a:t>Priyanshu Mittal</a:t>
            </a:r>
          </a:p>
          <a:p>
            <a:pPr lvl="1"/>
            <a:r>
              <a:rPr lang="en-CA" sz="2400" dirty="0"/>
              <a:t>July 02, 2026</a:t>
            </a:r>
          </a:p>
        </p:txBody>
      </p:sp>
    </p:spTree>
    <p:extLst>
      <p:ext uri="{BB962C8B-B14F-4D97-AF65-F5344CB8AC3E}">
        <p14:creationId xmlns:p14="http://schemas.microsoft.com/office/powerpoint/2010/main" val="3619020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E2AD-8470-8A3E-745C-9C36B5283A6D}"/>
              </a:ext>
            </a:extLst>
          </p:cNvPr>
          <p:cNvSpPr>
            <a:spLocks noGrp="1"/>
          </p:cNvSpPr>
          <p:nvPr>
            <p:ph type="title"/>
          </p:nvPr>
        </p:nvSpPr>
        <p:spPr/>
        <p:txBody>
          <a:bodyPr/>
          <a:lstStyle/>
          <a:p>
            <a:r>
              <a:rPr lang="en-CA" dirty="0"/>
              <a:t>1D Convolutional Neural Network</a:t>
            </a:r>
          </a:p>
        </p:txBody>
      </p:sp>
      <p:sp>
        <p:nvSpPr>
          <p:cNvPr id="3" name="Content Placeholder 2">
            <a:extLst>
              <a:ext uri="{FF2B5EF4-FFF2-40B4-BE49-F238E27FC236}">
                <a16:creationId xmlns:a16="http://schemas.microsoft.com/office/drawing/2014/main" id="{929D6FBE-23E4-1D9C-2056-F404E948A8B1}"/>
              </a:ext>
            </a:extLst>
          </p:cNvPr>
          <p:cNvSpPr>
            <a:spLocks noGrp="1"/>
          </p:cNvSpPr>
          <p:nvPr>
            <p:ph idx="1"/>
          </p:nvPr>
        </p:nvSpPr>
        <p:spPr>
          <a:xfrm>
            <a:off x="896997" y="2049804"/>
            <a:ext cx="4830033" cy="4662905"/>
          </a:xfrm>
        </p:spPr>
        <p:txBody>
          <a:bodyPr>
            <a:normAutofit/>
          </a:bodyPr>
          <a:lstStyle/>
          <a:p>
            <a:pPr fontAlgn="base"/>
            <a:r>
              <a:rPr lang="en-CA" u="sng" dirty="0"/>
              <a:t>Convolutional Neural Networks (CNNs) </a:t>
            </a:r>
            <a:r>
              <a:rPr lang="en-CA" dirty="0"/>
              <a:t>are deep learning models designed to process data with a grid-like topology such as images. </a:t>
            </a:r>
          </a:p>
          <a:p>
            <a:pPr fontAlgn="base"/>
            <a:r>
              <a:rPr lang="en-CA" dirty="0"/>
              <a:t>They are the foundation for most modern computer vision applications to detect features within visual data.</a:t>
            </a:r>
          </a:p>
          <a:p>
            <a:r>
              <a:rPr lang="en-CA" dirty="0"/>
              <a:t>CNNs are trained using a supervised learning approach. This means that the CNN is given a set of labeled training images. The CNN learns to map the input images to their correct labels.</a:t>
            </a:r>
            <a:br>
              <a:rPr lang="en-CA" dirty="0"/>
            </a:br>
            <a:endParaRPr lang="en-CA" dirty="0"/>
          </a:p>
        </p:txBody>
      </p:sp>
      <p:pic>
        <p:nvPicPr>
          <p:cNvPr id="5" name="Picture 4">
            <a:extLst>
              <a:ext uri="{FF2B5EF4-FFF2-40B4-BE49-F238E27FC236}">
                <a16:creationId xmlns:a16="http://schemas.microsoft.com/office/drawing/2014/main" id="{99DBF3DF-AD56-074B-1C7F-E6791BF05FA2}"/>
              </a:ext>
            </a:extLst>
          </p:cNvPr>
          <p:cNvPicPr>
            <a:picLocks noChangeAspect="1"/>
          </p:cNvPicPr>
          <p:nvPr/>
        </p:nvPicPr>
        <p:blipFill>
          <a:blip r:embed="rId2"/>
          <a:stretch>
            <a:fillRect/>
          </a:stretch>
        </p:blipFill>
        <p:spPr>
          <a:xfrm>
            <a:off x="6096000" y="1930400"/>
            <a:ext cx="5803983" cy="2898369"/>
          </a:xfrm>
          <a:prstGeom prst="rect">
            <a:avLst/>
          </a:prstGeom>
        </p:spPr>
      </p:pic>
    </p:spTree>
    <p:extLst>
      <p:ext uri="{BB962C8B-B14F-4D97-AF65-F5344CB8AC3E}">
        <p14:creationId xmlns:p14="http://schemas.microsoft.com/office/powerpoint/2010/main" val="2616606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6CF9-70C5-8723-416D-D21149A0F4F5}"/>
              </a:ext>
            </a:extLst>
          </p:cNvPr>
          <p:cNvSpPr>
            <a:spLocks noGrp="1"/>
          </p:cNvSpPr>
          <p:nvPr>
            <p:ph type="title"/>
          </p:nvPr>
        </p:nvSpPr>
        <p:spPr/>
        <p:txBody>
          <a:bodyPr/>
          <a:lstStyle/>
          <a:p>
            <a:r>
              <a:rPr lang="en-CA" dirty="0"/>
              <a:t>How it Works?</a:t>
            </a:r>
            <a:br>
              <a:rPr lang="en-CA" dirty="0"/>
            </a:br>
            <a:endParaRPr lang="en-CA" dirty="0"/>
          </a:p>
        </p:txBody>
      </p:sp>
      <p:sp>
        <p:nvSpPr>
          <p:cNvPr id="3" name="Content Placeholder 2">
            <a:extLst>
              <a:ext uri="{FF2B5EF4-FFF2-40B4-BE49-F238E27FC236}">
                <a16:creationId xmlns:a16="http://schemas.microsoft.com/office/drawing/2014/main" id="{9CE4F8A3-43F3-60B2-F098-F8774016BB38}"/>
              </a:ext>
            </a:extLst>
          </p:cNvPr>
          <p:cNvSpPr>
            <a:spLocks noGrp="1"/>
          </p:cNvSpPr>
          <p:nvPr>
            <p:ph idx="1"/>
          </p:nvPr>
        </p:nvSpPr>
        <p:spPr>
          <a:xfrm>
            <a:off x="677334" y="1480404"/>
            <a:ext cx="10415782" cy="4917989"/>
          </a:xfrm>
        </p:spPr>
        <p:txBody>
          <a:bodyPr>
            <a:normAutofit/>
          </a:bodyPr>
          <a:lstStyle/>
          <a:p>
            <a:r>
              <a:rPr lang="en-CA" sz="2000" dirty="0"/>
              <a:t>Key Idea: A 1D CNN treats the spectrum as a signal and slides small windows along it, learning local patterns like peak shapes, widths and shoulders automatically. No manual feature engineering needed.</a:t>
            </a:r>
          </a:p>
          <a:p>
            <a:pPr lvl="1"/>
            <a:r>
              <a:rPr lang="en-CA" sz="1800" b="1" dirty="0"/>
              <a:t>Step 1: Convolution: </a:t>
            </a:r>
            <a:r>
              <a:rPr lang="en-CA" sz="1800" dirty="0"/>
              <a:t>A small filter (kernel size 5) slides along the 1,530 point spectrum. At each position, it multiplies the filter weights with the spectral values and sums them together, detecting local patterns such as peaks. </a:t>
            </a:r>
          </a:p>
          <a:p>
            <a:pPr lvl="1"/>
            <a:r>
              <a:rPr lang="en-CA" sz="1800" b="1" dirty="0"/>
              <a:t>Step 2: Batch Normalisation: </a:t>
            </a:r>
            <a:r>
              <a:rPr lang="en-CA" sz="1800" dirty="0"/>
              <a:t>After each convolution, the values are normalised across the batch. This handles intensity scaling differences between spectra internally and reduces dependence on external preprocessing. </a:t>
            </a:r>
          </a:p>
          <a:p>
            <a:pPr lvl="1"/>
            <a:r>
              <a:rPr lang="en-CA" sz="1800" b="1" dirty="0"/>
              <a:t>Step 3: Max Pooling: </a:t>
            </a:r>
            <a:r>
              <a:rPr lang="en-CA" sz="1800" dirty="0"/>
              <a:t>Reduces the spectral length by half after each block. It keeps only the strongest detected features and reduces noise.</a:t>
            </a:r>
          </a:p>
          <a:p>
            <a:pPr lvl="1"/>
            <a:r>
              <a:rPr lang="en-CA" sz="1800" b="1" dirty="0"/>
              <a:t>Step 4: Four blocks, increasing complexity</a:t>
            </a:r>
          </a:p>
          <a:p>
            <a:pPr lvl="1"/>
            <a:r>
              <a:rPr lang="en-CA" sz="1800" b="1" dirty="0"/>
              <a:t>Step 5: Fully connected layers: </a:t>
            </a:r>
            <a:r>
              <a:rPr lang="en-CA" sz="1800" dirty="0"/>
              <a:t>Flattened features fed into dense layers → Dropout(0.3) prevents overfitting → single output neuron predicts cysteine value</a:t>
            </a:r>
          </a:p>
          <a:p>
            <a:endParaRPr lang="en-CA" sz="2000" dirty="0"/>
          </a:p>
        </p:txBody>
      </p:sp>
    </p:spTree>
    <p:extLst>
      <p:ext uri="{BB962C8B-B14F-4D97-AF65-F5344CB8AC3E}">
        <p14:creationId xmlns:p14="http://schemas.microsoft.com/office/powerpoint/2010/main" val="543859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2B40A-0866-B2C6-7A50-F766C45A0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CEB82-341C-7BAD-5147-2F6F10151A7D}"/>
              </a:ext>
            </a:extLst>
          </p:cNvPr>
          <p:cNvSpPr>
            <a:spLocks noGrp="1"/>
          </p:cNvSpPr>
          <p:nvPr>
            <p:ph type="title"/>
          </p:nvPr>
        </p:nvSpPr>
        <p:spPr/>
        <p:txBody>
          <a:bodyPr/>
          <a:lstStyle/>
          <a:p>
            <a:r>
              <a:rPr lang="en-CA" dirty="0"/>
              <a:t>Mathematical Background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4F166E1-23ED-EF39-5CE3-18580C149C29}"/>
                  </a:ext>
                </a:extLst>
              </p:cNvPr>
              <p:cNvSpPr>
                <a:spLocks noGrp="1"/>
              </p:cNvSpPr>
              <p:nvPr>
                <p:ph idx="1"/>
              </p:nvPr>
            </p:nvSpPr>
            <p:spPr>
              <a:xfrm>
                <a:off x="677334" y="1873738"/>
                <a:ext cx="8596668" cy="3880773"/>
              </a:xfrm>
            </p:spPr>
            <p:txBody>
              <a:bodyPr>
                <a:normAutofit fontScale="92500" lnSpcReduction="20000"/>
              </a:bodyPr>
              <a:lstStyle/>
              <a:p>
                <a:r>
                  <a:rPr lang="en-CA" dirty="0"/>
                  <a:t>1D Convolution operation:</a:t>
                </a:r>
              </a:p>
              <a:p>
                <a:endParaRPr lang="en-CA" dirty="0"/>
              </a:p>
              <a:p>
                <a:endParaRPr lang="en-CA" dirty="0"/>
              </a:p>
              <a:p>
                <a:endParaRPr lang="en-CA" dirty="0"/>
              </a:p>
              <a:p>
                <a:endParaRPr lang="en-CA" dirty="0"/>
              </a:p>
              <a:p>
                <a:pPr marL="457200" lvl="1" indent="0">
                  <a:buNone/>
                </a:pPr>
                <a:r>
                  <a:rPr lang="en-CA" dirty="0"/>
                  <a:t>where:</a:t>
                </a:r>
              </a:p>
              <a:p>
                <a:pPr lvl="1"/>
                <a14:m>
                  <m:oMath xmlns:m="http://schemas.openxmlformats.org/officeDocument/2006/math">
                    <m:r>
                      <a:rPr lang="en-CA" i="1"/>
                      <m:t>𝑋</m:t>
                    </m:r>
                  </m:oMath>
                </a14:m>
                <a:r>
                  <a:rPr lang="en-CA" dirty="0"/>
                  <a:t>is the input spectrum. </a:t>
                </a:r>
              </a:p>
              <a:p>
                <a:pPr lvl="1"/>
                <a14:m>
                  <m:oMath xmlns:m="http://schemas.openxmlformats.org/officeDocument/2006/math">
                    <m:r>
                      <a:rPr lang="en-CA" i="1"/>
                      <m:t>𝑤</m:t>
                    </m:r>
                  </m:oMath>
                </a14:m>
                <a:r>
                  <a:rPr lang="en-CA" dirty="0"/>
                  <a:t>is the convolution filter of length </a:t>
                </a:r>
                <a14:m>
                  <m:oMath xmlns:m="http://schemas.openxmlformats.org/officeDocument/2006/math">
                    <m:r>
                      <a:rPr lang="en-CA" i="1"/>
                      <m:t>𝑘</m:t>
                    </m:r>
                  </m:oMath>
                </a14:m>
                <a:r>
                  <a:rPr lang="en-CA" dirty="0"/>
                  <a:t>. </a:t>
                </a:r>
              </a:p>
              <a:p>
                <a:pPr lvl="1"/>
                <a14:m>
                  <m:oMath xmlns:m="http://schemas.openxmlformats.org/officeDocument/2006/math">
                    <m:r>
                      <a:rPr lang="en-CA" i="1"/>
                      <m:t>𝑡</m:t>
                    </m:r>
                  </m:oMath>
                </a14:m>
                <a:r>
                  <a:rPr lang="en-CA" dirty="0"/>
                  <a:t>is the current position in the spectrum. </a:t>
                </a:r>
              </a:p>
              <a:p>
                <a:pPr lvl="1"/>
                <a14:m>
                  <m:oMath xmlns:m="http://schemas.openxmlformats.org/officeDocument/2006/math">
                    <m:sSub>
                      <m:sSubPr>
                        <m:ctrlPr>
                          <a:rPr lang="en-CA"/>
                        </m:ctrlPr>
                      </m:sSubPr>
                      <m:e>
                        <m:r>
                          <a:rPr lang="en-CA" i="1"/>
                          <m:t>𝑋</m:t>
                        </m:r>
                      </m:e>
                      <m:sub>
                        <m:r>
                          <a:rPr lang="en-CA" i="1"/>
                          <m:t>𝑡</m:t>
                        </m:r>
                        <m:r>
                          <a:rPr lang="en-CA"/>
                          <m:t>+</m:t>
                        </m:r>
                        <m:r>
                          <a:rPr lang="en-CA" i="1"/>
                          <m:t>𝑖</m:t>
                        </m:r>
                      </m:sub>
                    </m:sSub>
                  </m:oMath>
                </a14:m>
                <a:r>
                  <a:rPr lang="en-CA" dirty="0"/>
                  <a:t>and </a:t>
                </a:r>
                <a14:m>
                  <m:oMath xmlns:m="http://schemas.openxmlformats.org/officeDocument/2006/math">
                    <m:sSub>
                      <m:sSubPr>
                        <m:ctrlPr>
                          <a:rPr lang="en-CA"/>
                        </m:ctrlPr>
                      </m:sSubPr>
                      <m:e>
                        <m:r>
                          <a:rPr lang="en-CA" i="1"/>
                          <m:t>𝑤</m:t>
                        </m:r>
                      </m:e>
                      <m:sub>
                        <m:r>
                          <a:rPr lang="en-CA" i="1"/>
                          <m:t>𝑖</m:t>
                        </m:r>
                      </m:sub>
                    </m:sSub>
                  </m:oMath>
                </a14:m>
                <a:r>
                  <a:rPr lang="en-CA" dirty="0"/>
                  <a:t>are multiplied and summed to produce the output at position </a:t>
                </a:r>
                <a14:m>
                  <m:oMath xmlns:m="http://schemas.openxmlformats.org/officeDocument/2006/math">
                    <m:r>
                      <a:rPr lang="en-CA" i="1"/>
                      <m:t>𝑡</m:t>
                    </m:r>
                  </m:oMath>
                </a14:m>
                <a:r>
                  <a:rPr lang="en-CA" dirty="0"/>
                  <a:t>. </a:t>
                </a:r>
              </a:p>
              <a:p>
                <a:pPr lvl="1"/>
                <a:r>
                  <a:rPr lang="en-CA" dirty="0"/>
                  <a:t>This operation computes a weighted sum of </a:t>
                </a:r>
                <a14:m>
                  <m:oMath xmlns:m="http://schemas.openxmlformats.org/officeDocument/2006/math">
                    <m:r>
                      <a:rPr lang="en-CA" i="1"/>
                      <m:t>𝑘</m:t>
                    </m:r>
                  </m:oMath>
                </a14:m>
                <a:r>
                  <a:rPr lang="en-CA" dirty="0"/>
                  <a:t>neighbouring spectral points, where the filter </a:t>
                </a:r>
                <a14:m>
                  <m:oMath xmlns:m="http://schemas.openxmlformats.org/officeDocument/2006/math">
                    <m:r>
                      <a:rPr lang="en-CA" i="1"/>
                      <m:t>𝑤</m:t>
                    </m:r>
                  </m:oMath>
                </a14:m>
                <a:r>
                  <a:rPr lang="en-CA" dirty="0"/>
                  <a:t>contains the learned weights.</a:t>
                </a:r>
              </a:p>
              <a:p>
                <a:endParaRPr lang="en-CA" dirty="0"/>
              </a:p>
            </p:txBody>
          </p:sp>
        </mc:Choice>
        <mc:Fallback>
          <p:sp>
            <p:nvSpPr>
              <p:cNvPr id="3" name="Content Placeholder 2">
                <a:extLst>
                  <a:ext uri="{FF2B5EF4-FFF2-40B4-BE49-F238E27FC236}">
                    <a16:creationId xmlns:a16="http://schemas.microsoft.com/office/drawing/2014/main" id="{04F166E1-23ED-EF39-5CE3-18580C149C29}"/>
                  </a:ext>
                </a:extLst>
              </p:cNvPr>
              <p:cNvSpPr>
                <a:spLocks noGrp="1" noRot="1" noChangeAspect="1" noMove="1" noResize="1" noEditPoints="1" noAdjustHandles="1" noChangeArrowheads="1" noChangeShapeType="1" noTextEdit="1"/>
              </p:cNvSpPr>
              <p:nvPr>
                <p:ph idx="1"/>
              </p:nvPr>
            </p:nvSpPr>
            <p:spPr>
              <a:xfrm>
                <a:off x="677334" y="1873738"/>
                <a:ext cx="8596668" cy="3880773"/>
              </a:xfrm>
              <a:blipFill>
                <a:blip r:embed="rId2"/>
                <a:stretch>
                  <a:fillRect l="-71" t="-1727"/>
                </a:stretch>
              </a:blipFill>
            </p:spPr>
            <p:txBody>
              <a:bodyPr/>
              <a:lstStyle/>
              <a:p>
                <a:r>
                  <a:rPr lang="en-CA">
                    <a:noFill/>
                  </a:rPr>
                  <a:t> </a:t>
                </a:r>
              </a:p>
            </p:txBody>
          </p:sp>
        </mc:Fallback>
      </mc:AlternateContent>
      <p:pic>
        <p:nvPicPr>
          <p:cNvPr id="5" name="Picture 4">
            <a:extLst>
              <a:ext uri="{FF2B5EF4-FFF2-40B4-BE49-F238E27FC236}">
                <a16:creationId xmlns:a16="http://schemas.microsoft.com/office/drawing/2014/main" id="{FFA63247-4DA7-85BC-25C4-B070F454D76E}"/>
              </a:ext>
            </a:extLst>
          </p:cNvPr>
          <p:cNvPicPr>
            <a:picLocks noChangeAspect="1"/>
          </p:cNvPicPr>
          <p:nvPr/>
        </p:nvPicPr>
        <p:blipFill>
          <a:blip r:embed="rId3"/>
          <a:stretch>
            <a:fillRect/>
          </a:stretch>
        </p:blipFill>
        <p:spPr>
          <a:xfrm>
            <a:off x="2991952" y="2057791"/>
            <a:ext cx="3967431" cy="1756334"/>
          </a:xfrm>
          <a:prstGeom prst="rect">
            <a:avLst/>
          </a:prstGeom>
        </p:spPr>
      </p:pic>
    </p:spTree>
    <p:extLst>
      <p:ext uri="{BB962C8B-B14F-4D97-AF65-F5344CB8AC3E}">
        <p14:creationId xmlns:p14="http://schemas.microsoft.com/office/powerpoint/2010/main" val="3299608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5814C-F4DE-192B-C92D-C442BC083D8C}"/>
              </a:ext>
            </a:extLst>
          </p:cNvPr>
          <p:cNvSpPr>
            <a:spLocks noGrp="1"/>
          </p:cNvSpPr>
          <p:nvPr>
            <p:ph type="title"/>
          </p:nvPr>
        </p:nvSpPr>
        <p:spPr/>
        <p:txBody>
          <a:bodyPr/>
          <a:lstStyle/>
          <a:p>
            <a:r>
              <a:rPr lang="en-CA" dirty="0"/>
              <a:t>Mathematical Background</a:t>
            </a:r>
          </a:p>
        </p:txBody>
      </p:sp>
      <p:sp>
        <p:nvSpPr>
          <p:cNvPr id="3" name="Content Placeholder 2">
            <a:extLst>
              <a:ext uri="{FF2B5EF4-FFF2-40B4-BE49-F238E27FC236}">
                <a16:creationId xmlns:a16="http://schemas.microsoft.com/office/drawing/2014/main" id="{14DFD0AA-0F79-6549-EC87-3FD5E5260D17}"/>
              </a:ext>
            </a:extLst>
          </p:cNvPr>
          <p:cNvSpPr>
            <a:spLocks noGrp="1"/>
          </p:cNvSpPr>
          <p:nvPr>
            <p:ph idx="1"/>
          </p:nvPr>
        </p:nvSpPr>
        <p:spPr>
          <a:xfrm>
            <a:off x="677334" y="2160589"/>
            <a:ext cx="8596668" cy="4255709"/>
          </a:xfrm>
        </p:spPr>
        <p:txBody>
          <a:bodyPr>
            <a:normAutofit fontScale="92500" lnSpcReduction="20000"/>
          </a:bodyPr>
          <a:lstStyle/>
          <a:p>
            <a:r>
              <a:rPr lang="en-CA" dirty="0"/>
              <a:t>Batch Normalisation:</a:t>
            </a:r>
          </a:p>
          <a:p>
            <a:endParaRPr lang="en-CA" dirty="0"/>
          </a:p>
          <a:p>
            <a:endParaRPr lang="en-CA" dirty="0"/>
          </a:p>
          <a:p>
            <a:endParaRPr lang="en-CA" dirty="0"/>
          </a:p>
          <a:p>
            <a:endParaRPr lang="en-CA" dirty="0"/>
          </a:p>
          <a:p>
            <a:pPr marL="0" indent="0">
              <a:buNone/>
            </a:pPr>
            <a:r>
              <a:rPr lang="en-US" dirty="0"/>
              <a:t>where </a:t>
            </a:r>
          </a:p>
          <a:p>
            <a:pPr lvl="1"/>
            <a:r>
              <a:rPr lang="en-US" dirty="0"/>
              <a:t>μ is the batch mean.</a:t>
            </a:r>
          </a:p>
          <a:p>
            <a:pPr lvl="1"/>
            <a:r>
              <a:rPr lang="en-US" dirty="0"/>
              <a:t>σ2 is the batch variance.</a:t>
            </a:r>
          </a:p>
          <a:p>
            <a:pPr lvl="1"/>
            <a:r>
              <a:rPr lang="en-US" dirty="0"/>
              <a:t>ϵ is a small constant for numerical stability.</a:t>
            </a:r>
          </a:p>
          <a:p>
            <a:pPr lvl="1"/>
            <a:r>
              <a:rPr lang="en-US" dirty="0"/>
              <a:t>γ and β are learned scaling and shifting parameters.</a:t>
            </a:r>
          </a:p>
          <a:p>
            <a:pPr marL="0" indent="0">
              <a:buNone/>
            </a:pPr>
            <a:r>
              <a:rPr lang="en-US" dirty="0"/>
              <a:t>	</a:t>
            </a:r>
          </a:p>
          <a:p>
            <a:pPr marL="0" indent="0">
              <a:buNone/>
            </a:pPr>
            <a:r>
              <a:rPr lang="en-US" dirty="0"/>
              <a:t>This </a:t>
            </a:r>
            <a:r>
              <a:rPr lang="en-US" dirty="0" err="1"/>
              <a:t>normalises</a:t>
            </a:r>
            <a:r>
              <a:rPr lang="en-US" dirty="0"/>
              <a:t> the activations and keeps them in a stable range during training, resulting in faster and more stable convergence.</a:t>
            </a:r>
            <a:endParaRPr lang="en-CA" dirty="0"/>
          </a:p>
          <a:p>
            <a:pPr marL="0" indent="0">
              <a:buNone/>
            </a:pPr>
            <a:endParaRPr lang="en-CA" dirty="0"/>
          </a:p>
          <a:p>
            <a:pPr marL="0" indent="0">
              <a:buNone/>
            </a:pPr>
            <a:endParaRPr lang="en-CA" dirty="0"/>
          </a:p>
        </p:txBody>
      </p:sp>
      <p:pic>
        <p:nvPicPr>
          <p:cNvPr id="9" name="Picture 8">
            <a:extLst>
              <a:ext uri="{FF2B5EF4-FFF2-40B4-BE49-F238E27FC236}">
                <a16:creationId xmlns:a16="http://schemas.microsoft.com/office/drawing/2014/main" id="{C9C8E4E8-A66B-2C22-9B46-C6CE88CC511C}"/>
              </a:ext>
            </a:extLst>
          </p:cNvPr>
          <p:cNvPicPr>
            <a:picLocks noChangeAspect="1"/>
          </p:cNvPicPr>
          <p:nvPr/>
        </p:nvPicPr>
        <p:blipFill>
          <a:blip r:embed="rId2"/>
          <a:stretch>
            <a:fillRect/>
          </a:stretch>
        </p:blipFill>
        <p:spPr>
          <a:xfrm>
            <a:off x="2304840" y="2642077"/>
            <a:ext cx="5585228" cy="1573845"/>
          </a:xfrm>
          <a:prstGeom prst="rect">
            <a:avLst/>
          </a:prstGeom>
        </p:spPr>
      </p:pic>
    </p:spTree>
    <p:extLst>
      <p:ext uri="{BB962C8B-B14F-4D97-AF65-F5344CB8AC3E}">
        <p14:creationId xmlns:p14="http://schemas.microsoft.com/office/powerpoint/2010/main" val="1900840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E3AA0-8092-B009-72A6-6D609DB0F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1D923-DAC7-9751-216E-82C61FB0D41A}"/>
              </a:ext>
            </a:extLst>
          </p:cNvPr>
          <p:cNvSpPr>
            <a:spLocks noGrp="1"/>
          </p:cNvSpPr>
          <p:nvPr>
            <p:ph type="title"/>
          </p:nvPr>
        </p:nvSpPr>
        <p:spPr/>
        <p:txBody>
          <a:bodyPr/>
          <a:lstStyle/>
          <a:p>
            <a:r>
              <a:rPr lang="en-CA" dirty="0"/>
              <a:t>Mathematical Background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A09AD4-638F-DC70-760B-C00D5DEA9350}"/>
                  </a:ext>
                </a:extLst>
              </p:cNvPr>
              <p:cNvSpPr>
                <a:spLocks noGrp="1"/>
              </p:cNvSpPr>
              <p:nvPr>
                <p:ph idx="1"/>
              </p:nvPr>
            </p:nvSpPr>
            <p:spPr>
              <a:xfrm>
                <a:off x="677334" y="2160589"/>
                <a:ext cx="8596668" cy="4255709"/>
              </a:xfrm>
            </p:spPr>
            <p:txBody>
              <a:bodyPr>
                <a:normAutofit lnSpcReduction="10000"/>
              </a:bodyPr>
              <a:lstStyle/>
              <a:p>
                <a:r>
                  <a:rPr lang="en-CA" dirty="0"/>
                  <a:t>Loss function - Huber Loss (beta = 0.02):</a:t>
                </a:r>
              </a:p>
              <a:p>
                <a:endParaRPr lang="en-CA" dirty="0"/>
              </a:p>
              <a:p>
                <a:endParaRPr lang="en-CA" dirty="0"/>
              </a:p>
              <a:p>
                <a:endParaRPr lang="en-CA" dirty="0"/>
              </a:p>
              <a:p>
                <a:pPr marL="0" indent="0">
                  <a:buNone/>
                </a:pPr>
                <a:r>
                  <a:rPr lang="en-US" dirty="0"/>
                  <a:t>where	</a:t>
                </a:r>
              </a:p>
              <a:p>
                <a:pPr lvl="1"/>
                <a:r>
                  <a:rPr lang="en-CA" dirty="0" err="1"/>
                  <a:t>ypred</a:t>
                </a:r>
                <a:r>
                  <a:rPr lang="en-CA" dirty="0"/>
                  <a:t>​ is the predicted value. </a:t>
                </a:r>
              </a:p>
              <a:p>
                <a:pPr lvl="1"/>
                <a14:m>
                  <m:oMath xmlns:m="http://schemas.openxmlformats.org/officeDocument/2006/math">
                    <m:sSub>
                      <m:sSubPr>
                        <m:ctrlPr>
                          <a:rPr lang="en-CA"/>
                        </m:ctrlPr>
                      </m:sSubPr>
                      <m:e>
                        <m:r>
                          <a:rPr lang="en-CA" i="1"/>
                          <m:t>𝑦</m:t>
                        </m:r>
                      </m:e>
                      <m:sub>
                        <m:r>
                          <m:rPr>
                            <m:nor/>
                          </m:rPr>
                          <a:rPr lang="en-CA" i="1"/>
                          <m:t>true</m:t>
                        </m:r>
                      </m:sub>
                    </m:sSub>
                  </m:oMath>
                </a14:m>
                <a:r>
                  <a:rPr lang="en-CA" dirty="0"/>
                  <a:t>is the true value. </a:t>
                </a:r>
              </a:p>
              <a:p>
                <a:pPr lvl="1"/>
                <a14:m>
                  <m:oMath xmlns:m="http://schemas.openxmlformats.org/officeDocument/2006/math">
                    <m:r>
                      <a:rPr lang="en-CA" i="1"/>
                      <m:t>𝛽</m:t>
                    </m:r>
                  </m:oMath>
                </a14:m>
                <a:r>
                  <a:rPr lang="en-CA" dirty="0"/>
                  <a:t>is the transition point between the quadratic and linear regions of the loss function. </a:t>
                </a:r>
              </a:p>
              <a:p>
                <a:pPr marL="0" indent="0">
                  <a:buNone/>
                </a:pPr>
                <a:r>
                  <a:rPr lang="en-CA" dirty="0"/>
                  <a:t>Smooth L1 Loss behaves like Mean Squared Error for small prediction errors and Mean Absolute Error for large prediction errors. This makes the model more robust to outliers while maintaining stable gradients during training.</a:t>
                </a:r>
              </a:p>
            </p:txBody>
          </p:sp>
        </mc:Choice>
        <mc:Fallback>
          <p:sp>
            <p:nvSpPr>
              <p:cNvPr id="3" name="Content Placeholder 2">
                <a:extLst>
                  <a:ext uri="{FF2B5EF4-FFF2-40B4-BE49-F238E27FC236}">
                    <a16:creationId xmlns:a16="http://schemas.microsoft.com/office/drawing/2014/main" id="{A9A09AD4-638F-DC70-760B-C00D5DEA9350}"/>
                  </a:ext>
                </a:extLst>
              </p:cNvPr>
              <p:cNvSpPr>
                <a:spLocks noGrp="1" noRot="1" noChangeAspect="1" noMove="1" noResize="1" noEditPoints="1" noAdjustHandles="1" noChangeArrowheads="1" noChangeShapeType="1" noTextEdit="1"/>
              </p:cNvSpPr>
              <p:nvPr>
                <p:ph idx="1"/>
              </p:nvPr>
            </p:nvSpPr>
            <p:spPr>
              <a:xfrm>
                <a:off x="677334" y="2160589"/>
                <a:ext cx="8596668" cy="4255709"/>
              </a:xfrm>
              <a:blipFill>
                <a:blip r:embed="rId2"/>
                <a:stretch>
                  <a:fillRect l="-567" t="-1431"/>
                </a:stretch>
              </a:blipFill>
            </p:spPr>
            <p:txBody>
              <a:bodyPr/>
              <a:lstStyle/>
              <a:p>
                <a:r>
                  <a:rPr lang="en-CA">
                    <a:noFill/>
                  </a:rPr>
                  <a:t> </a:t>
                </a:r>
              </a:p>
            </p:txBody>
          </p:sp>
        </mc:Fallback>
      </mc:AlternateContent>
      <p:pic>
        <p:nvPicPr>
          <p:cNvPr id="5" name="Picture 4">
            <a:extLst>
              <a:ext uri="{FF2B5EF4-FFF2-40B4-BE49-F238E27FC236}">
                <a16:creationId xmlns:a16="http://schemas.microsoft.com/office/drawing/2014/main" id="{95D58A41-4581-485C-BDC6-4AAA5ABDCA0E}"/>
              </a:ext>
            </a:extLst>
          </p:cNvPr>
          <p:cNvPicPr>
            <a:picLocks noChangeAspect="1"/>
          </p:cNvPicPr>
          <p:nvPr/>
        </p:nvPicPr>
        <p:blipFill>
          <a:blip r:embed="rId3"/>
          <a:stretch>
            <a:fillRect/>
          </a:stretch>
        </p:blipFill>
        <p:spPr>
          <a:xfrm>
            <a:off x="2172047" y="2424650"/>
            <a:ext cx="5563852" cy="1542917"/>
          </a:xfrm>
          <a:prstGeom prst="rect">
            <a:avLst/>
          </a:prstGeom>
        </p:spPr>
      </p:pic>
    </p:spTree>
    <p:extLst>
      <p:ext uri="{BB962C8B-B14F-4D97-AF65-F5344CB8AC3E}">
        <p14:creationId xmlns:p14="http://schemas.microsoft.com/office/powerpoint/2010/main" val="2563545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B29E7-96D5-003C-A811-367F86B67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4F766-FAF0-8073-E207-C923AE3FA470}"/>
              </a:ext>
            </a:extLst>
          </p:cNvPr>
          <p:cNvSpPr>
            <a:spLocks noGrp="1"/>
          </p:cNvSpPr>
          <p:nvPr>
            <p:ph type="title"/>
          </p:nvPr>
        </p:nvSpPr>
        <p:spPr/>
        <p:txBody>
          <a:bodyPr/>
          <a:lstStyle/>
          <a:p>
            <a:r>
              <a:rPr lang="en-CA" dirty="0"/>
              <a:t>Mathematical Background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681FC30-3FD7-EADE-EA0B-4C0F86372DCD}"/>
                  </a:ext>
                </a:extLst>
              </p:cNvPr>
              <p:cNvSpPr>
                <a:spLocks noGrp="1"/>
              </p:cNvSpPr>
              <p:nvPr>
                <p:ph idx="1"/>
              </p:nvPr>
            </p:nvSpPr>
            <p:spPr>
              <a:xfrm>
                <a:off x="677334" y="2160589"/>
                <a:ext cx="8596668" cy="4255709"/>
              </a:xfrm>
            </p:spPr>
            <p:txBody>
              <a:bodyPr>
                <a:normAutofit lnSpcReduction="10000"/>
              </a:bodyPr>
              <a:lstStyle/>
              <a:p>
                <a:r>
                  <a:rPr lang="en-CA" dirty="0"/>
                  <a:t>Adam W Optimizer:</a:t>
                </a:r>
              </a:p>
              <a:p>
                <a:endParaRPr lang="en-CA" dirty="0"/>
              </a:p>
              <a:p>
                <a:endParaRPr lang="en-CA" dirty="0"/>
              </a:p>
              <a:p>
                <a:endParaRPr lang="en-CA" dirty="0"/>
              </a:p>
              <a:p>
                <a:endParaRPr lang="en-CA" dirty="0"/>
              </a:p>
              <a:p>
                <a:pPr marL="0" indent="0">
                  <a:buNone/>
                </a:pPr>
                <a:r>
                  <a:rPr lang="en-US" dirty="0"/>
                  <a:t>where </a:t>
                </a:r>
              </a:p>
              <a:p>
                <a:pPr lvl="1"/>
                <a:r>
                  <a:rPr lang="en-CA" dirty="0"/>
                  <a:t>w is the model weight. </a:t>
                </a:r>
              </a:p>
              <a:p>
                <a:pPr lvl="1"/>
                <a14:m>
                  <m:oMath xmlns:m="http://schemas.openxmlformats.org/officeDocument/2006/math">
                    <m:r>
                      <a:rPr lang="en-CA" i="1">
                        <a:latin typeface="Cambria Math" panose="02040503050406030204" pitchFamily="18" charset="0"/>
                      </a:rPr>
                      <m:t>𝜂</m:t>
                    </m:r>
                    <m:r>
                      <a:rPr lang="en-CA" b="0" i="1" smtClean="0">
                        <a:latin typeface="Cambria Math" panose="02040503050406030204" pitchFamily="18" charset="0"/>
                      </a:rPr>
                      <m:t> </m:t>
                    </m:r>
                  </m:oMath>
                </a14:m>
                <a:r>
                  <a:rPr lang="en-CA" dirty="0"/>
                  <a:t>is the learning rate.</a:t>
                </a:r>
              </a:p>
              <a:p>
                <a:pPr lvl="1"/>
                <a:r>
                  <a:rPr lang="en-CA" dirty="0"/>
                  <a:t> </a:t>
                </a:r>
                <a14:m>
                  <m:oMath xmlns:m="http://schemas.openxmlformats.org/officeDocument/2006/math">
                    <m:r>
                      <a:rPr lang="en-CA" i="1">
                        <a:latin typeface="Cambria Math" panose="02040503050406030204" pitchFamily="18" charset="0"/>
                      </a:rPr>
                      <m:t>𝑚</m:t>
                    </m:r>
                    <m:r>
                      <a:rPr lang="en-CA" b="0" i="1" smtClean="0">
                        <a:latin typeface="Cambria Math" panose="02040503050406030204" pitchFamily="18" charset="0"/>
                      </a:rPr>
                      <m:t> </m:t>
                    </m:r>
                  </m:oMath>
                </a14:m>
                <a:r>
                  <a:rPr lang="en-CA" dirty="0"/>
                  <a:t>is the exponential moving average of the gradients. </a:t>
                </a:r>
                <a:endParaRPr lang="en-CA" i="1" dirty="0">
                  <a:latin typeface="Cambria Math" panose="02040503050406030204" pitchFamily="18" charset="0"/>
                </a:endParaRPr>
              </a:p>
              <a:p>
                <a:pPr lvl="1"/>
                <a14:m>
                  <m:oMath xmlns:m="http://schemas.openxmlformats.org/officeDocument/2006/math">
                    <m:r>
                      <a:rPr lang="en-CA" i="1">
                        <a:latin typeface="Cambria Math" panose="02040503050406030204" pitchFamily="18" charset="0"/>
                      </a:rPr>
                      <m:t>𝑣</m:t>
                    </m:r>
                  </m:oMath>
                </a14:m>
                <a:r>
                  <a:rPr lang="en-CA" dirty="0"/>
                  <a:t> is the exponential moving average of the squared gradients. </a:t>
                </a:r>
                <a:endParaRPr lang="en-CA" i="1" dirty="0">
                  <a:latin typeface="Cambria Math" panose="02040503050406030204" pitchFamily="18" charset="0"/>
                </a:endParaRPr>
              </a:p>
              <a:p>
                <a:pPr lvl="1"/>
                <a14:m>
                  <m:oMath xmlns:m="http://schemas.openxmlformats.org/officeDocument/2006/math">
                    <m:r>
                      <a:rPr lang="en-CA" i="1">
                        <a:latin typeface="Cambria Math" panose="02040503050406030204" pitchFamily="18" charset="0"/>
                      </a:rPr>
                      <m:t>𝜖</m:t>
                    </m:r>
                    <m:r>
                      <a:rPr lang="en-CA" b="0" i="1" smtClean="0">
                        <a:latin typeface="Cambria Math" panose="02040503050406030204" pitchFamily="18" charset="0"/>
                      </a:rPr>
                      <m:t> </m:t>
                    </m:r>
                  </m:oMath>
                </a14:m>
                <a:r>
                  <a:rPr lang="en-CA" dirty="0"/>
                  <a:t>is a small constant for numerical stability. </a:t>
                </a:r>
                <a14:m>
                  <m:oMath xmlns:m="http://schemas.openxmlformats.org/officeDocument/2006/math">
                    <m:r>
                      <a:rPr lang="en-CA" i="1">
                        <a:latin typeface="Cambria Math" panose="02040503050406030204" pitchFamily="18" charset="0"/>
                      </a:rPr>
                      <m:t>𝜆</m:t>
                    </m:r>
                  </m:oMath>
                </a14:m>
                <a:r>
                  <a:rPr lang="en-CA" dirty="0"/>
                  <a:t>is the weight decay coefficient, which prevents the weights from growing too large.</a:t>
                </a:r>
              </a:p>
              <a:p>
                <a:pPr marL="0" indent="0">
                  <a:buNone/>
                </a:pPr>
                <a:endParaRPr lang="en-CA" dirty="0"/>
              </a:p>
            </p:txBody>
          </p:sp>
        </mc:Choice>
        <mc:Fallback>
          <p:sp>
            <p:nvSpPr>
              <p:cNvPr id="3" name="Content Placeholder 2">
                <a:extLst>
                  <a:ext uri="{FF2B5EF4-FFF2-40B4-BE49-F238E27FC236}">
                    <a16:creationId xmlns:a16="http://schemas.microsoft.com/office/drawing/2014/main" id="{4681FC30-3FD7-EADE-EA0B-4C0F86372DCD}"/>
                  </a:ext>
                </a:extLst>
              </p:cNvPr>
              <p:cNvSpPr>
                <a:spLocks noGrp="1" noRot="1" noChangeAspect="1" noMove="1" noResize="1" noEditPoints="1" noAdjustHandles="1" noChangeArrowheads="1" noChangeShapeType="1" noTextEdit="1"/>
              </p:cNvSpPr>
              <p:nvPr>
                <p:ph idx="1"/>
              </p:nvPr>
            </p:nvSpPr>
            <p:spPr>
              <a:xfrm>
                <a:off x="677334" y="2160589"/>
                <a:ext cx="8596668" cy="4255709"/>
              </a:xfrm>
              <a:blipFill>
                <a:blip r:embed="rId2"/>
                <a:stretch>
                  <a:fillRect l="-567" t="-1431" r="-993"/>
                </a:stretch>
              </a:blipFill>
            </p:spPr>
            <p:txBody>
              <a:bodyPr/>
              <a:lstStyle/>
              <a:p>
                <a:r>
                  <a:rPr lang="en-CA">
                    <a:noFill/>
                  </a:rPr>
                  <a:t> </a:t>
                </a:r>
              </a:p>
            </p:txBody>
          </p:sp>
        </mc:Fallback>
      </mc:AlternateContent>
      <p:pic>
        <p:nvPicPr>
          <p:cNvPr id="5" name="Picture 4">
            <a:extLst>
              <a:ext uri="{FF2B5EF4-FFF2-40B4-BE49-F238E27FC236}">
                <a16:creationId xmlns:a16="http://schemas.microsoft.com/office/drawing/2014/main" id="{010317F0-2E37-03BD-6ADA-B9EA5319D3FB}"/>
              </a:ext>
            </a:extLst>
          </p:cNvPr>
          <p:cNvPicPr>
            <a:picLocks noChangeAspect="1"/>
          </p:cNvPicPr>
          <p:nvPr/>
        </p:nvPicPr>
        <p:blipFill>
          <a:blip r:embed="rId3"/>
          <a:stretch>
            <a:fillRect/>
          </a:stretch>
        </p:blipFill>
        <p:spPr>
          <a:xfrm>
            <a:off x="2917998" y="2525655"/>
            <a:ext cx="3285140" cy="1322778"/>
          </a:xfrm>
          <a:prstGeom prst="rect">
            <a:avLst/>
          </a:prstGeom>
        </p:spPr>
      </p:pic>
    </p:spTree>
    <p:extLst>
      <p:ext uri="{BB962C8B-B14F-4D97-AF65-F5344CB8AC3E}">
        <p14:creationId xmlns:p14="http://schemas.microsoft.com/office/powerpoint/2010/main" val="2511658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0A0A-9DBA-20FE-062D-9F3897629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864B3-ED54-0D90-8CE5-EC818A9AB5B3}"/>
              </a:ext>
            </a:extLst>
          </p:cNvPr>
          <p:cNvSpPr>
            <a:spLocks noGrp="1"/>
          </p:cNvSpPr>
          <p:nvPr>
            <p:ph type="title"/>
          </p:nvPr>
        </p:nvSpPr>
        <p:spPr/>
        <p:txBody>
          <a:bodyPr/>
          <a:lstStyle/>
          <a:p>
            <a:r>
              <a:rPr lang="en-CA" dirty="0"/>
              <a:t>Mathematical Background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4AAD6BC-E73F-ACB6-281E-419C601CF6E7}"/>
                  </a:ext>
                </a:extLst>
              </p:cNvPr>
              <p:cNvSpPr>
                <a:spLocks noGrp="1"/>
              </p:cNvSpPr>
              <p:nvPr>
                <p:ph idx="1"/>
              </p:nvPr>
            </p:nvSpPr>
            <p:spPr>
              <a:xfrm>
                <a:off x="677334" y="2160589"/>
                <a:ext cx="8596668" cy="4255709"/>
              </a:xfrm>
            </p:spPr>
            <p:txBody>
              <a:bodyPr>
                <a:normAutofit fontScale="92500" lnSpcReduction="20000"/>
              </a:bodyPr>
              <a:lstStyle/>
              <a:p>
                <a:r>
                  <a:rPr lang="en-CA" dirty="0"/>
                  <a:t>OneCycleLR Scheduler:</a:t>
                </a:r>
              </a:p>
              <a:p>
                <a:endParaRPr lang="en-CA" dirty="0"/>
              </a:p>
              <a:p>
                <a:endParaRPr lang="en-CA" dirty="0"/>
              </a:p>
              <a:p>
                <a:endParaRPr lang="en-CA" dirty="0"/>
              </a:p>
              <a:p>
                <a:pPr marL="0" indent="0">
                  <a:buNone/>
                </a:pPr>
                <a:endParaRPr lang="en-US" dirty="0"/>
              </a:p>
              <a:p>
                <a:pPr marL="0" indent="0">
                  <a:buNone/>
                </a:pPr>
                <a:r>
                  <a:rPr lang="en-US" dirty="0"/>
                  <a:t>where </a:t>
                </a:r>
              </a:p>
              <a:p>
                <a:pPr lvl="2"/>
                <a:r>
                  <a:rPr lang="en-CA" dirty="0"/>
                  <a:t>η(t) is the learning rate at training step </a:t>
                </a:r>
                <a14:m>
                  <m:oMath xmlns:m="http://schemas.openxmlformats.org/officeDocument/2006/math">
                    <m:r>
                      <a:rPr lang="en-CA" i="1"/>
                      <m:t>𝑡</m:t>
                    </m:r>
                  </m:oMath>
                </a14:m>
                <a:r>
                  <a:rPr lang="en-CA" dirty="0"/>
                  <a:t>. </a:t>
                </a:r>
              </a:p>
              <a:p>
                <a:pPr lvl="2"/>
                <a14:m>
                  <m:oMath xmlns:m="http://schemas.openxmlformats.org/officeDocument/2006/math">
                    <m:sSub>
                      <m:sSubPr>
                        <m:ctrlPr>
                          <a:rPr lang="en-CA"/>
                        </m:ctrlPr>
                      </m:sSubPr>
                      <m:e>
                        <m:r>
                          <a:rPr lang="en-CA" i="1"/>
                          <m:t>𝜂</m:t>
                        </m:r>
                      </m:e>
                      <m:sub>
                        <m:r>
                          <m:rPr>
                            <m:sty m:val="p"/>
                          </m:rPr>
                          <a:rPr lang="en-CA"/>
                          <m:t>min</m:t>
                        </m:r>
                      </m:sub>
                    </m:sSub>
                  </m:oMath>
                </a14:m>
                <a:r>
                  <a:rPr lang="en-CA" dirty="0"/>
                  <a:t>is the initial learning rate. </a:t>
                </a:r>
              </a:p>
              <a:p>
                <a:pPr lvl="2"/>
                <a14:m>
                  <m:oMath xmlns:m="http://schemas.openxmlformats.org/officeDocument/2006/math">
                    <m:sSub>
                      <m:sSubPr>
                        <m:ctrlPr>
                          <a:rPr lang="en-CA"/>
                        </m:ctrlPr>
                      </m:sSubPr>
                      <m:e>
                        <m:r>
                          <a:rPr lang="en-CA" i="1"/>
                          <m:t>𝜂</m:t>
                        </m:r>
                      </m:e>
                      <m:sub>
                        <m:r>
                          <m:rPr>
                            <m:sty m:val="p"/>
                          </m:rPr>
                          <a:rPr lang="en-CA"/>
                          <m:t>max</m:t>
                        </m:r>
                      </m:sub>
                    </m:sSub>
                  </m:oMath>
                </a14:m>
                <a:r>
                  <a:rPr lang="en-CA" dirty="0"/>
                  <a:t>is the maximum learning rate. </a:t>
                </a:r>
              </a:p>
              <a:p>
                <a:pPr lvl="2"/>
                <a14:m>
                  <m:oMath xmlns:m="http://schemas.openxmlformats.org/officeDocument/2006/math">
                    <m:r>
                      <a:rPr lang="en-CA" i="1"/>
                      <m:t>𝑇</m:t>
                    </m:r>
                  </m:oMath>
                </a14:m>
                <a:r>
                  <a:rPr lang="en-CA" dirty="0"/>
                  <a:t>is the total number of training steps. </a:t>
                </a:r>
              </a:p>
              <a:p>
                <a:endParaRPr lang="en-CA" dirty="0"/>
              </a:p>
              <a:p>
                <a:r>
                  <a:rPr lang="en-CA" dirty="0"/>
                  <a:t>The learning rate starts low, increases to the maximum during the first 30% of training, and gradually decreases to near zero over the remaining 70%. This helps the model escape local minima early and fine tune later.</a:t>
                </a:r>
              </a:p>
              <a:p>
                <a:pPr marL="0" indent="0">
                  <a:buNone/>
                </a:pPr>
                <a:endParaRPr lang="en-CA" dirty="0"/>
              </a:p>
            </p:txBody>
          </p:sp>
        </mc:Choice>
        <mc:Fallback>
          <p:sp>
            <p:nvSpPr>
              <p:cNvPr id="3" name="Content Placeholder 2">
                <a:extLst>
                  <a:ext uri="{FF2B5EF4-FFF2-40B4-BE49-F238E27FC236}">
                    <a16:creationId xmlns:a16="http://schemas.microsoft.com/office/drawing/2014/main" id="{84AAD6BC-E73F-ACB6-281E-419C601CF6E7}"/>
                  </a:ext>
                </a:extLst>
              </p:cNvPr>
              <p:cNvSpPr>
                <a:spLocks noGrp="1" noRot="1" noChangeAspect="1" noMove="1" noResize="1" noEditPoints="1" noAdjustHandles="1" noChangeArrowheads="1" noChangeShapeType="1" noTextEdit="1"/>
              </p:cNvSpPr>
              <p:nvPr>
                <p:ph idx="1"/>
              </p:nvPr>
            </p:nvSpPr>
            <p:spPr>
              <a:xfrm>
                <a:off x="677334" y="2160589"/>
                <a:ext cx="8596668" cy="4255709"/>
              </a:xfrm>
              <a:blipFill>
                <a:blip r:embed="rId2"/>
                <a:stretch>
                  <a:fillRect l="-426" t="-1574" b="-429"/>
                </a:stretch>
              </a:blipFill>
            </p:spPr>
            <p:txBody>
              <a:bodyPr/>
              <a:lstStyle/>
              <a:p>
                <a:r>
                  <a:rPr lang="en-CA">
                    <a:noFill/>
                  </a:rPr>
                  <a:t> </a:t>
                </a:r>
              </a:p>
            </p:txBody>
          </p:sp>
        </mc:Fallback>
      </mc:AlternateContent>
      <p:pic>
        <p:nvPicPr>
          <p:cNvPr id="6" name="Picture 5">
            <a:extLst>
              <a:ext uri="{FF2B5EF4-FFF2-40B4-BE49-F238E27FC236}">
                <a16:creationId xmlns:a16="http://schemas.microsoft.com/office/drawing/2014/main" id="{533BEFEB-CF69-8590-BE9E-4A760EA9D110}"/>
              </a:ext>
            </a:extLst>
          </p:cNvPr>
          <p:cNvPicPr>
            <a:picLocks noChangeAspect="1"/>
          </p:cNvPicPr>
          <p:nvPr/>
        </p:nvPicPr>
        <p:blipFill>
          <a:blip r:embed="rId3"/>
          <a:stretch>
            <a:fillRect/>
          </a:stretch>
        </p:blipFill>
        <p:spPr>
          <a:xfrm>
            <a:off x="2257598" y="2484424"/>
            <a:ext cx="4986452" cy="1533551"/>
          </a:xfrm>
          <a:prstGeom prst="rect">
            <a:avLst/>
          </a:prstGeom>
        </p:spPr>
      </p:pic>
    </p:spTree>
    <p:extLst>
      <p:ext uri="{BB962C8B-B14F-4D97-AF65-F5344CB8AC3E}">
        <p14:creationId xmlns:p14="http://schemas.microsoft.com/office/powerpoint/2010/main" val="3164759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7F593-F576-59A2-AE05-A752552FCD3B}"/>
              </a:ext>
            </a:extLst>
          </p:cNvPr>
          <p:cNvSpPr>
            <a:spLocks noGrp="1"/>
          </p:cNvSpPr>
          <p:nvPr>
            <p:ph type="title"/>
          </p:nvPr>
        </p:nvSpPr>
        <p:spPr/>
        <p:txBody>
          <a:bodyPr/>
          <a:lstStyle/>
          <a:p>
            <a:r>
              <a:rPr lang="en-CA" dirty="0"/>
              <a:t>Step by Step in Coding</a:t>
            </a:r>
          </a:p>
        </p:txBody>
      </p:sp>
      <p:sp>
        <p:nvSpPr>
          <p:cNvPr id="3" name="Content Placeholder 2">
            <a:extLst>
              <a:ext uri="{FF2B5EF4-FFF2-40B4-BE49-F238E27FC236}">
                <a16:creationId xmlns:a16="http://schemas.microsoft.com/office/drawing/2014/main" id="{3B966065-76B1-BBC6-E0F2-07674505FEB4}"/>
              </a:ext>
            </a:extLst>
          </p:cNvPr>
          <p:cNvSpPr>
            <a:spLocks noGrp="1"/>
          </p:cNvSpPr>
          <p:nvPr>
            <p:ph idx="1"/>
          </p:nvPr>
        </p:nvSpPr>
        <p:spPr>
          <a:xfrm>
            <a:off x="677334" y="1488613"/>
            <a:ext cx="8596668" cy="3880773"/>
          </a:xfrm>
        </p:spPr>
        <p:txBody>
          <a:bodyPr/>
          <a:lstStyle/>
          <a:p>
            <a:r>
              <a:rPr lang="en-CA" dirty="0"/>
              <a:t>Step 1: Preprocessing</a:t>
            </a:r>
          </a:p>
          <a:p>
            <a:endParaRPr lang="en-CA" dirty="0"/>
          </a:p>
          <a:p>
            <a:endParaRPr lang="en-CA" dirty="0"/>
          </a:p>
          <a:p>
            <a:endParaRPr lang="en-CA" dirty="0"/>
          </a:p>
          <a:p>
            <a:endParaRPr lang="en-CA" dirty="0"/>
          </a:p>
          <a:p>
            <a:r>
              <a:rPr lang="en-CA" dirty="0"/>
              <a:t>Step 2: Convert to </a:t>
            </a:r>
            <a:r>
              <a:rPr lang="en-CA" dirty="0" err="1"/>
              <a:t>PyTorch</a:t>
            </a:r>
            <a:r>
              <a:rPr lang="en-CA" dirty="0"/>
              <a:t> tensors:</a:t>
            </a:r>
          </a:p>
          <a:p>
            <a:endParaRPr lang="en-CA" dirty="0"/>
          </a:p>
        </p:txBody>
      </p:sp>
      <p:sp>
        <p:nvSpPr>
          <p:cNvPr id="4" name="Rectangle 3">
            <a:extLst>
              <a:ext uri="{FF2B5EF4-FFF2-40B4-BE49-F238E27FC236}">
                <a16:creationId xmlns:a16="http://schemas.microsoft.com/office/drawing/2014/main" id="{63067489-F18D-3AA5-825B-4328C85D6867}"/>
              </a:ext>
            </a:extLst>
          </p:cNvPr>
          <p:cNvSpPr/>
          <p:nvPr/>
        </p:nvSpPr>
        <p:spPr>
          <a:xfrm>
            <a:off x="677334" y="1962484"/>
            <a:ext cx="7748337" cy="13154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CA" dirty="0" err="1"/>
              <a:t>X_pre</a:t>
            </a:r>
            <a:r>
              <a:rPr lang="en-CA" dirty="0"/>
              <a:t> = </a:t>
            </a:r>
            <a:r>
              <a:rPr lang="en-CA" dirty="0" err="1"/>
              <a:t>snv</a:t>
            </a:r>
            <a:r>
              <a:rPr lang="en-CA" dirty="0"/>
              <a:t>(</a:t>
            </a:r>
            <a:r>
              <a:rPr lang="en-CA" dirty="0" err="1"/>
              <a:t>savitzky_golay_smooth</a:t>
            </a:r>
            <a:r>
              <a:rPr lang="en-CA" dirty="0"/>
              <a:t>(X))</a:t>
            </a:r>
          </a:p>
          <a:p>
            <a:r>
              <a:rPr lang="en-CA" dirty="0"/>
              <a:t># SG smoothing removes high frequency noise</a:t>
            </a:r>
          </a:p>
          <a:p>
            <a:r>
              <a:rPr lang="en-CA" dirty="0"/>
              <a:t># SNV sets mean=0 std=1 for each spectrum</a:t>
            </a:r>
          </a:p>
          <a:p>
            <a:r>
              <a:rPr lang="en-CA" dirty="0"/>
              <a:t># </a:t>
            </a:r>
            <a:r>
              <a:rPr lang="en-CA" dirty="0" err="1"/>
              <a:t>BatchNorm</a:t>
            </a:r>
            <a:r>
              <a:rPr lang="en-CA" dirty="0"/>
              <a:t> inside CNN handles remaining scaling</a:t>
            </a:r>
          </a:p>
        </p:txBody>
      </p:sp>
      <p:sp>
        <p:nvSpPr>
          <p:cNvPr id="5" name="Rectangle 4">
            <a:extLst>
              <a:ext uri="{FF2B5EF4-FFF2-40B4-BE49-F238E27FC236}">
                <a16:creationId xmlns:a16="http://schemas.microsoft.com/office/drawing/2014/main" id="{F4270007-231A-5120-9802-3428F670E9F2}"/>
              </a:ext>
            </a:extLst>
          </p:cNvPr>
          <p:cNvSpPr/>
          <p:nvPr/>
        </p:nvSpPr>
        <p:spPr>
          <a:xfrm>
            <a:off x="677333" y="4156949"/>
            <a:ext cx="7748337" cy="92091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CA" dirty="0" err="1"/>
              <a:t>X_tensor</a:t>
            </a:r>
            <a:r>
              <a:rPr lang="en-CA" dirty="0"/>
              <a:t> = </a:t>
            </a:r>
            <a:r>
              <a:rPr lang="en-CA" dirty="0" err="1"/>
              <a:t>torch.FloatTensor</a:t>
            </a:r>
            <a:r>
              <a:rPr lang="en-CA" dirty="0"/>
              <a:t>(</a:t>
            </a:r>
            <a:r>
              <a:rPr lang="en-CA" dirty="0" err="1"/>
              <a:t>X_train</a:t>
            </a:r>
            <a:r>
              <a:rPr lang="en-CA" dirty="0"/>
              <a:t>)   # shape: (5184, 1530)</a:t>
            </a:r>
          </a:p>
          <a:p>
            <a:r>
              <a:rPr lang="en-CA" dirty="0" err="1"/>
              <a:t>y_tensor</a:t>
            </a:r>
            <a:r>
              <a:rPr lang="en-CA" dirty="0"/>
              <a:t>  = </a:t>
            </a:r>
            <a:r>
              <a:rPr lang="en-CA" dirty="0" err="1"/>
              <a:t>torch.FloatTensor</a:t>
            </a:r>
            <a:r>
              <a:rPr lang="en-CA" dirty="0"/>
              <a:t>(</a:t>
            </a:r>
            <a:r>
              <a:rPr lang="en-CA" dirty="0" err="1"/>
              <a:t>y_train</a:t>
            </a:r>
            <a:r>
              <a:rPr lang="en-CA" dirty="0"/>
              <a:t>)  # shape: (5184,)</a:t>
            </a:r>
          </a:p>
        </p:txBody>
      </p:sp>
    </p:spTree>
    <p:extLst>
      <p:ext uri="{BB962C8B-B14F-4D97-AF65-F5344CB8AC3E}">
        <p14:creationId xmlns:p14="http://schemas.microsoft.com/office/powerpoint/2010/main" val="595763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1B1BE-8F53-2E4C-365C-C57A604F1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CFCC6-E8F9-9365-0C3D-ABDD504C44EB}"/>
              </a:ext>
            </a:extLst>
          </p:cNvPr>
          <p:cNvSpPr>
            <a:spLocks noGrp="1"/>
          </p:cNvSpPr>
          <p:nvPr>
            <p:ph type="title"/>
          </p:nvPr>
        </p:nvSpPr>
        <p:spPr/>
        <p:txBody>
          <a:bodyPr/>
          <a:lstStyle/>
          <a:p>
            <a:r>
              <a:rPr lang="en-CA" dirty="0"/>
              <a:t>Step by Step in Coding</a:t>
            </a:r>
          </a:p>
        </p:txBody>
      </p:sp>
      <p:sp>
        <p:nvSpPr>
          <p:cNvPr id="3" name="Content Placeholder 2">
            <a:extLst>
              <a:ext uri="{FF2B5EF4-FFF2-40B4-BE49-F238E27FC236}">
                <a16:creationId xmlns:a16="http://schemas.microsoft.com/office/drawing/2014/main" id="{1E1E8F95-6FA0-E9D1-B32B-32583DB9A41F}"/>
              </a:ext>
            </a:extLst>
          </p:cNvPr>
          <p:cNvSpPr>
            <a:spLocks noGrp="1"/>
          </p:cNvSpPr>
          <p:nvPr>
            <p:ph idx="1"/>
          </p:nvPr>
        </p:nvSpPr>
        <p:spPr>
          <a:xfrm>
            <a:off x="677334" y="1488613"/>
            <a:ext cx="8596668" cy="3880773"/>
          </a:xfrm>
        </p:spPr>
        <p:txBody>
          <a:bodyPr/>
          <a:lstStyle/>
          <a:p>
            <a:r>
              <a:rPr lang="en-CA" dirty="0"/>
              <a:t>Step 3: Create </a:t>
            </a:r>
            <a:r>
              <a:rPr lang="en-CA" dirty="0" err="1"/>
              <a:t>DataLoader</a:t>
            </a:r>
            <a:endParaRPr lang="en-CA" dirty="0"/>
          </a:p>
          <a:p>
            <a:endParaRPr lang="en-CA" dirty="0"/>
          </a:p>
          <a:p>
            <a:endParaRPr lang="en-CA" dirty="0"/>
          </a:p>
          <a:p>
            <a:endParaRPr lang="en-CA" dirty="0"/>
          </a:p>
          <a:p>
            <a:endParaRPr lang="en-CA" dirty="0"/>
          </a:p>
          <a:p>
            <a:r>
              <a:rPr lang="en-CA" dirty="0"/>
              <a:t>Step 4: Forward Pass: One Batch</a:t>
            </a:r>
          </a:p>
          <a:p>
            <a:endParaRPr lang="en-CA" dirty="0"/>
          </a:p>
        </p:txBody>
      </p:sp>
      <p:sp>
        <p:nvSpPr>
          <p:cNvPr id="4" name="Rectangle 3">
            <a:extLst>
              <a:ext uri="{FF2B5EF4-FFF2-40B4-BE49-F238E27FC236}">
                <a16:creationId xmlns:a16="http://schemas.microsoft.com/office/drawing/2014/main" id="{A4896F72-78C6-F532-D68D-518C1D5CBD5E}"/>
              </a:ext>
            </a:extLst>
          </p:cNvPr>
          <p:cNvSpPr/>
          <p:nvPr/>
        </p:nvSpPr>
        <p:spPr>
          <a:xfrm>
            <a:off x="677334" y="1962484"/>
            <a:ext cx="7748337" cy="13154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CA" dirty="0"/>
              <a:t>dataset = </a:t>
            </a:r>
            <a:r>
              <a:rPr lang="en-CA" dirty="0" err="1"/>
              <a:t>TensorDataset</a:t>
            </a:r>
            <a:r>
              <a:rPr lang="en-CA" dirty="0"/>
              <a:t>(</a:t>
            </a:r>
            <a:r>
              <a:rPr lang="en-CA" dirty="0" err="1"/>
              <a:t>X_tensor</a:t>
            </a:r>
            <a:r>
              <a:rPr lang="en-CA" dirty="0"/>
              <a:t>, </a:t>
            </a:r>
            <a:r>
              <a:rPr lang="en-CA" dirty="0" err="1"/>
              <a:t>y_tensor</a:t>
            </a:r>
            <a:r>
              <a:rPr lang="en-CA" dirty="0"/>
              <a:t>)</a:t>
            </a:r>
          </a:p>
          <a:p>
            <a:r>
              <a:rPr lang="en-CA" dirty="0"/>
              <a:t>loader  = </a:t>
            </a:r>
            <a:r>
              <a:rPr lang="en-CA" dirty="0" err="1"/>
              <a:t>DataLoader</a:t>
            </a:r>
            <a:r>
              <a:rPr lang="en-CA" dirty="0"/>
              <a:t>(dataset, </a:t>
            </a:r>
            <a:r>
              <a:rPr lang="en-CA" dirty="0" err="1"/>
              <a:t>batch_size</a:t>
            </a:r>
            <a:r>
              <a:rPr lang="en-CA" dirty="0"/>
              <a:t>=32, shuffle=True)</a:t>
            </a:r>
          </a:p>
          <a:p>
            <a:r>
              <a:rPr lang="en-CA" dirty="0"/>
              <a:t># Feeds 32 spectra at a time to the model</a:t>
            </a:r>
          </a:p>
          <a:p>
            <a:r>
              <a:rPr lang="en-CA" dirty="0"/>
              <a:t># Shuffles order every epoch so model sees different sequences</a:t>
            </a:r>
          </a:p>
        </p:txBody>
      </p:sp>
      <p:sp>
        <p:nvSpPr>
          <p:cNvPr id="5" name="Rectangle 4">
            <a:extLst>
              <a:ext uri="{FF2B5EF4-FFF2-40B4-BE49-F238E27FC236}">
                <a16:creationId xmlns:a16="http://schemas.microsoft.com/office/drawing/2014/main" id="{7CA801A7-B363-EC44-7A85-34DF99CE4FC6}"/>
              </a:ext>
            </a:extLst>
          </p:cNvPr>
          <p:cNvSpPr/>
          <p:nvPr/>
        </p:nvSpPr>
        <p:spPr>
          <a:xfrm>
            <a:off x="677333" y="4156949"/>
            <a:ext cx="7748337" cy="124452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err="1"/>
              <a:t>y_pred</a:t>
            </a:r>
            <a:r>
              <a:rPr lang="en-US" dirty="0"/>
              <a:t> = model(</a:t>
            </a:r>
            <a:r>
              <a:rPr lang="en-US" dirty="0" err="1"/>
              <a:t>X_batch</a:t>
            </a:r>
            <a:r>
              <a:rPr lang="en-US" dirty="0"/>
              <a:t>)        # shape: (32,)</a:t>
            </a:r>
          </a:p>
          <a:p>
            <a:r>
              <a:rPr lang="en-US" dirty="0"/>
              <a:t>loss   = criterion(</a:t>
            </a:r>
            <a:r>
              <a:rPr lang="en-US" dirty="0" err="1"/>
              <a:t>y_pred</a:t>
            </a:r>
            <a:r>
              <a:rPr lang="en-US" dirty="0"/>
              <a:t>, </a:t>
            </a:r>
            <a:r>
              <a:rPr lang="en-US" dirty="0" err="1"/>
              <a:t>y_batch</a:t>
            </a:r>
            <a:r>
              <a:rPr lang="en-US" dirty="0"/>
              <a:t>)</a:t>
            </a:r>
          </a:p>
          <a:p>
            <a:r>
              <a:rPr lang="en-US" dirty="0"/>
              <a:t># Model predicts cysteine for all 32 spectra</a:t>
            </a:r>
          </a:p>
          <a:p>
            <a:r>
              <a:rPr lang="en-US" dirty="0"/>
              <a:t># Huber loss compares predictions to true values</a:t>
            </a:r>
            <a:endParaRPr lang="en-CA" dirty="0"/>
          </a:p>
        </p:txBody>
      </p:sp>
    </p:spTree>
    <p:extLst>
      <p:ext uri="{BB962C8B-B14F-4D97-AF65-F5344CB8AC3E}">
        <p14:creationId xmlns:p14="http://schemas.microsoft.com/office/powerpoint/2010/main" val="2517166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A100E-AEBB-F019-4B78-08D598B32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7CBA0-3091-172A-D904-27EB9F606D99}"/>
              </a:ext>
            </a:extLst>
          </p:cNvPr>
          <p:cNvSpPr>
            <a:spLocks noGrp="1"/>
          </p:cNvSpPr>
          <p:nvPr>
            <p:ph type="title"/>
          </p:nvPr>
        </p:nvSpPr>
        <p:spPr/>
        <p:txBody>
          <a:bodyPr/>
          <a:lstStyle/>
          <a:p>
            <a:r>
              <a:rPr lang="en-CA" dirty="0"/>
              <a:t>Step by Step in Coding</a:t>
            </a:r>
          </a:p>
        </p:txBody>
      </p:sp>
      <p:sp>
        <p:nvSpPr>
          <p:cNvPr id="3" name="Content Placeholder 2">
            <a:extLst>
              <a:ext uri="{FF2B5EF4-FFF2-40B4-BE49-F238E27FC236}">
                <a16:creationId xmlns:a16="http://schemas.microsoft.com/office/drawing/2014/main" id="{7231BAF9-CA31-2321-3B08-778B2AEC03D5}"/>
              </a:ext>
            </a:extLst>
          </p:cNvPr>
          <p:cNvSpPr>
            <a:spLocks noGrp="1"/>
          </p:cNvSpPr>
          <p:nvPr>
            <p:ph idx="1"/>
          </p:nvPr>
        </p:nvSpPr>
        <p:spPr>
          <a:xfrm>
            <a:off x="677334" y="1488613"/>
            <a:ext cx="8596668" cy="3880773"/>
          </a:xfrm>
        </p:spPr>
        <p:txBody>
          <a:bodyPr/>
          <a:lstStyle/>
          <a:p>
            <a:r>
              <a:rPr lang="en-CA" dirty="0"/>
              <a:t>Step 5: Backward Pass (Learning)</a:t>
            </a:r>
          </a:p>
          <a:p>
            <a:endParaRPr lang="en-CA" dirty="0"/>
          </a:p>
          <a:p>
            <a:endParaRPr lang="en-CA" dirty="0"/>
          </a:p>
          <a:p>
            <a:endParaRPr lang="en-CA" dirty="0"/>
          </a:p>
          <a:p>
            <a:endParaRPr lang="en-CA" dirty="0"/>
          </a:p>
          <a:p>
            <a:endParaRPr lang="en-CA" dirty="0"/>
          </a:p>
          <a:p>
            <a:r>
              <a:rPr lang="en-CA" dirty="0"/>
              <a:t>Step 6: Best Model Saving</a:t>
            </a:r>
          </a:p>
          <a:p>
            <a:endParaRPr lang="en-CA" dirty="0"/>
          </a:p>
        </p:txBody>
      </p:sp>
      <p:sp>
        <p:nvSpPr>
          <p:cNvPr id="4" name="Rectangle 3">
            <a:extLst>
              <a:ext uri="{FF2B5EF4-FFF2-40B4-BE49-F238E27FC236}">
                <a16:creationId xmlns:a16="http://schemas.microsoft.com/office/drawing/2014/main" id="{58A6BCEE-413D-2CE7-3441-7CBBF824E984}"/>
              </a:ext>
            </a:extLst>
          </p:cNvPr>
          <p:cNvSpPr/>
          <p:nvPr/>
        </p:nvSpPr>
        <p:spPr>
          <a:xfrm>
            <a:off x="677334" y="1962484"/>
            <a:ext cx="7748337" cy="16469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CA" dirty="0" err="1"/>
              <a:t>optimizer.zero_grad</a:t>
            </a:r>
            <a:r>
              <a:rPr lang="en-CA" dirty="0"/>
              <a:t>()   # clear previous gradients</a:t>
            </a:r>
          </a:p>
          <a:p>
            <a:r>
              <a:rPr lang="en-CA" dirty="0" err="1"/>
              <a:t>loss.backward</a:t>
            </a:r>
            <a:r>
              <a:rPr lang="en-CA" dirty="0"/>
              <a:t>()         # compute gradients for all 1.6M parameters</a:t>
            </a:r>
          </a:p>
          <a:p>
            <a:r>
              <a:rPr lang="en-CA" dirty="0" err="1"/>
              <a:t>clip_grad_norm</a:t>
            </a:r>
            <a:r>
              <a:rPr lang="en-CA" dirty="0"/>
              <a:t>_(...)    # prevent exploding gradients</a:t>
            </a:r>
          </a:p>
          <a:p>
            <a:r>
              <a:rPr lang="en-CA" dirty="0" err="1"/>
              <a:t>optimizer.step</a:t>
            </a:r>
            <a:r>
              <a:rPr lang="en-CA" dirty="0"/>
              <a:t>()        # update all weights</a:t>
            </a:r>
          </a:p>
          <a:p>
            <a:r>
              <a:rPr lang="en-CA" dirty="0" err="1"/>
              <a:t>scheduler.step</a:t>
            </a:r>
            <a:r>
              <a:rPr lang="en-CA" dirty="0"/>
              <a:t>()        # adjust learning rate</a:t>
            </a:r>
          </a:p>
        </p:txBody>
      </p:sp>
      <p:sp>
        <p:nvSpPr>
          <p:cNvPr id="5" name="Rectangle 4">
            <a:extLst>
              <a:ext uri="{FF2B5EF4-FFF2-40B4-BE49-F238E27FC236}">
                <a16:creationId xmlns:a16="http://schemas.microsoft.com/office/drawing/2014/main" id="{D0B3AEE1-3940-C3BA-DBA7-934CE6494E04}"/>
              </a:ext>
            </a:extLst>
          </p:cNvPr>
          <p:cNvSpPr/>
          <p:nvPr/>
        </p:nvSpPr>
        <p:spPr>
          <a:xfrm>
            <a:off x="677333" y="4393883"/>
            <a:ext cx="7748337" cy="16469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if </a:t>
            </a:r>
            <a:r>
              <a:rPr lang="en-US" dirty="0" err="1"/>
              <a:t>val_loss</a:t>
            </a:r>
            <a:r>
              <a:rPr lang="en-US" dirty="0"/>
              <a:t> &lt; </a:t>
            </a:r>
            <a:r>
              <a:rPr lang="en-US" dirty="0" err="1"/>
              <a:t>best_val_loss</a:t>
            </a:r>
            <a:r>
              <a:rPr lang="en-US" dirty="0"/>
              <a:t>:</a:t>
            </a:r>
          </a:p>
          <a:p>
            <a:r>
              <a:rPr lang="en-US" dirty="0"/>
              <a:t>    </a:t>
            </a:r>
            <a:r>
              <a:rPr lang="en-US" dirty="0" err="1"/>
              <a:t>best_val_loss</a:t>
            </a:r>
            <a:r>
              <a:rPr lang="en-US" dirty="0"/>
              <a:t> = </a:t>
            </a:r>
            <a:r>
              <a:rPr lang="en-US" dirty="0" err="1"/>
              <a:t>val_loss</a:t>
            </a:r>
            <a:endParaRPr lang="en-US" dirty="0"/>
          </a:p>
          <a:p>
            <a:r>
              <a:rPr lang="en-US" dirty="0"/>
              <a:t>    </a:t>
            </a:r>
            <a:r>
              <a:rPr lang="en-US" dirty="0" err="1"/>
              <a:t>best_weights</a:t>
            </a:r>
            <a:r>
              <a:rPr lang="en-US" dirty="0"/>
              <a:t>  = copy of model weights</a:t>
            </a:r>
          </a:p>
          <a:p>
            <a:r>
              <a:rPr lang="en-US" dirty="0"/>
              <a:t># At end of training, restore best weights</a:t>
            </a:r>
          </a:p>
          <a:p>
            <a:r>
              <a:rPr lang="en-US" dirty="0"/>
              <a:t># Final model = lowest validation loss, not epoch 100</a:t>
            </a:r>
            <a:endParaRPr lang="en-CA" dirty="0"/>
          </a:p>
        </p:txBody>
      </p:sp>
    </p:spTree>
    <p:extLst>
      <p:ext uri="{BB962C8B-B14F-4D97-AF65-F5344CB8AC3E}">
        <p14:creationId xmlns:p14="http://schemas.microsoft.com/office/powerpoint/2010/main" val="1075295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1CF02-622F-C14D-4A3C-621C71B99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9CC5C-24AB-55B7-E21E-74E64F4BBEBD}"/>
              </a:ext>
            </a:extLst>
          </p:cNvPr>
          <p:cNvSpPr>
            <a:spLocks noGrp="1"/>
          </p:cNvSpPr>
          <p:nvPr>
            <p:ph type="title"/>
          </p:nvPr>
        </p:nvSpPr>
        <p:spPr/>
        <p:txBody>
          <a:bodyPr/>
          <a:lstStyle/>
          <a:p>
            <a:r>
              <a:rPr lang="en-CA" dirty="0"/>
              <a:t>Step by Step in Coding</a:t>
            </a:r>
          </a:p>
        </p:txBody>
      </p:sp>
      <p:sp>
        <p:nvSpPr>
          <p:cNvPr id="3" name="Content Placeholder 2">
            <a:extLst>
              <a:ext uri="{FF2B5EF4-FFF2-40B4-BE49-F238E27FC236}">
                <a16:creationId xmlns:a16="http://schemas.microsoft.com/office/drawing/2014/main" id="{591F1E65-9311-0768-A035-18C81200D0AA}"/>
              </a:ext>
            </a:extLst>
          </p:cNvPr>
          <p:cNvSpPr>
            <a:spLocks noGrp="1"/>
          </p:cNvSpPr>
          <p:nvPr>
            <p:ph idx="1"/>
          </p:nvPr>
        </p:nvSpPr>
        <p:spPr>
          <a:xfrm>
            <a:off x="677334" y="1488613"/>
            <a:ext cx="8596668" cy="3880773"/>
          </a:xfrm>
        </p:spPr>
        <p:txBody>
          <a:bodyPr/>
          <a:lstStyle/>
          <a:p>
            <a:r>
              <a:rPr lang="en-CA" dirty="0"/>
              <a:t>Step 7: LOCOCV</a:t>
            </a:r>
          </a:p>
          <a:p>
            <a:endParaRPr lang="en-CA" dirty="0"/>
          </a:p>
          <a:p>
            <a:endParaRPr lang="en-CA" dirty="0"/>
          </a:p>
          <a:p>
            <a:endParaRPr lang="en-CA" dirty="0"/>
          </a:p>
          <a:p>
            <a:endParaRPr lang="en-CA" dirty="0"/>
          </a:p>
          <a:p>
            <a:pPr marL="0" indent="0">
              <a:buNone/>
            </a:pPr>
            <a:endParaRPr lang="en-CA" dirty="0"/>
          </a:p>
        </p:txBody>
      </p:sp>
      <p:sp>
        <p:nvSpPr>
          <p:cNvPr id="4" name="Rectangle 3">
            <a:extLst>
              <a:ext uri="{FF2B5EF4-FFF2-40B4-BE49-F238E27FC236}">
                <a16:creationId xmlns:a16="http://schemas.microsoft.com/office/drawing/2014/main" id="{B948FB61-2029-378F-021F-FBCC5336D38A}"/>
              </a:ext>
            </a:extLst>
          </p:cNvPr>
          <p:cNvSpPr/>
          <p:nvPr/>
        </p:nvSpPr>
        <p:spPr>
          <a:xfrm>
            <a:off x="677334" y="1962484"/>
            <a:ext cx="7748337" cy="16469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for </a:t>
            </a:r>
            <a:r>
              <a:rPr lang="en-US" dirty="0" err="1"/>
              <a:t>held_out</a:t>
            </a:r>
            <a:r>
              <a:rPr lang="en-US" dirty="0"/>
              <a:t> in </a:t>
            </a:r>
            <a:r>
              <a:rPr lang="en-US" dirty="0" err="1"/>
              <a:t>cultivar_names</a:t>
            </a:r>
            <a:r>
              <a:rPr lang="en-US" dirty="0"/>
              <a:t>:    # 20 iterations</a:t>
            </a:r>
          </a:p>
          <a:p>
            <a:r>
              <a:rPr lang="en-US" dirty="0"/>
              <a:t>    # Train fresh CNN on 19 cultivars</a:t>
            </a:r>
          </a:p>
          <a:p>
            <a:r>
              <a:rPr lang="en-US" dirty="0"/>
              <a:t>    # Predict held-out cultivar</a:t>
            </a:r>
          </a:p>
          <a:p>
            <a:r>
              <a:rPr lang="en-US" dirty="0"/>
              <a:t>    # Collect predictions across all 20 folds</a:t>
            </a:r>
          </a:p>
          <a:p>
            <a:r>
              <a:rPr lang="en-US" dirty="0"/>
              <a:t>    # Compute global R2 and RMSE at the end</a:t>
            </a:r>
            <a:endParaRPr lang="en-CA" dirty="0"/>
          </a:p>
        </p:txBody>
      </p:sp>
    </p:spTree>
    <p:extLst>
      <p:ext uri="{BB962C8B-B14F-4D97-AF65-F5344CB8AC3E}">
        <p14:creationId xmlns:p14="http://schemas.microsoft.com/office/powerpoint/2010/main" val="3934959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6D3850-4CA7-BA04-BA74-3C3CB65C5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E4A5C4-B883-4227-BDC0-89C53A24A72C}"/>
              </a:ext>
            </a:extLst>
          </p:cNvPr>
          <p:cNvSpPr>
            <a:spLocks noGrp="1"/>
          </p:cNvSpPr>
          <p:nvPr>
            <p:ph type="title"/>
          </p:nvPr>
        </p:nvSpPr>
        <p:spPr>
          <a:xfrm>
            <a:off x="676746" y="609600"/>
            <a:ext cx="3729076" cy="1320800"/>
          </a:xfrm>
        </p:spPr>
        <p:txBody>
          <a:bodyPr anchor="ctr">
            <a:normAutofit/>
          </a:bodyPr>
          <a:lstStyle/>
          <a:p>
            <a:pPr>
              <a:lnSpc>
                <a:spcPct val="90000"/>
              </a:lnSpc>
            </a:pPr>
            <a:r>
              <a:rPr lang="en-CA" sz="3100"/>
              <a:t>CNN Learning Curve — 80/20 Split</a:t>
            </a:r>
          </a:p>
        </p:txBody>
      </p:sp>
      <p:sp>
        <p:nvSpPr>
          <p:cNvPr id="3" name="Content Placeholder 2">
            <a:extLst>
              <a:ext uri="{FF2B5EF4-FFF2-40B4-BE49-F238E27FC236}">
                <a16:creationId xmlns:a16="http://schemas.microsoft.com/office/drawing/2014/main" id="{C9F6DEB4-41CE-1572-D558-295C3E6C1F1F}"/>
              </a:ext>
            </a:extLst>
          </p:cNvPr>
          <p:cNvSpPr>
            <a:spLocks noGrp="1"/>
          </p:cNvSpPr>
          <p:nvPr>
            <p:ph idx="1"/>
          </p:nvPr>
        </p:nvSpPr>
        <p:spPr>
          <a:xfrm>
            <a:off x="685167" y="2160589"/>
            <a:ext cx="3720916" cy="3560733"/>
          </a:xfrm>
        </p:spPr>
        <p:txBody>
          <a:bodyPr>
            <a:normAutofit/>
          </a:bodyPr>
          <a:lstStyle/>
          <a:p>
            <a:pPr>
              <a:lnSpc>
                <a:spcPct val="90000"/>
              </a:lnSpc>
            </a:pPr>
            <a:r>
              <a:rPr lang="en-US" sz="1700"/>
              <a:t>Loss drops steeply from epoch 1 to 40. The model is learning fast.</a:t>
            </a:r>
          </a:p>
          <a:p>
            <a:pPr>
              <a:lnSpc>
                <a:spcPct val="90000"/>
              </a:lnSpc>
            </a:pPr>
            <a:r>
              <a:rPr lang="en-US" sz="1700"/>
              <a:t>After epoch 40, the drop slows down. This is the fine tuning phase.</a:t>
            </a:r>
          </a:p>
          <a:p>
            <a:pPr>
              <a:lnSpc>
                <a:spcPct val="90000"/>
              </a:lnSpc>
            </a:pPr>
            <a:r>
              <a:rPr lang="en-US" sz="1700"/>
              <a:t>Training and validation loss stay close together. Dropout helps prevent overfitting.</a:t>
            </a:r>
          </a:p>
          <a:p>
            <a:pPr>
              <a:lnSpc>
                <a:spcPct val="90000"/>
              </a:lnSpc>
            </a:pPr>
            <a:r>
              <a:rPr lang="en-US" sz="1700"/>
              <a:t>The OneCycleLR scheduler is visible in the curve shape, with a steep drop early followed by a gentle decline later.</a:t>
            </a:r>
            <a:endParaRPr lang="en-CA" sz="1700"/>
          </a:p>
          <a:p>
            <a:pPr>
              <a:lnSpc>
                <a:spcPct val="90000"/>
              </a:lnSpc>
            </a:pPr>
            <a:endParaRPr lang="en-CA" sz="1700"/>
          </a:p>
          <a:p>
            <a:pPr>
              <a:lnSpc>
                <a:spcPct val="90000"/>
              </a:lnSpc>
            </a:pPr>
            <a:endParaRPr lang="en-CA" sz="1700"/>
          </a:p>
          <a:p>
            <a:pPr>
              <a:lnSpc>
                <a:spcPct val="90000"/>
              </a:lnSpc>
            </a:pPr>
            <a:endParaRPr lang="en-CA" sz="1700"/>
          </a:p>
          <a:p>
            <a:pPr marL="0" indent="0">
              <a:lnSpc>
                <a:spcPct val="90000"/>
              </a:lnSpc>
              <a:buNone/>
            </a:pPr>
            <a:endParaRPr lang="en-CA" sz="1700"/>
          </a:p>
        </p:txBody>
      </p:sp>
      <p:pic>
        <p:nvPicPr>
          <p:cNvPr id="6" name="Picture 5">
            <a:extLst>
              <a:ext uri="{FF2B5EF4-FFF2-40B4-BE49-F238E27FC236}">
                <a16:creationId xmlns:a16="http://schemas.microsoft.com/office/drawing/2014/main" id="{3612A938-6FC6-F19E-273F-7F707CBAEB90}"/>
              </a:ext>
            </a:extLst>
          </p:cNvPr>
          <p:cNvPicPr>
            <a:picLocks noChangeAspect="1"/>
          </p:cNvPicPr>
          <p:nvPr/>
        </p:nvPicPr>
        <p:blipFill>
          <a:blip r:embed="rId2"/>
          <a:stretch>
            <a:fillRect/>
          </a:stretch>
        </p:blipFill>
        <p:spPr>
          <a:xfrm>
            <a:off x="4654035" y="2256184"/>
            <a:ext cx="6753947" cy="2701579"/>
          </a:xfrm>
          <a:prstGeom prst="rect">
            <a:avLst/>
          </a:prstGeom>
        </p:spPr>
      </p:pic>
    </p:spTree>
    <p:extLst>
      <p:ext uri="{BB962C8B-B14F-4D97-AF65-F5344CB8AC3E}">
        <p14:creationId xmlns:p14="http://schemas.microsoft.com/office/powerpoint/2010/main" val="2734761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4B506-BE25-713F-A106-2B87DCEE6B02}"/>
              </a:ext>
            </a:extLst>
          </p:cNvPr>
          <p:cNvSpPr>
            <a:spLocks noGrp="1"/>
          </p:cNvSpPr>
          <p:nvPr>
            <p:ph type="title"/>
          </p:nvPr>
        </p:nvSpPr>
        <p:spPr>
          <a:xfrm>
            <a:off x="0" y="0"/>
            <a:ext cx="8596668" cy="1320800"/>
          </a:xfrm>
        </p:spPr>
        <p:txBody>
          <a:bodyPr/>
          <a:lstStyle/>
          <a:p>
            <a:r>
              <a:rPr lang="en-CA" dirty="0"/>
              <a:t>CNN LOCOCV – Per Fold Results</a:t>
            </a:r>
          </a:p>
        </p:txBody>
      </p:sp>
      <p:graphicFrame>
        <p:nvGraphicFramePr>
          <p:cNvPr id="4" name="Content Placeholder 3">
            <a:extLst>
              <a:ext uri="{FF2B5EF4-FFF2-40B4-BE49-F238E27FC236}">
                <a16:creationId xmlns:a16="http://schemas.microsoft.com/office/drawing/2014/main" id="{243579ED-1784-12CC-B9F2-108050B0B794}"/>
              </a:ext>
            </a:extLst>
          </p:cNvPr>
          <p:cNvGraphicFramePr>
            <a:graphicFrameLocks noGrp="1"/>
          </p:cNvGraphicFramePr>
          <p:nvPr>
            <p:ph idx="1"/>
            <p:extLst>
              <p:ext uri="{D42A27DB-BD31-4B8C-83A1-F6EECF244321}">
                <p14:modId xmlns:p14="http://schemas.microsoft.com/office/powerpoint/2010/main" val="3346945707"/>
              </p:ext>
            </p:extLst>
          </p:nvPr>
        </p:nvGraphicFramePr>
        <p:xfrm>
          <a:off x="771982" y="773197"/>
          <a:ext cx="10648036" cy="5908350"/>
        </p:xfrm>
        <a:graphic>
          <a:graphicData uri="http://schemas.openxmlformats.org/drawingml/2006/table">
            <a:tbl>
              <a:tblPr firstRow="1" bandRow="1">
                <a:tableStyleId>{5C22544A-7EE6-4342-B048-85BDC9FD1C3A}</a:tableStyleId>
              </a:tblPr>
              <a:tblGrid>
                <a:gridCol w="2662009">
                  <a:extLst>
                    <a:ext uri="{9D8B030D-6E8A-4147-A177-3AD203B41FA5}">
                      <a16:colId xmlns:a16="http://schemas.microsoft.com/office/drawing/2014/main" val="1800894975"/>
                    </a:ext>
                  </a:extLst>
                </a:gridCol>
                <a:gridCol w="2662009">
                  <a:extLst>
                    <a:ext uri="{9D8B030D-6E8A-4147-A177-3AD203B41FA5}">
                      <a16:colId xmlns:a16="http://schemas.microsoft.com/office/drawing/2014/main" val="1931942017"/>
                    </a:ext>
                  </a:extLst>
                </a:gridCol>
                <a:gridCol w="2662009">
                  <a:extLst>
                    <a:ext uri="{9D8B030D-6E8A-4147-A177-3AD203B41FA5}">
                      <a16:colId xmlns:a16="http://schemas.microsoft.com/office/drawing/2014/main" val="2127665914"/>
                    </a:ext>
                  </a:extLst>
                </a:gridCol>
                <a:gridCol w="2662009">
                  <a:extLst>
                    <a:ext uri="{9D8B030D-6E8A-4147-A177-3AD203B41FA5}">
                      <a16:colId xmlns:a16="http://schemas.microsoft.com/office/drawing/2014/main" val="1166719270"/>
                    </a:ext>
                  </a:extLst>
                </a:gridCol>
              </a:tblGrid>
              <a:tr h="281350">
                <a:tc>
                  <a:txBody>
                    <a:bodyPr/>
                    <a:lstStyle/>
                    <a:p>
                      <a:pPr>
                        <a:buNone/>
                      </a:pPr>
                      <a:r>
                        <a:rPr lang="en-CA" sz="1200" dirty="0"/>
                        <a:t>Cultivar</a:t>
                      </a:r>
                    </a:p>
                  </a:txBody>
                  <a:tcPr anchor="ctr"/>
                </a:tc>
                <a:tc>
                  <a:txBody>
                    <a:bodyPr/>
                    <a:lstStyle/>
                    <a:p>
                      <a:pPr>
                        <a:buNone/>
                      </a:pPr>
                      <a:r>
                        <a:rPr lang="en-CA" sz="1200"/>
                        <a:t>True Cysteine</a:t>
                      </a:r>
                    </a:p>
                  </a:txBody>
                  <a:tcPr anchor="ctr"/>
                </a:tc>
                <a:tc>
                  <a:txBody>
                    <a:bodyPr/>
                    <a:lstStyle/>
                    <a:p>
                      <a:pPr>
                        <a:buNone/>
                      </a:pPr>
                      <a:r>
                        <a:rPr lang="en-CA" sz="1200"/>
                        <a:t>Predicted Mean</a:t>
                      </a:r>
                    </a:p>
                  </a:txBody>
                  <a:tcPr anchor="ctr"/>
                </a:tc>
                <a:tc>
                  <a:txBody>
                    <a:bodyPr/>
                    <a:lstStyle/>
                    <a:p>
                      <a:pPr>
                        <a:buNone/>
                      </a:pPr>
                      <a:r>
                        <a:rPr lang="en-CA" sz="1200" dirty="0"/>
                        <a:t>RMSE</a:t>
                      </a:r>
                    </a:p>
                  </a:txBody>
                  <a:tcPr anchor="ctr"/>
                </a:tc>
                <a:extLst>
                  <a:ext uri="{0D108BD9-81ED-4DB2-BD59-A6C34878D82A}">
                    <a16:rowId xmlns:a16="http://schemas.microsoft.com/office/drawing/2014/main" val="1659431477"/>
                  </a:ext>
                </a:extLst>
              </a:tr>
              <a:tr h="281350">
                <a:tc>
                  <a:txBody>
                    <a:bodyPr/>
                    <a:lstStyle/>
                    <a:p>
                      <a:pPr>
                        <a:buNone/>
                      </a:pPr>
                      <a:r>
                        <a:rPr lang="en-CA" sz="1200"/>
                        <a:t>AAC Chrome</a:t>
                      </a:r>
                    </a:p>
                  </a:txBody>
                  <a:tcPr anchor="ctr"/>
                </a:tc>
                <a:tc>
                  <a:txBody>
                    <a:bodyPr/>
                    <a:lstStyle/>
                    <a:p>
                      <a:pPr>
                        <a:buNone/>
                      </a:pPr>
                      <a:r>
                        <a:rPr lang="en-CA" sz="1200"/>
                        <a:t>0.3172</a:t>
                      </a:r>
                    </a:p>
                  </a:txBody>
                  <a:tcPr anchor="ctr"/>
                </a:tc>
                <a:tc>
                  <a:txBody>
                    <a:bodyPr/>
                    <a:lstStyle/>
                    <a:p>
                      <a:pPr>
                        <a:buNone/>
                      </a:pPr>
                      <a:r>
                        <a:rPr lang="en-CA" sz="1200"/>
                        <a:t>0.3218</a:t>
                      </a:r>
                    </a:p>
                  </a:txBody>
                  <a:tcPr anchor="ctr"/>
                </a:tc>
                <a:tc>
                  <a:txBody>
                    <a:bodyPr/>
                    <a:lstStyle/>
                    <a:p>
                      <a:pPr>
                        <a:buNone/>
                      </a:pPr>
                      <a:r>
                        <a:rPr lang="en-CA" sz="1200" dirty="0"/>
                        <a:t>0.0081</a:t>
                      </a:r>
                    </a:p>
                  </a:txBody>
                  <a:tcPr anchor="ctr"/>
                </a:tc>
                <a:extLst>
                  <a:ext uri="{0D108BD9-81ED-4DB2-BD59-A6C34878D82A}">
                    <a16:rowId xmlns:a16="http://schemas.microsoft.com/office/drawing/2014/main" val="2118027264"/>
                  </a:ext>
                </a:extLst>
              </a:tr>
              <a:tr h="281350">
                <a:tc>
                  <a:txBody>
                    <a:bodyPr/>
                    <a:lstStyle/>
                    <a:p>
                      <a:pPr>
                        <a:buNone/>
                      </a:pPr>
                      <a:r>
                        <a:rPr lang="en-CA" sz="1200"/>
                        <a:t>AAC Lacombe</a:t>
                      </a:r>
                    </a:p>
                  </a:txBody>
                  <a:tcPr anchor="ctr"/>
                </a:tc>
                <a:tc>
                  <a:txBody>
                    <a:bodyPr/>
                    <a:lstStyle/>
                    <a:p>
                      <a:pPr>
                        <a:buNone/>
                      </a:pPr>
                      <a:r>
                        <a:rPr lang="en-CA" sz="1200"/>
                        <a:t>0.3386</a:t>
                      </a:r>
                    </a:p>
                  </a:txBody>
                  <a:tcPr anchor="ctr"/>
                </a:tc>
                <a:tc>
                  <a:txBody>
                    <a:bodyPr/>
                    <a:lstStyle/>
                    <a:p>
                      <a:pPr>
                        <a:buNone/>
                      </a:pPr>
                      <a:r>
                        <a:rPr lang="en-CA" sz="1200"/>
                        <a:t>0.3368</a:t>
                      </a:r>
                    </a:p>
                  </a:txBody>
                  <a:tcPr anchor="ctr"/>
                </a:tc>
                <a:tc>
                  <a:txBody>
                    <a:bodyPr/>
                    <a:lstStyle/>
                    <a:p>
                      <a:pPr>
                        <a:buNone/>
                      </a:pPr>
                      <a:r>
                        <a:rPr lang="en-CA" sz="1200"/>
                        <a:t>0.0053</a:t>
                      </a:r>
                    </a:p>
                  </a:txBody>
                  <a:tcPr anchor="ctr"/>
                </a:tc>
                <a:extLst>
                  <a:ext uri="{0D108BD9-81ED-4DB2-BD59-A6C34878D82A}">
                    <a16:rowId xmlns:a16="http://schemas.microsoft.com/office/drawing/2014/main" val="355779764"/>
                  </a:ext>
                </a:extLst>
              </a:tr>
              <a:tr h="281350">
                <a:tc>
                  <a:txBody>
                    <a:bodyPr/>
                    <a:lstStyle/>
                    <a:p>
                      <a:pPr>
                        <a:buNone/>
                      </a:pPr>
                      <a:r>
                        <a:rPr lang="en-CA" sz="1200"/>
                        <a:t>AAC Liscard</a:t>
                      </a:r>
                    </a:p>
                  </a:txBody>
                  <a:tcPr anchor="ctr"/>
                </a:tc>
                <a:tc>
                  <a:txBody>
                    <a:bodyPr/>
                    <a:lstStyle/>
                    <a:p>
                      <a:pPr>
                        <a:buNone/>
                      </a:pPr>
                      <a:r>
                        <a:rPr lang="en-CA" sz="1200"/>
                        <a:t>0.3254</a:t>
                      </a:r>
                    </a:p>
                  </a:txBody>
                  <a:tcPr anchor="ctr"/>
                </a:tc>
                <a:tc>
                  <a:txBody>
                    <a:bodyPr/>
                    <a:lstStyle/>
                    <a:p>
                      <a:pPr>
                        <a:buNone/>
                      </a:pPr>
                      <a:r>
                        <a:rPr lang="en-CA" sz="1200"/>
                        <a:t>0.3233</a:t>
                      </a:r>
                    </a:p>
                  </a:txBody>
                  <a:tcPr anchor="ctr"/>
                </a:tc>
                <a:tc>
                  <a:txBody>
                    <a:bodyPr/>
                    <a:lstStyle/>
                    <a:p>
                      <a:pPr>
                        <a:buNone/>
                      </a:pPr>
                      <a:r>
                        <a:rPr lang="en-CA" sz="1200"/>
                        <a:t>0.0030</a:t>
                      </a:r>
                    </a:p>
                  </a:txBody>
                  <a:tcPr anchor="ctr"/>
                </a:tc>
                <a:extLst>
                  <a:ext uri="{0D108BD9-81ED-4DB2-BD59-A6C34878D82A}">
                    <a16:rowId xmlns:a16="http://schemas.microsoft.com/office/drawing/2014/main" val="2304841792"/>
                  </a:ext>
                </a:extLst>
              </a:tr>
              <a:tr h="281350">
                <a:tc>
                  <a:txBody>
                    <a:bodyPr/>
                    <a:lstStyle/>
                    <a:p>
                      <a:pPr>
                        <a:buNone/>
                      </a:pPr>
                      <a:r>
                        <a:rPr lang="en-CA" sz="1200" dirty="0"/>
                        <a:t>CDC Amarillo</a:t>
                      </a:r>
                    </a:p>
                  </a:txBody>
                  <a:tcPr anchor="ctr"/>
                </a:tc>
                <a:tc>
                  <a:txBody>
                    <a:bodyPr/>
                    <a:lstStyle/>
                    <a:p>
                      <a:pPr>
                        <a:buNone/>
                      </a:pPr>
                      <a:r>
                        <a:rPr lang="en-CA" sz="1200"/>
                        <a:t>0.3589</a:t>
                      </a:r>
                    </a:p>
                  </a:txBody>
                  <a:tcPr anchor="ctr"/>
                </a:tc>
                <a:tc>
                  <a:txBody>
                    <a:bodyPr/>
                    <a:lstStyle/>
                    <a:p>
                      <a:pPr>
                        <a:buNone/>
                      </a:pPr>
                      <a:r>
                        <a:rPr lang="en-CA" sz="1200"/>
                        <a:t>0.3538</a:t>
                      </a:r>
                    </a:p>
                  </a:txBody>
                  <a:tcPr anchor="ctr"/>
                </a:tc>
                <a:tc>
                  <a:txBody>
                    <a:bodyPr/>
                    <a:lstStyle/>
                    <a:p>
                      <a:pPr>
                        <a:buNone/>
                      </a:pPr>
                      <a:r>
                        <a:rPr lang="en-CA" sz="1200"/>
                        <a:t>0.0127</a:t>
                      </a:r>
                    </a:p>
                  </a:txBody>
                  <a:tcPr anchor="ctr"/>
                </a:tc>
                <a:extLst>
                  <a:ext uri="{0D108BD9-81ED-4DB2-BD59-A6C34878D82A}">
                    <a16:rowId xmlns:a16="http://schemas.microsoft.com/office/drawing/2014/main" val="3484322585"/>
                  </a:ext>
                </a:extLst>
              </a:tr>
              <a:tr h="281350">
                <a:tc>
                  <a:txBody>
                    <a:bodyPr/>
                    <a:lstStyle/>
                    <a:p>
                      <a:pPr>
                        <a:buNone/>
                      </a:pPr>
                      <a:r>
                        <a:rPr lang="en-CA" sz="1200"/>
                        <a:t>CDC Athabasca</a:t>
                      </a:r>
                    </a:p>
                  </a:txBody>
                  <a:tcPr anchor="ctr"/>
                </a:tc>
                <a:tc>
                  <a:txBody>
                    <a:bodyPr/>
                    <a:lstStyle/>
                    <a:p>
                      <a:pPr>
                        <a:buNone/>
                      </a:pPr>
                      <a:r>
                        <a:rPr lang="en-CA" sz="1200"/>
                        <a:t>0.3412</a:t>
                      </a:r>
                    </a:p>
                  </a:txBody>
                  <a:tcPr anchor="ctr"/>
                </a:tc>
                <a:tc>
                  <a:txBody>
                    <a:bodyPr/>
                    <a:lstStyle/>
                    <a:p>
                      <a:pPr>
                        <a:buNone/>
                      </a:pPr>
                      <a:r>
                        <a:rPr lang="en-CA" sz="1200"/>
                        <a:t>0.3424</a:t>
                      </a:r>
                    </a:p>
                  </a:txBody>
                  <a:tcPr anchor="ctr"/>
                </a:tc>
                <a:tc>
                  <a:txBody>
                    <a:bodyPr/>
                    <a:lstStyle/>
                    <a:p>
                      <a:pPr>
                        <a:buNone/>
                      </a:pPr>
                      <a:r>
                        <a:rPr lang="en-CA" sz="1200"/>
                        <a:t>0.0050</a:t>
                      </a:r>
                    </a:p>
                  </a:txBody>
                  <a:tcPr anchor="ctr"/>
                </a:tc>
                <a:extLst>
                  <a:ext uri="{0D108BD9-81ED-4DB2-BD59-A6C34878D82A}">
                    <a16:rowId xmlns:a16="http://schemas.microsoft.com/office/drawing/2014/main" val="1053123678"/>
                  </a:ext>
                </a:extLst>
              </a:tr>
              <a:tr h="281350">
                <a:tc>
                  <a:txBody>
                    <a:bodyPr/>
                    <a:lstStyle/>
                    <a:p>
                      <a:pPr>
                        <a:buNone/>
                      </a:pPr>
                      <a:r>
                        <a:rPr lang="en-CA" sz="1200"/>
                        <a:t>CDC Canary</a:t>
                      </a:r>
                    </a:p>
                  </a:txBody>
                  <a:tcPr anchor="ctr"/>
                </a:tc>
                <a:tc>
                  <a:txBody>
                    <a:bodyPr/>
                    <a:lstStyle/>
                    <a:p>
                      <a:pPr>
                        <a:buNone/>
                      </a:pPr>
                      <a:r>
                        <a:rPr lang="en-CA" sz="1200"/>
                        <a:t>0.3145</a:t>
                      </a:r>
                    </a:p>
                  </a:txBody>
                  <a:tcPr anchor="ctr"/>
                </a:tc>
                <a:tc>
                  <a:txBody>
                    <a:bodyPr/>
                    <a:lstStyle/>
                    <a:p>
                      <a:pPr>
                        <a:buNone/>
                      </a:pPr>
                      <a:r>
                        <a:rPr lang="en-CA" sz="1200" dirty="0"/>
                        <a:t>0.3160</a:t>
                      </a:r>
                    </a:p>
                  </a:txBody>
                  <a:tcPr anchor="ctr"/>
                </a:tc>
                <a:tc>
                  <a:txBody>
                    <a:bodyPr/>
                    <a:lstStyle/>
                    <a:p>
                      <a:pPr>
                        <a:buNone/>
                      </a:pPr>
                      <a:r>
                        <a:rPr lang="en-CA" sz="1200" dirty="0"/>
                        <a:t>0.0056</a:t>
                      </a:r>
                    </a:p>
                  </a:txBody>
                  <a:tcPr anchor="ctr"/>
                </a:tc>
                <a:extLst>
                  <a:ext uri="{0D108BD9-81ED-4DB2-BD59-A6C34878D82A}">
                    <a16:rowId xmlns:a16="http://schemas.microsoft.com/office/drawing/2014/main" val="2097297643"/>
                  </a:ext>
                </a:extLst>
              </a:tr>
              <a:tr h="281350">
                <a:tc>
                  <a:txBody>
                    <a:bodyPr/>
                    <a:lstStyle/>
                    <a:p>
                      <a:pPr>
                        <a:buNone/>
                      </a:pPr>
                      <a:r>
                        <a:rPr lang="en-CA" sz="1200"/>
                        <a:t>CDC Dakota</a:t>
                      </a:r>
                    </a:p>
                  </a:txBody>
                  <a:tcPr anchor="ctr"/>
                </a:tc>
                <a:tc>
                  <a:txBody>
                    <a:bodyPr/>
                    <a:lstStyle/>
                    <a:p>
                      <a:pPr>
                        <a:buNone/>
                      </a:pPr>
                      <a:r>
                        <a:rPr lang="en-CA" sz="1200"/>
                        <a:t>0.3328</a:t>
                      </a:r>
                    </a:p>
                  </a:txBody>
                  <a:tcPr anchor="ctr"/>
                </a:tc>
                <a:tc>
                  <a:txBody>
                    <a:bodyPr/>
                    <a:lstStyle/>
                    <a:p>
                      <a:pPr>
                        <a:buNone/>
                      </a:pPr>
                      <a:r>
                        <a:rPr lang="en-CA" sz="1200"/>
                        <a:t>0.3337</a:t>
                      </a:r>
                    </a:p>
                  </a:txBody>
                  <a:tcPr anchor="ctr"/>
                </a:tc>
                <a:tc>
                  <a:txBody>
                    <a:bodyPr/>
                    <a:lstStyle/>
                    <a:p>
                      <a:pPr>
                        <a:buNone/>
                      </a:pPr>
                      <a:r>
                        <a:rPr lang="en-CA" sz="1200" dirty="0"/>
                        <a:t>0.0045</a:t>
                      </a:r>
                    </a:p>
                  </a:txBody>
                  <a:tcPr anchor="ctr"/>
                </a:tc>
                <a:extLst>
                  <a:ext uri="{0D108BD9-81ED-4DB2-BD59-A6C34878D82A}">
                    <a16:rowId xmlns:a16="http://schemas.microsoft.com/office/drawing/2014/main" val="2517355749"/>
                  </a:ext>
                </a:extLst>
              </a:tr>
              <a:tr h="281350">
                <a:tc>
                  <a:txBody>
                    <a:bodyPr/>
                    <a:lstStyle/>
                    <a:p>
                      <a:pPr>
                        <a:buNone/>
                      </a:pPr>
                      <a:r>
                        <a:rPr lang="en-CA" sz="1200"/>
                        <a:t>CDC Golden</a:t>
                      </a:r>
                    </a:p>
                  </a:txBody>
                  <a:tcPr anchor="ctr"/>
                </a:tc>
                <a:tc>
                  <a:txBody>
                    <a:bodyPr/>
                    <a:lstStyle/>
                    <a:p>
                      <a:pPr>
                        <a:buNone/>
                      </a:pPr>
                      <a:r>
                        <a:rPr lang="en-CA" sz="1200"/>
                        <a:t>0.3591</a:t>
                      </a:r>
                    </a:p>
                  </a:txBody>
                  <a:tcPr anchor="ctr"/>
                </a:tc>
                <a:tc>
                  <a:txBody>
                    <a:bodyPr/>
                    <a:lstStyle/>
                    <a:p>
                      <a:pPr>
                        <a:buNone/>
                      </a:pPr>
                      <a:r>
                        <a:rPr lang="en-CA" sz="1200"/>
                        <a:t>0.3545</a:t>
                      </a:r>
                    </a:p>
                  </a:txBody>
                  <a:tcPr anchor="ctr"/>
                </a:tc>
                <a:tc>
                  <a:txBody>
                    <a:bodyPr/>
                    <a:lstStyle/>
                    <a:p>
                      <a:pPr>
                        <a:buNone/>
                      </a:pPr>
                      <a:r>
                        <a:rPr lang="en-CA" sz="1200"/>
                        <a:t>0.0060</a:t>
                      </a:r>
                    </a:p>
                  </a:txBody>
                  <a:tcPr anchor="ctr"/>
                </a:tc>
                <a:extLst>
                  <a:ext uri="{0D108BD9-81ED-4DB2-BD59-A6C34878D82A}">
                    <a16:rowId xmlns:a16="http://schemas.microsoft.com/office/drawing/2014/main" val="3012709431"/>
                  </a:ext>
                </a:extLst>
              </a:tr>
              <a:tr h="281350">
                <a:tc>
                  <a:txBody>
                    <a:bodyPr/>
                    <a:lstStyle/>
                    <a:p>
                      <a:pPr>
                        <a:buNone/>
                      </a:pPr>
                      <a:r>
                        <a:rPr lang="en-CA" sz="1200"/>
                        <a:t>CDC Greenwater</a:t>
                      </a:r>
                    </a:p>
                  </a:txBody>
                  <a:tcPr anchor="ctr"/>
                </a:tc>
                <a:tc>
                  <a:txBody>
                    <a:bodyPr/>
                    <a:lstStyle/>
                    <a:p>
                      <a:pPr>
                        <a:buNone/>
                      </a:pPr>
                      <a:r>
                        <a:rPr lang="en-CA" sz="1200"/>
                        <a:t>0.3464</a:t>
                      </a:r>
                    </a:p>
                  </a:txBody>
                  <a:tcPr anchor="ctr"/>
                </a:tc>
                <a:tc>
                  <a:txBody>
                    <a:bodyPr/>
                    <a:lstStyle/>
                    <a:p>
                      <a:pPr>
                        <a:buNone/>
                      </a:pPr>
                      <a:r>
                        <a:rPr lang="en-CA" sz="1200"/>
                        <a:t>0.3475</a:t>
                      </a:r>
                    </a:p>
                  </a:txBody>
                  <a:tcPr anchor="ctr"/>
                </a:tc>
                <a:tc>
                  <a:txBody>
                    <a:bodyPr/>
                    <a:lstStyle/>
                    <a:p>
                      <a:pPr>
                        <a:buNone/>
                      </a:pPr>
                      <a:r>
                        <a:rPr lang="en-CA" sz="1200"/>
                        <a:t>0.0042</a:t>
                      </a:r>
                    </a:p>
                  </a:txBody>
                  <a:tcPr anchor="ctr"/>
                </a:tc>
                <a:extLst>
                  <a:ext uri="{0D108BD9-81ED-4DB2-BD59-A6C34878D82A}">
                    <a16:rowId xmlns:a16="http://schemas.microsoft.com/office/drawing/2014/main" val="2918877235"/>
                  </a:ext>
                </a:extLst>
              </a:tr>
              <a:tr h="281350">
                <a:tc>
                  <a:txBody>
                    <a:bodyPr/>
                    <a:lstStyle/>
                    <a:p>
                      <a:pPr>
                        <a:buNone/>
                      </a:pPr>
                      <a:r>
                        <a:rPr lang="en-CA" sz="1200"/>
                        <a:t>CDC Inca</a:t>
                      </a:r>
                    </a:p>
                  </a:txBody>
                  <a:tcPr anchor="ctr"/>
                </a:tc>
                <a:tc>
                  <a:txBody>
                    <a:bodyPr/>
                    <a:lstStyle/>
                    <a:p>
                      <a:pPr>
                        <a:buNone/>
                      </a:pPr>
                      <a:r>
                        <a:rPr lang="en-CA" sz="1200"/>
                        <a:t>0.3653</a:t>
                      </a:r>
                    </a:p>
                  </a:txBody>
                  <a:tcPr anchor="ctr"/>
                </a:tc>
                <a:tc>
                  <a:txBody>
                    <a:bodyPr/>
                    <a:lstStyle/>
                    <a:p>
                      <a:pPr>
                        <a:buNone/>
                      </a:pPr>
                      <a:r>
                        <a:rPr lang="en-CA" sz="1200"/>
                        <a:t>0.3624</a:t>
                      </a:r>
                    </a:p>
                  </a:txBody>
                  <a:tcPr anchor="ctr"/>
                </a:tc>
                <a:tc>
                  <a:txBody>
                    <a:bodyPr/>
                    <a:lstStyle/>
                    <a:p>
                      <a:pPr>
                        <a:buNone/>
                      </a:pPr>
                      <a:r>
                        <a:rPr lang="en-CA" sz="1200"/>
                        <a:t>0.0105</a:t>
                      </a:r>
                    </a:p>
                  </a:txBody>
                  <a:tcPr anchor="ctr"/>
                </a:tc>
                <a:extLst>
                  <a:ext uri="{0D108BD9-81ED-4DB2-BD59-A6C34878D82A}">
                    <a16:rowId xmlns:a16="http://schemas.microsoft.com/office/drawing/2014/main" val="3835641859"/>
                  </a:ext>
                </a:extLst>
              </a:tr>
              <a:tr h="281350">
                <a:tc>
                  <a:txBody>
                    <a:bodyPr/>
                    <a:lstStyle/>
                    <a:p>
                      <a:pPr>
                        <a:buNone/>
                      </a:pPr>
                      <a:r>
                        <a:rPr lang="en-CA" sz="1200"/>
                        <a:t>CDC Jasper</a:t>
                      </a:r>
                    </a:p>
                  </a:txBody>
                  <a:tcPr anchor="ctr"/>
                </a:tc>
                <a:tc>
                  <a:txBody>
                    <a:bodyPr/>
                    <a:lstStyle/>
                    <a:p>
                      <a:pPr>
                        <a:buNone/>
                      </a:pPr>
                      <a:r>
                        <a:rPr lang="en-CA" sz="1200"/>
                        <a:t>0.3373</a:t>
                      </a:r>
                    </a:p>
                  </a:txBody>
                  <a:tcPr anchor="ctr"/>
                </a:tc>
                <a:tc>
                  <a:txBody>
                    <a:bodyPr/>
                    <a:lstStyle/>
                    <a:p>
                      <a:pPr>
                        <a:buNone/>
                      </a:pPr>
                      <a:r>
                        <a:rPr lang="en-CA" sz="1200"/>
                        <a:t>0.3396</a:t>
                      </a:r>
                    </a:p>
                  </a:txBody>
                  <a:tcPr anchor="ctr"/>
                </a:tc>
                <a:tc>
                  <a:txBody>
                    <a:bodyPr/>
                    <a:lstStyle/>
                    <a:p>
                      <a:pPr>
                        <a:buNone/>
                      </a:pPr>
                      <a:r>
                        <a:rPr lang="en-CA" sz="1200"/>
                        <a:t>0.0049</a:t>
                      </a:r>
                    </a:p>
                  </a:txBody>
                  <a:tcPr anchor="ctr"/>
                </a:tc>
                <a:extLst>
                  <a:ext uri="{0D108BD9-81ED-4DB2-BD59-A6C34878D82A}">
                    <a16:rowId xmlns:a16="http://schemas.microsoft.com/office/drawing/2014/main" val="1271542313"/>
                  </a:ext>
                </a:extLst>
              </a:tr>
              <a:tr h="281350">
                <a:tc>
                  <a:txBody>
                    <a:bodyPr/>
                    <a:lstStyle/>
                    <a:p>
                      <a:pPr>
                        <a:buNone/>
                      </a:pPr>
                      <a:r>
                        <a:rPr lang="en-CA" sz="1200"/>
                        <a:t>CDC Lewochko</a:t>
                      </a:r>
                    </a:p>
                  </a:txBody>
                  <a:tcPr anchor="ctr"/>
                </a:tc>
                <a:tc>
                  <a:txBody>
                    <a:bodyPr/>
                    <a:lstStyle/>
                    <a:p>
                      <a:pPr>
                        <a:buNone/>
                      </a:pPr>
                      <a:r>
                        <a:rPr lang="en-CA" sz="1200"/>
                        <a:t>0.3413</a:t>
                      </a:r>
                    </a:p>
                  </a:txBody>
                  <a:tcPr anchor="ctr"/>
                </a:tc>
                <a:tc>
                  <a:txBody>
                    <a:bodyPr/>
                    <a:lstStyle/>
                    <a:p>
                      <a:pPr>
                        <a:buNone/>
                      </a:pPr>
                      <a:r>
                        <a:rPr lang="en-CA" sz="1200"/>
                        <a:t>0.3428</a:t>
                      </a:r>
                    </a:p>
                  </a:txBody>
                  <a:tcPr anchor="ctr"/>
                </a:tc>
                <a:tc>
                  <a:txBody>
                    <a:bodyPr/>
                    <a:lstStyle/>
                    <a:p>
                      <a:pPr>
                        <a:buNone/>
                      </a:pPr>
                      <a:r>
                        <a:rPr lang="en-CA" sz="1200"/>
                        <a:t>0.0050</a:t>
                      </a:r>
                    </a:p>
                  </a:txBody>
                  <a:tcPr anchor="ctr"/>
                </a:tc>
                <a:extLst>
                  <a:ext uri="{0D108BD9-81ED-4DB2-BD59-A6C34878D82A}">
                    <a16:rowId xmlns:a16="http://schemas.microsoft.com/office/drawing/2014/main" val="3517030623"/>
                  </a:ext>
                </a:extLst>
              </a:tr>
              <a:tr h="281350">
                <a:tc>
                  <a:txBody>
                    <a:bodyPr/>
                    <a:lstStyle/>
                    <a:p>
                      <a:pPr>
                        <a:buNone/>
                      </a:pPr>
                      <a:r>
                        <a:rPr lang="en-CA" sz="1200"/>
                        <a:t>CDC Meadow</a:t>
                      </a:r>
                    </a:p>
                  </a:txBody>
                  <a:tcPr anchor="ctr"/>
                </a:tc>
                <a:tc>
                  <a:txBody>
                    <a:bodyPr/>
                    <a:lstStyle/>
                    <a:p>
                      <a:pPr>
                        <a:buNone/>
                      </a:pPr>
                      <a:r>
                        <a:rPr lang="en-CA" sz="1200"/>
                        <a:t>0.3120</a:t>
                      </a:r>
                    </a:p>
                  </a:txBody>
                  <a:tcPr anchor="ctr"/>
                </a:tc>
                <a:tc>
                  <a:txBody>
                    <a:bodyPr/>
                    <a:lstStyle/>
                    <a:p>
                      <a:pPr>
                        <a:buNone/>
                      </a:pPr>
                      <a:r>
                        <a:rPr lang="en-CA" sz="1200"/>
                        <a:t>0.3092</a:t>
                      </a:r>
                    </a:p>
                  </a:txBody>
                  <a:tcPr anchor="ctr"/>
                </a:tc>
                <a:tc>
                  <a:txBody>
                    <a:bodyPr/>
                    <a:lstStyle/>
                    <a:p>
                      <a:pPr>
                        <a:buNone/>
                      </a:pPr>
                      <a:r>
                        <a:rPr lang="en-CA" sz="1200"/>
                        <a:t>0.0047</a:t>
                      </a:r>
                    </a:p>
                  </a:txBody>
                  <a:tcPr anchor="ctr"/>
                </a:tc>
                <a:extLst>
                  <a:ext uri="{0D108BD9-81ED-4DB2-BD59-A6C34878D82A}">
                    <a16:rowId xmlns:a16="http://schemas.microsoft.com/office/drawing/2014/main" val="1079126845"/>
                  </a:ext>
                </a:extLst>
              </a:tr>
              <a:tr h="281350">
                <a:tc>
                  <a:txBody>
                    <a:bodyPr/>
                    <a:lstStyle/>
                    <a:p>
                      <a:pPr>
                        <a:buNone/>
                      </a:pPr>
                      <a:r>
                        <a:rPr lang="en-CA" sz="1200"/>
                        <a:t>CDC Patrick</a:t>
                      </a:r>
                    </a:p>
                  </a:txBody>
                  <a:tcPr anchor="ctr"/>
                </a:tc>
                <a:tc>
                  <a:txBody>
                    <a:bodyPr/>
                    <a:lstStyle/>
                    <a:p>
                      <a:pPr>
                        <a:buNone/>
                      </a:pPr>
                      <a:r>
                        <a:rPr lang="en-CA" sz="1200"/>
                        <a:t>0.3384</a:t>
                      </a:r>
                    </a:p>
                  </a:txBody>
                  <a:tcPr anchor="ctr"/>
                </a:tc>
                <a:tc>
                  <a:txBody>
                    <a:bodyPr/>
                    <a:lstStyle/>
                    <a:p>
                      <a:pPr>
                        <a:buNone/>
                      </a:pPr>
                      <a:r>
                        <a:rPr lang="en-CA" sz="1200"/>
                        <a:t>0.3399</a:t>
                      </a:r>
                    </a:p>
                  </a:txBody>
                  <a:tcPr anchor="ctr"/>
                </a:tc>
                <a:tc>
                  <a:txBody>
                    <a:bodyPr/>
                    <a:lstStyle/>
                    <a:p>
                      <a:pPr>
                        <a:buNone/>
                      </a:pPr>
                      <a:r>
                        <a:rPr lang="en-CA" sz="1200"/>
                        <a:t>0.0034</a:t>
                      </a:r>
                    </a:p>
                  </a:txBody>
                  <a:tcPr anchor="ctr"/>
                </a:tc>
                <a:extLst>
                  <a:ext uri="{0D108BD9-81ED-4DB2-BD59-A6C34878D82A}">
                    <a16:rowId xmlns:a16="http://schemas.microsoft.com/office/drawing/2014/main" val="327461258"/>
                  </a:ext>
                </a:extLst>
              </a:tr>
              <a:tr h="281350">
                <a:tc>
                  <a:txBody>
                    <a:bodyPr/>
                    <a:lstStyle/>
                    <a:p>
                      <a:pPr>
                        <a:buNone/>
                      </a:pPr>
                      <a:r>
                        <a:rPr lang="en-CA" sz="1200"/>
                        <a:t>CDC Saffron</a:t>
                      </a:r>
                    </a:p>
                  </a:txBody>
                  <a:tcPr anchor="ctr"/>
                </a:tc>
                <a:tc>
                  <a:txBody>
                    <a:bodyPr/>
                    <a:lstStyle/>
                    <a:p>
                      <a:pPr>
                        <a:buNone/>
                      </a:pPr>
                      <a:r>
                        <a:rPr lang="en-CA" sz="1200"/>
                        <a:t>0.3468</a:t>
                      </a:r>
                    </a:p>
                  </a:txBody>
                  <a:tcPr anchor="ctr"/>
                </a:tc>
                <a:tc>
                  <a:txBody>
                    <a:bodyPr/>
                    <a:lstStyle/>
                    <a:p>
                      <a:pPr>
                        <a:buNone/>
                      </a:pPr>
                      <a:r>
                        <a:rPr lang="en-CA" sz="1200"/>
                        <a:t>0.3385</a:t>
                      </a:r>
                    </a:p>
                  </a:txBody>
                  <a:tcPr anchor="ctr"/>
                </a:tc>
                <a:tc>
                  <a:txBody>
                    <a:bodyPr/>
                    <a:lstStyle/>
                    <a:p>
                      <a:pPr>
                        <a:buNone/>
                      </a:pPr>
                      <a:r>
                        <a:rPr lang="en-CA" sz="1200"/>
                        <a:t>0.0099</a:t>
                      </a:r>
                    </a:p>
                  </a:txBody>
                  <a:tcPr anchor="ctr"/>
                </a:tc>
                <a:extLst>
                  <a:ext uri="{0D108BD9-81ED-4DB2-BD59-A6C34878D82A}">
                    <a16:rowId xmlns:a16="http://schemas.microsoft.com/office/drawing/2014/main" val="3524192862"/>
                  </a:ext>
                </a:extLst>
              </a:tr>
              <a:tr h="281350">
                <a:tc>
                  <a:txBody>
                    <a:bodyPr/>
                    <a:lstStyle/>
                    <a:p>
                      <a:pPr>
                        <a:buNone/>
                      </a:pPr>
                      <a:r>
                        <a:rPr lang="en-CA" sz="1200" b="1"/>
                        <a:t>CDC Spectrum</a:t>
                      </a:r>
                      <a:endParaRPr lang="en-CA" sz="1200"/>
                    </a:p>
                  </a:txBody>
                  <a:tcPr anchor="ctr"/>
                </a:tc>
                <a:tc>
                  <a:txBody>
                    <a:bodyPr/>
                    <a:lstStyle/>
                    <a:p>
                      <a:pPr>
                        <a:buNone/>
                      </a:pPr>
                      <a:r>
                        <a:rPr lang="en-CA" sz="1200" b="1"/>
                        <a:t>0.3732</a:t>
                      </a:r>
                      <a:endParaRPr lang="en-CA" sz="1200"/>
                    </a:p>
                  </a:txBody>
                  <a:tcPr anchor="ctr"/>
                </a:tc>
                <a:tc>
                  <a:txBody>
                    <a:bodyPr/>
                    <a:lstStyle/>
                    <a:p>
                      <a:pPr>
                        <a:buNone/>
                      </a:pPr>
                      <a:r>
                        <a:rPr lang="en-CA" sz="1200" b="1"/>
                        <a:t>0.3376</a:t>
                      </a:r>
                      <a:endParaRPr lang="en-CA" sz="1200"/>
                    </a:p>
                  </a:txBody>
                  <a:tcPr anchor="ctr"/>
                </a:tc>
                <a:tc>
                  <a:txBody>
                    <a:bodyPr/>
                    <a:lstStyle/>
                    <a:p>
                      <a:pPr>
                        <a:buNone/>
                      </a:pPr>
                      <a:r>
                        <a:rPr lang="en-CA" sz="1200" b="1"/>
                        <a:t>0.0358</a:t>
                      </a:r>
                      <a:endParaRPr lang="en-CA" sz="1200"/>
                    </a:p>
                  </a:txBody>
                  <a:tcPr anchor="ctr"/>
                </a:tc>
                <a:extLst>
                  <a:ext uri="{0D108BD9-81ED-4DB2-BD59-A6C34878D82A}">
                    <a16:rowId xmlns:a16="http://schemas.microsoft.com/office/drawing/2014/main" val="3823490932"/>
                  </a:ext>
                </a:extLst>
              </a:tr>
              <a:tr h="281350">
                <a:tc>
                  <a:txBody>
                    <a:bodyPr/>
                    <a:lstStyle/>
                    <a:p>
                      <a:pPr>
                        <a:buNone/>
                      </a:pPr>
                      <a:r>
                        <a:rPr lang="en-CA" sz="1200"/>
                        <a:t>CDC Spruce</a:t>
                      </a:r>
                    </a:p>
                  </a:txBody>
                  <a:tcPr anchor="ctr"/>
                </a:tc>
                <a:tc>
                  <a:txBody>
                    <a:bodyPr/>
                    <a:lstStyle/>
                    <a:p>
                      <a:pPr>
                        <a:buNone/>
                      </a:pPr>
                      <a:r>
                        <a:rPr lang="en-CA" sz="1200"/>
                        <a:t>0.3457</a:t>
                      </a:r>
                    </a:p>
                  </a:txBody>
                  <a:tcPr anchor="ctr"/>
                </a:tc>
                <a:tc>
                  <a:txBody>
                    <a:bodyPr/>
                    <a:lstStyle/>
                    <a:p>
                      <a:pPr>
                        <a:buNone/>
                      </a:pPr>
                      <a:r>
                        <a:rPr lang="en-CA" sz="1200"/>
                        <a:t>0.3444</a:t>
                      </a:r>
                    </a:p>
                  </a:txBody>
                  <a:tcPr anchor="ctr"/>
                </a:tc>
                <a:tc>
                  <a:txBody>
                    <a:bodyPr/>
                    <a:lstStyle/>
                    <a:p>
                      <a:pPr>
                        <a:buNone/>
                      </a:pPr>
                      <a:r>
                        <a:rPr lang="en-CA" sz="1200" dirty="0"/>
                        <a:t>0.0040</a:t>
                      </a:r>
                    </a:p>
                  </a:txBody>
                  <a:tcPr anchor="ctr"/>
                </a:tc>
                <a:extLst>
                  <a:ext uri="{0D108BD9-81ED-4DB2-BD59-A6C34878D82A}">
                    <a16:rowId xmlns:a16="http://schemas.microsoft.com/office/drawing/2014/main" val="2861294458"/>
                  </a:ext>
                </a:extLst>
              </a:tr>
              <a:tr h="281350">
                <a:tc>
                  <a:txBody>
                    <a:bodyPr/>
                    <a:lstStyle/>
                    <a:p>
                      <a:pPr>
                        <a:buNone/>
                      </a:pPr>
                      <a:r>
                        <a:rPr lang="en-CA" sz="1200"/>
                        <a:t>CDC Striker</a:t>
                      </a:r>
                    </a:p>
                  </a:txBody>
                  <a:tcPr anchor="ctr"/>
                </a:tc>
                <a:tc>
                  <a:txBody>
                    <a:bodyPr/>
                    <a:lstStyle/>
                    <a:p>
                      <a:pPr>
                        <a:buNone/>
                      </a:pPr>
                      <a:r>
                        <a:rPr lang="en-CA" sz="1200"/>
                        <a:t>0.3450</a:t>
                      </a:r>
                    </a:p>
                  </a:txBody>
                  <a:tcPr anchor="ctr"/>
                </a:tc>
                <a:tc>
                  <a:txBody>
                    <a:bodyPr/>
                    <a:lstStyle/>
                    <a:p>
                      <a:pPr>
                        <a:buNone/>
                      </a:pPr>
                      <a:r>
                        <a:rPr lang="en-CA" sz="1200"/>
                        <a:t>0.3431</a:t>
                      </a:r>
                    </a:p>
                  </a:txBody>
                  <a:tcPr anchor="ctr"/>
                </a:tc>
                <a:tc>
                  <a:txBody>
                    <a:bodyPr/>
                    <a:lstStyle/>
                    <a:p>
                      <a:pPr>
                        <a:buNone/>
                      </a:pPr>
                      <a:r>
                        <a:rPr lang="en-CA" sz="1200"/>
                        <a:t>0.0049</a:t>
                      </a:r>
                    </a:p>
                  </a:txBody>
                  <a:tcPr anchor="ctr"/>
                </a:tc>
                <a:extLst>
                  <a:ext uri="{0D108BD9-81ED-4DB2-BD59-A6C34878D82A}">
                    <a16:rowId xmlns:a16="http://schemas.microsoft.com/office/drawing/2014/main" val="3981971301"/>
                  </a:ext>
                </a:extLst>
              </a:tr>
              <a:tr h="281350">
                <a:tc>
                  <a:txBody>
                    <a:bodyPr/>
                    <a:lstStyle/>
                    <a:p>
                      <a:pPr>
                        <a:buNone/>
                      </a:pPr>
                      <a:r>
                        <a:rPr lang="en-CA" sz="1200"/>
                        <a:t>CDC Tetris</a:t>
                      </a:r>
                    </a:p>
                  </a:txBody>
                  <a:tcPr anchor="ctr"/>
                </a:tc>
                <a:tc>
                  <a:txBody>
                    <a:bodyPr/>
                    <a:lstStyle/>
                    <a:p>
                      <a:pPr>
                        <a:buNone/>
                      </a:pPr>
                      <a:r>
                        <a:rPr lang="en-CA" sz="1200"/>
                        <a:t>0.3420</a:t>
                      </a:r>
                    </a:p>
                  </a:txBody>
                  <a:tcPr anchor="ctr"/>
                </a:tc>
                <a:tc>
                  <a:txBody>
                    <a:bodyPr/>
                    <a:lstStyle/>
                    <a:p>
                      <a:pPr>
                        <a:buNone/>
                      </a:pPr>
                      <a:r>
                        <a:rPr lang="en-CA" sz="1200"/>
                        <a:t>0.3430</a:t>
                      </a:r>
                    </a:p>
                  </a:txBody>
                  <a:tcPr anchor="ctr"/>
                </a:tc>
                <a:tc>
                  <a:txBody>
                    <a:bodyPr/>
                    <a:lstStyle/>
                    <a:p>
                      <a:pPr>
                        <a:buNone/>
                      </a:pPr>
                      <a:r>
                        <a:rPr lang="en-CA" sz="1200"/>
                        <a:t>0.0037</a:t>
                      </a:r>
                    </a:p>
                  </a:txBody>
                  <a:tcPr anchor="ctr"/>
                </a:tc>
                <a:extLst>
                  <a:ext uri="{0D108BD9-81ED-4DB2-BD59-A6C34878D82A}">
                    <a16:rowId xmlns:a16="http://schemas.microsoft.com/office/drawing/2014/main" val="2217582827"/>
                  </a:ext>
                </a:extLst>
              </a:tr>
              <a:tr h="281350">
                <a:tc>
                  <a:txBody>
                    <a:bodyPr/>
                    <a:lstStyle/>
                    <a:p>
                      <a:pPr>
                        <a:buNone/>
                      </a:pPr>
                      <a:r>
                        <a:rPr lang="en-CA" sz="1200"/>
                        <a:t>Redbat 88</a:t>
                      </a:r>
                    </a:p>
                  </a:txBody>
                  <a:tcPr anchor="ctr"/>
                </a:tc>
                <a:tc>
                  <a:txBody>
                    <a:bodyPr/>
                    <a:lstStyle/>
                    <a:p>
                      <a:pPr>
                        <a:buNone/>
                      </a:pPr>
                      <a:r>
                        <a:rPr lang="en-CA" sz="1200"/>
                        <a:t>0.3163</a:t>
                      </a:r>
                    </a:p>
                  </a:txBody>
                  <a:tcPr anchor="ctr"/>
                </a:tc>
                <a:tc>
                  <a:txBody>
                    <a:bodyPr/>
                    <a:lstStyle/>
                    <a:p>
                      <a:pPr>
                        <a:buNone/>
                      </a:pPr>
                      <a:r>
                        <a:rPr lang="en-CA" sz="1200"/>
                        <a:t>0.3216</a:t>
                      </a:r>
                    </a:p>
                  </a:txBody>
                  <a:tcPr anchor="ctr"/>
                </a:tc>
                <a:tc>
                  <a:txBody>
                    <a:bodyPr/>
                    <a:lstStyle/>
                    <a:p>
                      <a:pPr>
                        <a:buNone/>
                      </a:pPr>
                      <a:r>
                        <a:rPr lang="en-CA" sz="1200" dirty="0"/>
                        <a:t>0.0088</a:t>
                      </a:r>
                    </a:p>
                  </a:txBody>
                  <a:tcPr anchor="ctr"/>
                </a:tc>
                <a:extLst>
                  <a:ext uri="{0D108BD9-81ED-4DB2-BD59-A6C34878D82A}">
                    <a16:rowId xmlns:a16="http://schemas.microsoft.com/office/drawing/2014/main" val="3945255598"/>
                  </a:ext>
                </a:extLst>
              </a:tr>
            </a:tbl>
          </a:graphicData>
        </a:graphic>
      </p:graphicFrame>
    </p:spTree>
    <p:extLst>
      <p:ext uri="{BB962C8B-B14F-4D97-AF65-F5344CB8AC3E}">
        <p14:creationId xmlns:p14="http://schemas.microsoft.com/office/powerpoint/2010/main" val="1363277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EAFDA-758A-CE8B-3310-1F6480BB2230}"/>
              </a:ext>
            </a:extLst>
          </p:cNvPr>
          <p:cNvSpPr>
            <a:spLocks noGrp="1"/>
          </p:cNvSpPr>
          <p:nvPr>
            <p:ph type="title"/>
          </p:nvPr>
        </p:nvSpPr>
        <p:spPr/>
        <p:txBody>
          <a:bodyPr/>
          <a:lstStyle/>
          <a:p>
            <a:r>
              <a:rPr lang="en-CA" dirty="0"/>
              <a:t>CNN LOCOCV – Per Fold Results</a:t>
            </a:r>
          </a:p>
        </p:txBody>
      </p:sp>
      <p:sp>
        <p:nvSpPr>
          <p:cNvPr id="3" name="Content Placeholder 2">
            <a:extLst>
              <a:ext uri="{FF2B5EF4-FFF2-40B4-BE49-F238E27FC236}">
                <a16:creationId xmlns:a16="http://schemas.microsoft.com/office/drawing/2014/main" id="{795B3488-2C06-3795-8D77-6894D0187996}"/>
              </a:ext>
            </a:extLst>
          </p:cNvPr>
          <p:cNvSpPr>
            <a:spLocks noGrp="1"/>
          </p:cNvSpPr>
          <p:nvPr>
            <p:ph idx="1"/>
          </p:nvPr>
        </p:nvSpPr>
        <p:spPr>
          <a:xfrm>
            <a:off x="677334" y="1727452"/>
            <a:ext cx="8596668" cy="3880773"/>
          </a:xfrm>
        </p:spPr>
        <p:txBody>
          <a:bodyPr/>
          <a:lstStyle/>
          <a:p>
            <a:r>
              <a:rPr lang="en-CA" dirty="0"/>
              <a:t>8 out of 20 cultivars were predicted with RMSE below 0.011, showing strong generalisation.</a:t>
            </a:r>
          </a:p>
          <a:p>
            <a:r>
              <a:rPr lang="en-CA" dirty="0"/>
              <a:t>CDC Spectrum (RMSE = 0.0358) is the main outlier because it has the highest cysteine value (0.3732), making it an extreme cultivar that the model has never encountered.</a:t>
            </a:r>
          </a:p>
          <a:p>
            <a:pPr marL="0" indent="0">
              <a:buNone/>
            </a:pPr>
            <a:endParaRPr lang="en-CA" dirty="0"/>
          </a:p>
        </p:txBody>
      </p:sp>
    </p:spTree>
    <p:extLst>
      <p:ext uri="{BB962C8B-B14F-4D97-AF65-F5344CB8AC3E}">
        <p14:creationId xmlns:p14="http://schemas.microsoft.com/office/powerpoint/2010/main" val="1906718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EB996-0BD8-F9FC-4644-636D5AE791B2}"/>
              </a:ext>
            </a:extLst>
          </p:cNvPr>
          <p:cNvSpPr>
            <a:spLocks noGrp="1"/>
          </p:cNvSpPr>
          <p:nvPr>
            <p:ph type="title"/>
          </p:nvPr>
        </p:nvSpPr>
        <p:spPr>
          <a:xfrm>
            <a:off x="677862" y="272716"/>
            <a:ext cx="8596668" cy="1320800"/>
          </a:xfrm>
        </p:spPr>
        <p:txBody>
          <a:bodyPr/>
          <a:lstStyle/>
          <a:p>
            <a:r>
              <a:rPr lang="en-CA" dirty="0"/>
              <a:t>CNN Final Results</a:t>
            </a:r>
          </a:p>
        </p:txBody>
      </p:sp>
      <p:pic>
        <p:nvPicPr>
          <p:cNvPr id="5" name="Content Placeholder 4">
            <a:extLst>
              <a:ext uri="{FF2B5EF4-FFF2-40B4-BE49-F238E27FC236}">
                <a16:creationId xmlns:a16="http://schemas.microsoft.com/office/drawing/2014/main" id="{5A991604-8BE8-5AC7-884E-82C7F1812887}"/>
              </a:ext>
            </a:extLst>
          </p:cNvPr>
          <p:cNvPicPr>
            <a:picLocks noGrp="1" noChangeAspect="1"/>
          </p:cNvPicPr>
          <p:nvPr>
            <p:ph idx="1"/>
          </p:nvPr>
        </p:nvPicPr>
        <p:blipFill>
          <a:blip r:embed="rId2"/>
          <a:stretch>
            <a:fillRect/>
          </a:stretch>
        </p:blipFill>
        <p:spPr>
          <a:xfrm>
            <a:off x="677862" y="1356809"/>
            <a:ext cx="10551611" cy="4650262"/>
          </a:xfrm>
          <a:prstGeom prst="rect">
            <a:avLst/>
          </a:prstGeom>
          <a:ln>
            <a:solidFill>
              <a:schemeClr val="accent1"/>
            </a:solidFill>
          </a:ln>
        </p:spPr>
      </p:pic>
    </p:spTree>
    <p:extLst>
      <p:ext uri="{BB962C8B-B14F-4D97-AF65-F5344CB8AC3E}">
        <p14:creationId xmlns:p14="http://schemas.microsoft.com/office/powerpoint/2010/main" val="766740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7B2E0-1EE8-C06D-5ACE-600536289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23B1A-46D0-1DCE-9F96-D1A7C532832D}"/>
              </a:ext>
            </a:extLst>
          </p:cNvPr>
          <p:cNvSpPr>
            <a:spLocks noGrp="1"/>
          </p:cNvSpPr>
          <p:nvPr>
            <p:ph type="title"/>
          </p:nvPr>
        </p:nvSpPr>
        <p:spPr/>
        <p:txBody>
          <a:bodyPr/>
          <a:lstStyle/>
          <a:p>
            <a:r>
              <a:rPr lang="en-CA" dirty="0"/>
              <a:t>1D CNN — Final Results</a:t>
            </a:r>
          </a:p>
        </p:txBody>
      </p:sp>
      <p:graphicFrame>
        <p:nvGraphicFramePr>
          <p:cNvPr id="4" name="Content Placeholder 3">
            <a:extLst>
              <a:ext uri="{FF2B5EF4-FFF2-40B4-BE49-F238E27FC236}">
                <a16:creationId xmlns:a16="http://schemas.microsoft.com/office/drawing/2014/main" id="{7DAC683D-7F9D-D3FC-CD50-8358BF0A1EE8}"/>
              </a:ext>
            </a:extLst>
          </p:cNvPr>
          <p:cNvGraphicFramePr>
            <a:graphicFrameLocks noGrp="1"/>
          </p:cNvGraphicFramePr>
          <p:nvPr>
            <p:ph idx="1"/>
            <p:extLst>
              <p:ext uri="{D42A27DB-BD31-4B8C-83A1-F6EECF244321}">
                <p14:modId xmlns:p14="http://schemas.microsoft.com/office/powerpoint/2010/main" val="3540259488"/>
              </p:ext>
            </p:extLst>
          </p:nvPr>
        </p:nvGraphicFramePr>
        <p:xfrm>
          <a:off x="677334" y="1727452"/>
          <a:ext cx="9750033" cy="1480968"/>
        </p:xfrm>
        <a:graphic>
          <a:graphicData uri="http://schemas.openxmlformats.org/drawingml/2006/table">
            <a:tbl>
              <a:tblPr firstRow="1" bandRow="1">
                <a:tableStyleId>{5C22544A-7EE6-4342-B048-85BDC9FD1C3A}</a:tableStyleId>
              </a:tblPr>
              <a:tblGrid>
                <a:gridCol w="3250011">
                  <a:extLst>
                    <a:ext uri="{9D8B030D-6E8A-4147-A177-3AD203B41FA5}">
                      <a16:colId xmlns:a16="http://schemas.microsoft.com/office/drawing/2014/main" val="2895602152"/>
                    </a:ext>
                  </a:extLst>
                </a:gridCol>
                <a:gridCol w="3250011">
                  <a:extLst>
                    <a:ext uri="{9D8B030D-6E8A-4147-A177-3AD203B41FA5}">
                      <a16:colId xmlns:a16="http://schemas.microsoft.com/office/drawing/2014/main" val="3797302686"/>
                    </a:ext>
                  </a:extLst>
                </a:gridCol>
                <a:gridCol w="3250011">
                  <a:extLst>
                    <a:ext uri="{9D8B030D-6E8A-4147-A177-3AD203B41FA5}">
                      <a16:colId xmlns:a16="http://schemas.microsoft.com/office/drawing/2014/main" val="519754152"/>
                    </a:ext>
                  </a:extLst>
                </a:gridCol>
              </a:tblGrid>
              <a:tr h="370242">
                <a:tc>
                  <a:txBody>
                    <a:bodyPr/>
                    <a:lstStyle/>
                    <a:p>
                      <a:pPr>
                        <a:buNone/>
                      </a:pPr>
                      <a:r>
                        <a:rPr lang="en-CA" dirty="0"/>
                        <a:t>Metric</a:t>
                      </a:r>
                    </a:p>
                  </a:txBody>
                  <a:tcPr anchor="ctr"/>
                </a:tc>
                <a:tc>
                  <a:txBody>
                    <a:bodyPr/>
                    <a:lstStyle/>
                    <a:p>
                      <a:pPr>
                        <a:buNone/>
                      </a:pPr>
                      <a:r>
                        <a:rPr lang="en-CA"/>
                        <a:t>80/20 Split</a:t>
                      </a:r>
                    </a:p>
                  </a:txBody>
                  <a:tcPr anchor="ctr"/>
                </a:tc>
                <a:tc>
                  <a:txBody>
                    <a:bodyPr/>
                    <a:lstStyle/>
                    <a:p>
                      <a:pPr>
                        <a:buNone/>
                      </a:pPr>
                      <a:r>
                        <a:rPr lang="en-CA"/>
                        <a:t>LOCOCV</a:t>
                      </a:r>
                    </a:p>
                  </a:txBody>
                  <a:tcPr anchor="ctr"/>
                </a:tc>
                <a:extLst>
                  <a:ext uri="{0D108BD9-81ED-4DB2-BD59-A6C34878D82A}">
                    <a16:rowId xmlns:a16="http://schemas.microsoft.com/office/drawing/2014/main" val="2243971993"/>
                  </a:ext>
                </a:extLst>
              </a:tr>
              <a:tr h="370242">
                <a:tc>
                  <a:txBody>
                    <a:bodyPr/>
                    <a:lstStyle/>
                    <a:p>
                      <a:pPr>
                        <a:buNone/>
                      </a:pPr>
                      <a:r>
                        <a:rPr lang="en-CA"/>
                        <a:t>RMSE</a:t>
                      </a:r>
                    </a:p>
                  </a:txBody>
                  <a:tcPr anchor="ctr"/>
                </a:tc>
                <a:tc>
                  <a:txBody>
                    <a:bodyPr/>
                    <a:lstStyle/>
                    <a:p>
                      <a:pPr>
                        <a:buNone/>
                      </a:pPr>
                      <a:r>
                        <a:rPr lang="en-CA"/>
                        <a:t>0.0081</a:t>
                      </a:r>
                    </a:p>
                  </a:txBody>
                  <a:tcPr anchor="ctr"/>
                </a:tc>
                <a:tc>
                  <a:txBody>
                    <a:bodyPr/>
                    <a:lstStyle/>
                    <a:p>
                      <a:pPr>
                        <a:buNone/>
                      </a:pPr>
                      <a:r>
                        <a:rPr lang="en-CA"/>
                        <a:t>0.0102</a:t>
                      </a:r>
                    </a:p>
                  </a:txBody>
                  <a:tcPr anchor="ctr"/>
                </a:tc>
                <a:extLst>
                  <a:ext uri="{0D108BD9-81ED-4DB2-BD59-A6C34878D82A}">
                    <a16:rowId xmlns:a16="http://schemas.microsoft.com/office/drawing/2014/main" val="3317277336"/>
                  </a:ext>
                </a:extLst>
              </a:tr>
              <a:tr h="370242">
                <a:tc>
                  <a:txBody>
                    <a:bodyPr/>
                    <a:lstStyle/>
                    <a:p>
                      <a:pPr>
                        <a:buNone/>
                      </a:pPr>
                      <a:r>
                        <a:rPr lang="en-CA"/>
                        <a:t>R2</a:t>
                      </a:r>
                    </a:p>
                  </a:txBody>
                  <a:tcPr anchor="ctr"/>
                </a:tc>
                <a:tc>
                  <a:txBody>
                    <a:bodyPr/>
                    <a:lstStyle/>
                    <a:p>
                      <a:pPr>
                        <a:buNone/>
                      </a:pPr>
                      <a:r>
                        <a:rPr lang="en-CA"/>
                        <a:t>0.7571</a:t>
                      </a:r>
                    </a:p>
                  </a:txBody>
                  <a:tcPr anchor="ctr"/>
                </a:tc>
                <a:tc>
                  <a:txBody>
                    <a:bodyPr/>
                    <a:lstStyle/>
                    <a:p>
                      <a:pPr>
                        <a:buNone/>
                      </a:pPr>
                      <a:r>
                        <a:rPr lang="en-CA"/>
                        <a:t>0.6128</a:t>
                      </a:r>
                    </a:p>
                  </a:txBody>
                  <a:tcPr anchor="ctr"/>
                </a:tc>
                <a:extLst>
                  <a:ext uri="{0D108BD9-81ED-4DB2-BD59-A6C34878D82A}">
                    <a16:rowId xmlns:a16="http://schemas.microsoft.com/office/drawing/2014/main" val="4254827789"/>
                  </a:ext>
                </a:extLst>
              </a:tr>
              <a:tr h="370242">
                <a:tc>
                  <a:txBody>
                    <a:bodyPr/>
                    <a:lstStyle/>
                    <a:p>
                      <a:pPr>
                        <a:buNone/>
                      </a:pPr>
                      <a:r>
                        <a:rPr lang="en-CA"/>
                        <a:t>RPD</a:t>
                      </a:r>
                    </a:p>
                  </a:txBody>
                  <a:tcPr anchor="ctr"/>
                </a:tc>
                <a:tc>
                  <a:txBody>
                    <a:bodyPr/>
                    <a:lstStyle/>
                    <a:p>
                      <a:pPr>
                        <a:buNone/>
                      </a:pPr>
                      <a:r>
                        <a:rPr lang="en-CA"/>
                        <a:t>2.0292</a:t>
                      </a:r>
                    </a:p>
                  </a:txBody>
                  <a:tcPr anchor="ctr"/>
                </a:tc>
                <a:tc>
                  <a:txBody>
                    <a:bodyPr/>
                    <a:lstStyle/>
                    <a:p>
                      <a:pPr>
                        <a:buNone/>
                      </a:pPr>
                      <a:r>
                        <a:rPr lang="en-CA" dirty="0"/>
                        <a:t>1.6071</a:t>
                      </a:r>
                    </a:p>
                  </a:txBody>
                  <a:tcPr anchor="ctr"/>
                </a:tc>
                <a:extLst>
                  <a:ext uri="{0D108BD9-81ED-4DB2-BD59-A6C34878D82A}">
                    <a16:rowId xmlns:a16="http://schemas.microsoft.com/office/drawing/2014/main" val="3683573380"/>
                  </a:ext>
                </a:extLst>
              </a:tr>
            </a:tbl>
          </a:graphicData>
        </a:graphic>
      </p:graphicFrame>
      <p:sp>
        <p:nvSpPr>
          <p:cNvPr id="7" name="Rectangle 6">
            <a:extLst>
              <a:ext uri="{FF2B5EF4-FFF2-40B4-BE49-F238E27FC236}">
                <a16:creationId xmlns:a16="http://schemas.microsoft.com/office/drawing/2014/main" id="{4C806D61-DBEE-0899-7C74-C6E0D7E74C57}"/>
              </a:ext>
            </a:extLst>
          </p:cNvPr>
          <p:cNvSpPr/>
          <p:nvPr/>
        </p:nvSpPr>
        <p:spPr>
          <a:xfrm>
            <a:off x="677334" y="3649581"/>
            <a:ext cx="9750033" cy="2665914"/>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CA" b="1" dirty="0"/>
              <a:t>80/20:</a:t>
            </a:r>
          </a:p>
          <a:p>
            <a:r>
              <a:rPr lang="en-CA" dirty="0"/>
              <a:t>Points follow the diagonal well but with some spread. Vertical bands visible because all 324 spectra from one cultivar share one label. R2 = 0.76 shows solid within-cultivar performance.</a:t>
            </a:r>
          </a:p>
          <a:p>
            <a:endParaRPr lang="en-CA" b="1" dirty="0"/>
          </a:p>
          <a:p>
            <a:r>
              <a:rPr lang="en-CA" b="1" dirty="0"/>
              <a:t>LOCO:</a:t>
            </a:r>
            <a:br>
              <a:rPr lang="en-CA" dirty="0"/>
            </a:br>
            <a:r>
              <a:rPr lang="en-CA" dirty="0"/>
              <a:t>This is the breakthrough. Unlike PLSR, SVR and RF which showed flat horizontal clusters, CNN predictions actually track the true values across the full cysteine range. The diagonal alignment confirms real cysteine signal is being captured.</a:t>
            </a:r>
          </a:p>
          <a:p>
            <a:pPr algn="ctr"/>
            <a:endParaRPr lang="en-CA" dirty="0"/>
          </a:p>
        </p:txBody>
      </p:sp>
    </p:spTree>
    <p:extLst>
      <p:ext uri="{BB962C8B-B14F-4D97-AF65-F5344CB8AC3E}">
        <p14:creationId xmlns:p14="http://schemas.microsoft.com/office/powerpoint/2010/main" val="197630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7FFBD-5D65-A69F-D624-0F7E5F787CD1}"/>
              </a:ext>
            </a:extLst>
          </p:cNvPr>
          <p:cNvSpPr>
            <a:spLocks noGrp="1"/>
          </p:cNvSpPr>
          <p:nvPr>
            <p:ph type="title"/>
          </p:nvPr>
        </p:nvSpPr>
        <p:spPr/>
        <p:txBody>
          <a:bodyPr/>
          <a:lstStyle/>
          <a:p>
            <a:r>
              <a:rPr lang="en-CA" dirty="0"/>
              <a:t>All 4 Models Compared</a:t>
            </a:r>
          </a:p>
        </p:txBody>
      </p:sp>
      <p:sp>
        <p:nvSpPr>
          <p:cNvPr id="3" name="Content Placeholder 2">
            <a:extLst>
              <a:ext uri="{FF2B5EF4-FFF2-40B4-BE49-F238E27FC236}">
                <a16:creationId xmlns:a16="http://schemas.microsoft.com/office/drawing/2014/main" id="{C2A0936C-6B68-4789-545C-B1D9E4AEFEB7}"/>
              </a:ext>
            </a:extLst>
          </p:cNvPr>
          <p:cNvSpPr>
            <a:spLocks noGrp="1"/>
          </p:cNvSpPr>
          <p:nvPr>
            <p:ph idx="1"/>
          </p:nvPr>
        </p:nvSpPr>
        <p:spPr>
          <a:xfrm>
            <a:off x="677334" y="4308013"/>
            <a:ext cx="8596668" cy="3880773"/>
          </a:xfrm>
        </p:spPr>
        <p:txBody>
          <a:bodyPr/>
          <a:lstStyle/>
          <a:p>
            <a:r>
              <a:rPr lang="en-CA" dirty="0"/>
              <a:t>SVR performs best for the 80/20 split (RPD = 3.06), exceeding the screening threshold.</a:t>
            </a:r>
          </a:p>
          <a:p>
            <a:r>
              <a:rPr lang="en-CA" dirty="0"/>
              <a:t>CNN performs best for LOCO by a large margin, with R² improving from -0.31 to 0.61.</a:t>
            </a:r>
          </a:p>
          <a:p>
            <a:r>
              <a:rPr lang="en-CA" dirty="0"/>
              <a:t>All classical models fail in the LOCO evaluation, while CNN succeeds, confirming that deep learning is necessary for cross cultivar generalisation.</a:t>
            </a:r>
          </a:p>
          <a:p>
            <a:endParaRPr lang="en-CA" dirty="0"/>
          </a:p>
        </p:txBody>
      </p:sp>
      <p:graphicFrame>
        <p:nvGraphicFramePr>
          <p:cNvPr id="9" name="Table 8">
            <a:extLst>
              <a:ext uri="{FF2B5EF4-FFF2-40B4-BE49-F238E27FC236}">
                <a16:creationId xmlns:a16="http://schemas.microsoft.com/office/drawing/2014/main" id="{4286372F-8E5B-535C-6940-ABFB946B5D03}"/>
              </a:ext>
            </a:extLst>
          </p:cNvPr>
          <p:cNvGraphicFramePr>
            <a:graphicFrameLocks noGrp="1"/>
          </p:cNvGraphicFramePr>
          <p:nvPr>
            <p:extLst>
              <p:ext uri="{D42A27DB-BD31-4B8C-83A1-F6EECF244321}">
                <p14:modId xmlns:p14="http://schemas.microsoft.com/office/powerpoint/2010/main" val="4104377145"/>
              </p:ext>
            </p:extLst>
          </p:nvPr>
        </p:nvGraphicFramePr>
        <p:xfrm>
          <a:off x="677334" y="1441210"/>
          <a:ext cx="8128000" cy="25958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4077710551"/>
                    </a:ext>
                  </a:extLst>
                </a:gridCol>
                <a:gridCol w="1625600">
                  <a:extLst>
                    <a:ext uri="{9D8B030D-6E8A-4147-A177-3AD203B41FA5}">
                      <a16:colId xmlns:a16="http://schemas.microsoft.com/office/drawing/2014/main" val="473330203"/>
                    </a:ext>
                  </a:extLst>
                </a:gridCol>
                <a:gridCol w="1625600">
                  <a:extLst>
                    <a:ext uri="{9D8B030D-6E8A-4147-A177-3AD203B41FA5}">
                      <a16:colId xmlns:a16="http://schemas.microsoft.com/office/drawing/2014/main" val="2137397887"/>
                    </a:ext>
                  </a:extLst>
                </a:gridCol>
                <a:gridCol w="1625600">
                  <a:extLst>
                    <a:ext uri="{9D8B030D-6E8A-4147-A177-3AD203B41FA5}">
                      <a16:colId xmlns:a16="http://schemas.microsoft.com/office/drawing/2014/main" val="1346662198"/>
                    </a:ext>
                  </a:extLst>
                </a:gridCol>
                <a:gridCol w="1625600">
                  <a:extLst>
                    <a:ext uri="{9D8B030D-6E8A-4147-A177-3AD203B41FA5}">
                      <a16:colId xmlns:a16="http://schemas.microsoft.com/office/drawing/2014/main" val="4232627297"/>
                    </a:ext>
                  </a:extLst>
                </a:gridCol>
              </a:tblGrid>
              <a:tr h="370840">
                <a:tc>
                  <a:txBody>
                    <a:bodyPr/>
                    <a:lstStyle/>
                    <a:p>
                      <a:pPr>
                        <a:buNone/>
                      </a:pPr>
                      <a:r>
                        <a:rPr lang="en-CA" dirty="0"/>
                        <a:t>Metric</a:t>
                      </a:r>
                    </a:p>
                  </a:txBody>
                  <a:tcPr anchor="ctr"/>
                </a:tc>
                <a:tc>
                  <a:txBody>
                    <a:bodyPr/>
                    <a:lstStyle/>
                    <a:p>
                      <a:pPr>
                        <a:buNone/>
                      </a:pPr>
                      <a:r>
                        <a:rPr lang="en-CA"/>
                        <a:t>PLSR</a:t>
                      </a:r>
                    </a:p>
                  </a:txBody>
                  <a:tcPr anchor="ctr"/>
                </a:tc>
                <a:tc>
                  <a:txBody>
                    <a:bodyPr/>
                    <a:lstStyle/>
                    <a:p>
                      <a:pPr>
                        <a:buNone/>
                      </a:pPr>
                      <a:r>
                        <a:rPr lang="en-CA"/>
                        <a:t>SVR</a:t>
                      </a:r>
                    </a:p>
                  </a:txBody>
                  <a:tcPr anchor="ctr"/>
                </a:tc>
                <a:tc>
                  <a:txBody>
                    <a:bodyPr/>
                    <a:lstStyle/>
                    <a:p>
                      <a:pPr>
                        <a:buNone/>
                      </a:pPr>
                      <a:r>
                        <a:rPr lang="en-CA"/>
                        <a:t>RF</a:t>
                      </a:r>
                    </a:p>
                  </a:txBody>
                  <a:tcPr anchor="ctr"/>
                </a:tc>
                <a:tc>
                  <a:txBody>
                    <a:bodyPr/>
                    <a:lstStyle/>
                    <a:p>
                      <a:pPr>
                        <a:buNone/>
                      </a:pPr>
                      <a:r>
                        <a:rPr lang="en-CA"/>
                        <a:t>CNN</a:t>
                      </a:r>
                    </a:p>
                  </a:txBody>
                  <a:tcPr anchor="ctr"/>
                </a:tc>
                <a:extLst>
                  <a:ext uri="{0D108BD9-81ED-4DB2-BD59-A6C34878D82A}">
                    <a16:rowId xmlns:a16="http://schemas.microsoft.com/office/drawing/2014/main" val="3462424373"/>
                  </a:ext>
                </a:extLst>
              </a:tr>
              <a:tr h="370840">
                <a:tc>
                  <a:txBody>
                    <a:bodyPr/>
                    <a:lstStyle/>
                    <a:p>
                      <a:pPr>
                        <a:buNone/>
                      </a:pPr>
                      <a:r>
                        <a:rPr lang="en-CA"/>
                        <a:t>80/20 RMSE</a:t>
                      </a:r>
                    </a:p>
                  </a:txBody>
                  <a:tcPr anchor="ctr"/>
                </a:tc>
                <a:tc>
                  <a:txBody>
                    <a:bodyPr/>
                    <a:lstStyle/>
                    <a:p>
                      <a:pPr>
                        <a:buNone/>
                      </a:pPr>
                      <a:r>
                        <a:rPr lang="en-CA"/>
                        <a:t>0.0122</a:t>
                      </a:r>
                    </a:p>
                  </a:txBody>
                  <a:tcPr anchor="ctr"/>
                </a:tc>
                <a:tc>
                  <a:txBody>
                    <a:bodyPr/>
                    <a:lstStyle/>
                    <a:p>
                      <a:pPr>
                        <a:buNone/>
                      </a:pPr>
                      <a:r>
                        <a:rPr lang="en-CA"/>
                        <a:t>0.0053</a:t>
                      </a:r>
                    </a:p>
                  </a:txBody>
                  <a:tcPr anchor="ctr"/>
                </a:tc>
                <a:tc>
                  <a:txBody>
                    <a:bodyPr/>
                    <a:lstStyle/>
                    <a:p>
                      <a:pPr>
                        <a:buNone/>
                      </a:pPr>
                      <a:r>
                        <a:rPr lang="en-CA"/>
                        <a:t>0.0076</a:t>
                      </a:r>
                    </a:p>
                  </a:txBody>
                  <a:tcPr anchor="ctr"/>
                </a:tc>
                <a:tc>
                  <a:txBody>
                    <a:bodyPr/>
                    <a:lstStyle/>
                    <a:p>
                      <a:pPr>
                        <a:buNone/>
                      </a:pPr>
                      <a:r>
                        <a:rPr lang="en-CA"/>
                        <a:t>0.0081</a:t>
                      </a:r>
                    </a:p>
                  </a:txBody>
                  <a:tcPr anchor="ctr"/>
                </a:tc>
                <a:extLst>
                  <a:ext uri="{0D108BD9-81ED-4DB2-BD59-A6C34878D82A}">
                    <a16:rowId xmlns:a16="http://schemas.microsoft.com/office/drawing/2014/main" val="2263993697"/>
                  </a:ext>
                </a:extLst>
              </a:tr>
              <a:tr h="370840">
                <a:tc>
                  <a:txBody>
                    <a:bodyPr/>
                    <a:lstStyle/>
                    <a:p>
                      <a:pPr>
                        <a:buNone/>
                      </a:pPr>
                      <a:r>
                        <a:rPr lang="en-CA"/>
                        <a:t>80/20 R2</a:t>
                      </a:r>
                    </a:p>
                  </a:txBody>
                  <a:tcPr anchor="ctr"/>
                </a:tc>
                <a:tc>
                  <a:txBody>
                    <a:bodyPr/>
                    <a:lstStyle/>
                    <a:p>
                      <a:pPr>
                        <a:buNone/>
                      </a:pPr>
                      <a:r>
                        <a:rPr lang="en-CA"/>
                        <a:t>0.4476</a:t>
                      </a:r>
                    </a:p>
                  </a:txBody>
                  <a:tcPr anchor="ctr"/>
                </a:tc>
                <a:tc>
                  <a:txBody>
                    <a:bodyPr/>
                    <a:lstStyle/>
                    <a:p>
                      <a:pPr>
                        <a:buNone/>
                      </a:pPr>
                      <a:r>
                        <a:rPr lang="en-CA"/>
                        <a:t>0.8935</a:t>
                      </a:r>
                    </a:p>
                  </a:txBody>
                  <a:tcPr anchor="ctr"/>
                </a:tc>
                <a:tc>
                  <a:txBody>
                    <a:bodyPr/>
                    <a:lstStyle/>
                    <a:p>
                      <a:pPr>
                        <a:buNone/>
                      </a:pPr>
                      <a:r>
                        <a:rPr lang="en-CA"/>
                        <a:t>0.7857</a:t>
                      </a:r>
                    </a:p>
                  </a:txBody>
                  <a:tcPr anchor="ctr"/>
                </a:tc>
                <a:tc>
                  <a:txBody>
                    <a:bodyPr/>
                    <a:lstStyle/>
                    <a:p>
                      <a:pPr>
                        <a:buNone/>
                      </a:pPr>
                      <a:r>
                        <a:rPr lang="en-CA"/>
                        <a:t>0.7571</a:t>
                      </a:r>
                    </a:p>
                  </a:txBody>
                  <a:tcPr anchor="ctr"/>
                </a:tc>
                <a:extLst>
                  <a:ext uri="{0D108BD9-81ED-4DB2-BD59-A6C34878D82A}">
                    <a16:rowId xmlns:a16="http://schemas.microsoft.com/office/drawing/2014/main" val="844246473"/>
                  </a:ext>
                </a:extLst>
              </a:tr>
              <a:tr h="370840">
                <a:tc>
                  <a:txBody>
                    <a:bodyPr/>
                    <a:lstStyle/>
                    <a:p>
                      <a:pPr>
                        <a:buNone/>
                      </a:pPr>
                      <a:r>
                        <a:rPr lang="en-CA"/>
                        <a:t>80/20 RPD</a:t>
                      </a:r>
                    </a:p>
                  </a:txBody>
                  <a:tcPr anchor="ctr"/>
                </a:tc>
                <a:tc>
                  <a:txBody>
                    <a:bodyPr/>
                    <a:lstStyle/>
                    <a:p>
                      <a:pPr>
                        <a:buNone/>
                      </a:pPr>
                      <a:r>
                        <a:rPr lang="en-CA"/>
                        <a:t>1.3455</a:t>
                      </a:r>
                    </a:p>
                  </a:txBody>
                  <a:tcPr anchor="ctr"/>
                </a:tc>
                <a:tc>
                  <a:txBody>
                    <a:bodyPr/>
                    <a:lstStyle/>
                    <a:p>
                      <a:pPr>
                        <a:buNone/>
                      </a:pPr>
                      <a:r>
                        <a:rPr lang="en-CA"/>
                        <a:t>3.0644</a:t>
                      </a:r>
                    </a:p>
                  </a:txBody>
                  <a:tcPr anchor="ctr"/>
                </a:tc>
                <a:tc>
                  <a:txBody>
                    <a:bodyPr/>
                    <a:lstStyle/>
                    <a:p>
                      <a:pPr>
                        <a:buNone/>
                      </a:pPr>
                      <a:r>
                        <a:rPr lang="en-CA"/>
                        <a:t>2.1604</a:t>
                      </a:r>
                    </a:p>
                  </a:txBody>
                  <a:tcPr anchor="ctr"/>
                </a:tc>
                <a:tc>
                  <a:txBody>
                    <a:bodyPr/>
                    <a:lstStyle/>
                    <a:p>
                      <a:pPr>
                        <a:buNone/>
                      </a:pPr>
                      <a:r>
                        <a:rPr lang="en-CA"/>
                        <a:t>2.0292</a:t>
                      </a:r>
                    </a:p>
                  </a:txBody>
                  <a:tcPr anchor="ctr"/>
                </a:tc>
                <a:extLst>
                  <a:ext uri="{0D108BD9-81ED-4DB2-BD59-A6C34878D82A}">
                    <a16:rowId xmlns:a16="http://schemas.microsoft.com/office/drawing/2014/main" val="2240595738"/>
                  </a:ext>
                </a:extLst>
              </a:tr>
              <a:tr h="370840">
                <a:tc>
                  <a:txBody>
                    <a:bodyPr/>
                    <a:lstStyle/>
                    <a:p>
                      <a:pPr>
                        <a:buNone/>
                      </a:pPr>
                      <a:r>
                        <a:rPr lang="en-CA"/>
                        <a:t>LOCO RMSE</a:t>
                      </a:r>
                    </a:p>
                  </a:txBody>
                  <a:tcPr anchor="ctr"/>
                </a:tc>
                <a:tc>
                  <a:txBody>
                    <a:bodyPr/>
                    <a:lstStyle/>
                    <a:p>
                      <a:pPr>
                        <a:buNone/>
                      </a:pPr>
                      <a:r>
                        <a:rPr lang="en-CA"/>
                        <a:t>0.0211</a:t>
                      </a:r>
                    </a:p>
                  </a:txBody>
                  <a:tcPr anchor="ctr"/>
                </a:tc>
                <a:tc>
                  <a:txBody>
                    <a:bodyPr/>
                    <a:lstStyle/>
                    <a:p>
                      <a:pPr>
                        <a:buNone/>
                      </a:pPr>
                      <a:r>
                        <a:rPr lang="en-CA"/>
                        <a:t>0.0200</a:t>
                      </a:r>
                    </a:p>
                  </a:txBody>
                  <a:tcPr anchor="ctr"/>
                </a:tc>
                <a:tc>
                  <a:txBody>
                    <a:bodyPr/>
                    <a:lstStyle/>
                    <a:p>
                      <a:pPr>
                        <a:buNone/>
                      </a:pPr>
                      <a:r>
                        <a:rPr lang="en-CA"/>
                        <a:t>0.0188</a:t>
                      </a:r>
                    </a:p>
                  </a:txBody>
                  <a:tcPr anchor="ctr"/>
                </a:tc>
                <a:tc>
                  <a:txBody>
                    <a:bodyPr/>
                    <a:lstStyle/>
                    <a:p>
                      <a:pPr>
                        <a:buNone/>
                      </a:pPr>
                      <a:r>
                        <a:rPr lang="en-CA"/>
                        <a:t>0.0102</a:t>
                      </a:r>
                    </a:p>
                  </a:txBody>
                  <a:tcPr anchor="ctr"/>
                </a:tc>
                <a:extLst>
                  <a:ext uri="{0D108BD9-81ED-4DB2-BD59-A6C34878D82A}">
                    <a16:rowId xmlns:a16="http://schemas.microsoft.com/office/drawing/2014/main" val="3824682862"/>
                  </a:ext>
                </a:extLst>
              </a:tr>
              <a:tr h="370840">
                <a:tc>
                  <a:txBody>
                    <a:bodyPr/>
                    <a:lstStyle/>
                    <a:p>
                      <a:pPr>
                        <a:buNone/>
                      </a:pPr>
                      <a:r>
                        <a:rPr lang="en-CA"/>
                        <a:t>LOCO R2</a:t>
                      </a:r>
                    </a:p>
                  </a:txBody>
                  <a:tcPr anchor="ctr"/>
                </a:tc>
                <a:tc>
                  <a:txBody>
                    <a:bodyPr/>
                    <a:lstStyle/>
                    <a:p>
                      <a:pPr>
                        <a:buNone/>
                      </a:pPr>
                      <a:r>
                        <a:rPr lang="en-CA"/>
                        <a:t>-0.6481</a:t>
                      </a:r>
                    </a:p>
                  </a:txBody>
                  <a:tcPr anchor="ctr"/>
                </a:tc>
                <a:tc>
                  <a:txBody>
                    <a:bodyPr/>
                    <a:lstStyle/>
                    <a:p>
                      <a:pPr>
                        <a:buNone/>
                      </a:pPr>
                      <a:r>
                        <a:rPr lang="en-CA"/>
                        <a:t>-0.4750</a:t>
                      </a:r>
                    </a:p>
                  </a:txBody>
                  <a:tcPr anchor="ctr"/>
                </a:tc>
                <a:tc>
                  <a:txBody>
                    <a:bodyPr/>
                    <a:lstStyle/>
                    <a:p>
                      <a:pPr>
                        <a:buNone/>
                      </a:pPr>
                      <a:r>
                        <a:rPr lang="en-CA"/>
                        <a:t>-0.3117</a:t>
                      </a:r>
                    </a:p>
                  </a:txBody>
                  <a:tcPr anchor="ctr"/>
                </a:tc>
                <a:tc>
                  <a:txBody>
                    <a:bodyPr/>
                    <a:lstStyle/>
                    <a:p>
                      <a:pPr>
                        <a:buNone/>
                      </a:pPr>
                      <a:r>
                        <a:rPr lang="en-CA"/>
                        <a:t>0.6128</a:t>
                      </a:r>
                    </a:p>
                  </a:txBody>
                  <a:tcPr anchor="ctr"/>
                </a:tc>
                <a:extLst>
                  <a:ext uri="{0D108BD9-81ED-4DB2-BD59-A6C34878D82A}">
                    <a16:rowId xmlns:a16="http://schemas.microsoft.com/office/drawing/2014/main" val="1244453158"/>
                  </a:ext>
                </a:extLst>
              </a:tr>
              <a:tr h="370840">
                <a:tc>
                  <a:txBody>
                    <a:bodyPr/>
                    <a:lstStyle/>
                    <a:p>
                      <a:pPr>
                        <a:buNone/>
                      </a:pPr>
                      <a:r>
                        <a:rPr lang="en-CA"/>
                        <a:t>LOCO RPD</a:t>
                      </a:r>
                    </a:p>
                  </a:txBody>
                  <a:tcPr anchor="ctr"/>
                </a:tc>
                <a:tc>
                  <a:txBody>
                    <a:bodyPr/>
                    <a:lstStyle/>
                    <a:p>
                      <a:pPr>
                        <a:buNone/>
                      </a:pPr>
                      <a:r>
                        <a:rPr lang="en-CA"/>
                        <a:t>0.7790</a:t>
                      </a:r>
                    </a:p>
                  </a:txBody>
                  <a:tcPr anchor="ctr"/>
                </a:tc>
                <a:tc>
                  <a:txBody>
                    <a:bodyPr/>
                    <a:lstStyle/>
                    <a:p>
                      <a:pPr>
                        <a:buNone/>
                      </a:pPr>
                      <a:r>
                        <a:rPr lang="en-CA"/>
                        <a:t>0.8234</a:t>
                      </a:r>
                    </a:p>
                  </a:txBody>
                  <a:tcPr anchor="ctr"/>
                </a:tc>
                <a:tc>
                  <a:txBody>
                    <a:bodyPr/>
                    <a:lstStyle/>
                    <a:p>
                      <a:pPr>
                        <a:buNone/>
                      </a:pPr>
                      <a:r>
                        <a:rPr lang="en-CA"/>
                        <a:t>0.8731</a:t>
                      </a:r>
                    </a:p>
                  </a:txBody>
                  <a:tcPr anchor="ctr"/>
                </a:tc>
                <a:tc>
                  <a:txBody>
                    <a:bodyPr/>
                    <a:lstStyle/>
                    <a:p>
                      <a:pPr>
                        <a:buNone/>
                      </a:pPr>
                      <a:r>
                        <a:rPr lang="en-CA" dirty="0"/>
                        <a:t>1.6071</a:t>
                      </a:r>
                    </a:p>
                  </a:txBody>
                  <a:tcPr anchor="ctr"/>
                </a:tc>
                <a:extLst>
                  <a:ext uri="{0D108BD9-81ED-4DB2-BD59-A6C34878D82A}">
                    <a16:rowId xmlns:a16="http://schemas.microsoft.com/office/drawing/2014/main" val="2468236658"/>
                  </a:ext>
                </a:extLst>
              </a:tr>
            </a:tbl>
          </a:graphicData>
        </a:graphic>
      </p:graphicFrame>
    </p:spTree>
    <p:extLst>
      <p:ext uri="{BB962C8B-B14F-4D97-AF65-F5344CB8AC3E}">
        <p14:creationId xmlns:p14="http://schemas.microsoft.com/office/powerpoint/2010/main" val="4073749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C929F-16A5-B8CB-03D2-18C48E0704B5}"/>
              </a:ext>
            </a:extLst>
          </p:cNvPr>
          <p:cNvSpPr>
            <a:spLocks noGrp="1"/>
          </p:cNvSpPr>
          <p:nvPr>
            <p:ph type="title"/>
          </p:nvPr>
        </p:nvSpPr>
        <p:spPr/>
        <p:txBody>
          <a:bodyPr/>
          <a:lstStyle/>
          <a:p>
            <a:r>
              <a:rPr lang="en-CA" dirty="0"/>
              <a:t>Why Does CNN Generalise Better?</a:t>
            </a:r>
          </a:p>
        </p:txBody>
      </p:sp>
      <p:sp>
        <p:nvSpPr>
          <p:cNvPr id="3" name="Content Placeholder 2">
            <a:extLst>
              <a:ext uri="{FF2B5EF4-FFF2-40B4-BE49-F238E27FC236}">
                <a16:creationId xmlns:a16="http://schemas.microsoft.com/office/drawing/2014/main" id="{FE670F39-90C1-2BE7-33A9-004E3E7A35E2}"/>
              </a:ext>
            </a:extLst>
          </p:cNvPr>
          <p:cNvSpPr>
            <a:spLocks noGrp="1"/>
          </p:cNvSpPr>
          <p:nvPr>
            <p:ph idx="1"/>
          </p:nvPr>
        </p:nvSpPr>
        <p:spPr>
          <a:xfrm>
            <a:off x="895047" y="1681618"/>
            <a:ext cx="9714895" cy="3880773"/>
          </a:xfrm>
        </p:spPr>
        <p:txBody>
          <a:bodyPr/>
          <a:lstStyle/>
          <a:p>
            <a:r>
              <a:rPr lang="en-CA" b="1" dirty="0"/>
              <a:t>PLSR, SVR and RF under LOCO:</a:t>
            </a:r>
          </a:p>
          <a:p>
            <a:pPr lvl="1"/>
            <a:r>
              <a:rPr lang="en-CA" dirty="0"/>
              <a:t>These models learn to recognise cultivar-specific absolute intensity patterns. </a:t>
            </a:r>
          </a:p>
          <a:p>
            <a:pPr lvl="1"/>
            <a:r>
              <a:rPr lang="en-CA" dirty="0"/>
              <a:t>When tested on an unseen cultivar with different intensity levels (due to substrate batch variation, sample concentration differences), their predictions collapse to the global mean of ~0.34.</a:t>
            </a:r>
          </a:p>
          <a:p>
            <a:r>
              <a:rPr lang="en-CA" b="1" dirty="0"/>
              <a:t>CNN under LOCO:</a:t>
            </a:r>
          </a:p>
          <a:p>
            <a:pPr lvl="1"/>
            <a:r>
              <a:rPr lang="en-CA" dirty="0"/>
              <a:t>Convolutional filters learn local peak shapes, widths and relative intensities between neighbouring wavelengths. </a:t>
            </a:r>
          </a:p>
          <a:p>
            <a:pPr lvl="1"/>
            <a:r>
              <a:rPr lang="en-CA" dirty="0"/>
              <a:t>These features are chemically meaningful and stable across cultivars because they reflect the molecular vibrations of cysteine itself. </a:t>
            </a:r>
          </a:p>
          <a:p>
            <a:pPr lvl="1"/>
            <a:r>
              <a:rPr lang="en-CA" dirty="0" err="1"/>
              <a:t>BatchNorm</a:t>
            </a:r>
            <a:r>
              <a:rPr lang="en-CA" dirty="0"/>
              <a:t> inside the network further removes intensity scaling effects that vary between cultivars.</a:t>
            </a:r>
          </a:p>
          <a:p>
            <a:endParaRPr lang="en-CA" dirty="0"/>
          </a:p>
        </p:txBody>
      </p:sp>
    </p:spTree>
    <p:extLst>
      <p:ext uri="{BB962C8B-B14F-4D97-AF65-F5344CB8AC3E}">
        <p14:creationId xmlns:p14="http://schemas.microsoft.com/office/powerpoint/2010/main" val="302179868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71</TotalTime>
  <Words>1568</Words>
  <Application>Microsoft Office PowerPoint</Application>
  <PresentationFormat>Widescreen</PresentationFormat>
  <Paragraphs>291</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Cambria Math</vt:lpstr>
      <vt:lpstr>Trebuchet MS</vt:lpstr>
      <vt:lpstr>Wingdings 3</vt:lpstr>
      <vt:lpstr>Facet</vt:lpstr>
      <vt:lpstr>Cysteine Prediction in Pea Cultivars Using Raman Spectroscopy and Machine Learning  Week – 4</vt:lpstr>
      <vt:lpstr>1D Convolutional Neural Network</vt:lpstr>
      <vt:lpstr>How it Works? </vt:lpstr>
      <vt:lpstr>Mathematical Background</vt:lpstr>
      <vt:lpstr>Mathematical Background</vt:lpstr>
      <vt:lpstr>Mathematical Background</vt:lpstr>
      <vt:lpstr>Mathematical Background</vt:lpstr>
      <vt:lpstr>Mathematical Background</vt:lpstr>
      <vt:lpstr>Step by Step in Coding</vt:lpstr>
      <vt:lpstr>Step by Step in Coding</vt:lpstr>
      <vt:lpstr>Step by Step in Coding</vt:lpstr>
      <vt:lpstr>Step by Step in Coding</vt:lpstr>
      <vt:lpstr>CNN Learning Curve — 80/20 Split</vt:lpstr>
      <vt:lpstr>CNN LOCOCV – Per Fold Results</vt:lpstr>
      <vt:lpstr>CNN LOCOCV – Per Fold Results</vt:lpstr>
      <vt:lpstr>CNN Final Results</vt:lpstr>
      <vt:lpstr>1D CNN — Final Results</vt:lpstr>
      <vt:lpstr>All 4 Models Compared</vt:lpstr>
      <vt:lpstr>Why Does CNN Generalise Better?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Priyanshu Mittal</dc:creator>
  <cp:lastModifiedBy>Priyanshu Mittal</cp:lastModifiedBy>
  <cp:revision>1</cp:revision>
  <dcterms:created xsi:type="dcterms:W3CDTF">2026-07-02T04:27:19Z</dcterms:created>
  <dcterms:modified xsi:type="dcterms:W3CDTF">2026-07-02T05:39:14Z</dcterms:modified>
</cp:coreProperties>
</file>